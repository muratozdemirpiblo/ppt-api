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Lst>
  <p:notesMasterIdLst>
    <p:notesMasterId r:id="rId12"/>
  </p:notesMasterIdLst>
  <p:handoutMasterIdLst>
    <p:handoutMasterId r:id="rId13"/>
  </p:handoutMasterIdLst>
  <p:sldIdLst>
    <p:sldId id="289" r:id="rId5"/>
    <p:sldId id="457" r:id="rId6"/>
    <p:sldId id="458" r:id="rId7"/>
    <p:sldId id="449" r:id="rId8"/>
    <p:sldId id="310" r:id="rId9"/>
    <p:sldId id="461" r:id="rId10"/>
    <p:sldId id="276"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23F13"/>
    <a:srgbClr val="FFFFFF"/>
    <a:srgbClr val="F0F0F5"/>
    <a:srgbClr val="FAFAFA"/>
    <a:srgbClr val="25252E"/>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gela Dcruz" userId="fdeebe35-3a96-462e-adc5-475bea95f1c6" providerId="ADAL" clId="{CA3E05C6-C6CD-4794-B248-9AAA64DBED33}"/>
    <pc:docChg chg="delSld modSld">
      <pc:chgData name="Angela Dcruz" userId="fdeebe35-3a96-462e-adc5-475bea95f1c6" providerId="ADAL" clId="{CA3E05C6-C6CD-4794-B248-9AAA64DBED33}" dt="2024-09-17T15:58:53.246" v="21" actId="20577"/>
      <pc:docMkLst>
        <pc:docMk/>
      </pc:docMkLst>
      <pc:sldChg chg="modSp mod">
        <pc:chgData name="Angela Dcruz" userId="fdeebe35-3a96-462e-adc5-475bea95f1c6" providerId="ADAL" clId="{CA3E05C6-C6CD-4794-B248-9AAA64DBED33}" dt="2024-09-17T15:58:53.246" v="21" actId="20577"/>
        <pc:sldMkLst>
          <pc:docMk/>
          <pc:sldMk cId="3808875569" sldId="289"/>
        </pc:sldMkLst>
        <pc:spChg chg="mod">
          <ac:chgData name="Angela Dcruz" userId="fdeebe35-3a96-462e-adc5-475bea95f1c6" providerId="ADAL" clId="{CA3E05C6-C6CD-4794-B248-9AAA64DBED33}" dt="2024-09-17T15:58:53.246" v="21" actId="20577"/>
          <ac:spMkLst>
            <pc:docMk/>
            <pc:sldMk cId="3808875569" sldId="289"/>
            <ac:spMk id="5" creationId="{4BAC2211-2BF5-0F3E-134E-6D7CA1E5AA57}"/>
          </ac:spMkLst>
        </pc:spChg>
      </pc:sldChg>
      <pc:sldChg chg="del">
        <pc:chgData name="Angela Dcruz" userId="fdeebe35-3a96-462e-adc5-475bea95f1c6" providerId="ADAL" clId="{CA3E05C6-C6CD-4794-B248-9AAA64DBED33}" dt="2024-09-17T15:57:40.662" v="0" actId="2696"/>
        <pc:sldMkLst>
          <pc:docMk/>
          <pc:sldMk cId="4163913262" sldId="455"/>
        </pc:sldMkLst>
      </pc:sldChg>
      <pc:sldChg chg="modSp mod">
        <pc:chgData name="Angela Dcruz" userId="fdeebe35-3a96-462e-adc5-475bea95f1c6" providerId="ADAL" clId="{CA3E05C6-C6CD-4794-B248-9AAA64DBED33}" dt="2024-09-17T15:58:03.736" v="5" actId="207"/>
        <pc:sldMkLst>
          <pc:docMk/>
          <pc:sldMk cId="1503669744" sldId="457"/>
        </pc:sldMkLst>
        <pc:spChg chg="mod">
          <ac:chgData name="Angela Dcruz" userId="fdeebe35-3a96-462e-adc5-475bea95f1c6" providerId="ADAL" clId="{CA3E05C6-C6CD-4794-B248-9AAA64DBED33}" dt="2024-09-17T15:58:03.736" v="5" actId="207"/>
          <ac:spMkLst>
            <pc:docMk/>
            <pc:sldMk cId="1503669744" sldId="457"/>
            <ac:spMk id="11" creationId="{CF4D6202-C07E-1976-8619-E66844709A39}"/>
          </ac:spMkLst>
        </pc:spChg>
        <pc:spChg chg="mod">
          <ac:chgData name="Angela Dcruz" userId="fdeebe35-3a96-462e-adc5-475bea95f1c6" providerId="ADAL" clId="{CA3E05C6-C6CD-4794-B248-9AAA64DBED33}" dt="2024-09-17T15:57:52.018" v="1" actId="207"/>
          <ac:spMkLst>
            <pc:docMk/>
            <pc:sldMk cId="1503669744" sldId="457"/>
            <ac:spMk id="41" creationId="{579E8B31-C28B-B9F8-070D-943247388A6B}"/>
          </ac:spMkLst>
        </pc:spChg>
        <pc:spChg chg="mod">
          <ac:chgData name="Angela Dcruz" userId="fdeebe35-3a96-462e-adc5-475bea95f1c6" providerId="ADAL" clId="{CA3E05C6-C6CD-4794-B248-9AAA64DBED33}" dt="2024-09-17T15:57:54.368" v="2" actId="207"/>
          <ac:spMkLst>
            <pc:docMk/>
            <pc:sldMk cId="1503669744" sldId="457"/>
            <ac:spMk id="45" creationId="{14F02441-381E-E675-0973-5995D3C09337}"/>
          </ac:spMkLst>
        </pc:spChg>
        <pc:spChg chg="mod">
          <ac:chgData name="Angela Dcruz" userId="fdeebe35-3a96-462e-adc5-475bea95f1c6" providerId="ADAL" clId="{CA3E05C6-C6CD-4794-B248-9AAA64DBED33}" dt="2024-09-17T15:57:57.497" v="3" actId="207"/>
          <ac:spMkLst>
            <pc:docMk/>
            <pc:sldMk cId="1503669744" sldId="457"/>
            <ac:spMk id="49" creationId="{A97AE63F-0C53-AB7A-E6A8-5650E994B32B}"/>
          </ac:spMkLst>
        </pc:spChg>
        <pc:spChg chg="mod">
          <ac:chgData name="Angela Dcruz" userId="fdeebe35-3a96-462e-adc5-475bea95f1c6" providerId="ADAL" clId="{CA3E05C6-C6CD-4794-B248-9AAA64DBED33}" dt="2024-09-17T15:58:00.121" v="4" actId="207"/>
          <ac:spMkLst>
            <pc:docMk/>
            <pc:sldMk cId="1503669744" sldId="457"/>
            <ac:spMk id="53" creationId="{A01973A7-1FA4-0C98-249C-23CD8984ED1A}"/>
          </ac:spMkLst>
        </pc:spChg>
      </pc:sldChg>
      <pc:sldChg chg="modSp mod">
        <pc:chgData name="Angela Dcruz" userId="fdeebe35-3a96-462e-adc5-475bea95f1c6" providerId="ADAL" clId="{CA3E05C6-C6CD-4794-B248-9AAA64DBED33}" dt="2024-09-17T15:58:20.671" v="10" actId="207"/>
        <pc:sldMkLst>
          <pc:docMk/>
          <pc:sldMk cId="653904327" sldId="458"/>
        </pc:sldMkLst>
        <pc:spChg chg="mod">
          <ac:chgData name="Angela Dcruz" userId="fdeebe35-3a96-462e-adc5-475bea95f1c6" providerId="ADAL" clId="{CA3E05C6-C6CD-4794-B248-9AAA64DBED33}" dt="2024-09-17T15:58:20.671" v="10" actId="207"/>
          <ac:spMkLst>
            <pc:docMk/>
            <pc:sldMk cId="653904327" sldId="458"/>
            <ac:spMk id="11" creationId="{CF4D6202-C07E-1976-8619-E66844709A39}"/>
          </ac:spMkLst>
        </pc:spChg>
        <pc:spChg chg="mod">
          <ac:chgData name="Angela Dcruz" userId="fdeebe35-3a96-462e-adc5-475bea95f1c6" providerId="ADAL" clId="{CA3E05C6-C6CD-4794-B248-9AAA64DBED33}" dt="2024-09-17T15:58:06.818" v="6" actId="207"/>
          <ac:spMkLst>
            <pc:docMk/>
            <pc:sldMk cId="653904327" sldId="458"/>
            <ac:spMk id="41" creationId="{579E8B31-C28B-B9F8-070D-943247388A6B}"/>
          </ac:spMkLst>
        </pc:spChg>
        <pc:spChg chg="mod">
          <ac:chgData name="Angela Dcruz" userId="fdeebe35-3a96-462e-adc5-475bea95f1c6" providerId="ADAL" clId="{CA3E05C6-C6CD-4794-B248-9AAA64DBED33}" dt="2024-09-17T15:58:09.239" v="7" actId="207"/>
          <ac:spMkLst>
            <pc:docMk/>
            <pc:sldMk cId="653904327" sldId="458"/>
            <ac:spMk id="45" creationId="{14F02441-381E-E675-0973-5995D3C09337}"/>
          </ac:spMkLst>
        </pc:spChg>
        <pc:spChg chg="mod">
          <ac:chgData name="Angela Dcruz" userId="fdeebe35-3a96-462e-adc5-475bea95f1c6" providerId="ADAL" clId="{CA3E05C6-C6CD-4794-B248-9AAA64DBED33}" dt="2024-09-17T15:58:15.177" v="8" actId="207"/>
          <ac:spMkLst>
            <pc:docMk/>
            <pc:sldMk cId="653904327" sldId="458"/>
            <ac:spMk id="49" creationId="{A97AE63F-0C53-AB7A-E6A8-5650E994B32B}"/>
          </ac:spMkLst>
        </pc:spChg>
        <pc:spChg chg="mod">
          <ac:chgData name="Angela Dcruz" userId="fdeebe35-3a96-462e-adc5-475bea95f1c6" providerId="ADAL" clId="{CA3E05C6-C6CD-4794-B248-9AAA64DBED33}" dt="2024-09-17T15:58:18.264" v="9" actId="207"/>
          <ac:spMkLst>
            <pc:docMk/>
            <pc:sldMk cId="653904327" sldId="458"/>
            <ac:spMk id="53" creationId="{A01973A7-1FA4-0C98-249C-23CD8984ED1A}"/>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619990430972973E-2"/>
          <c:y val="2.5380776597463277E-2"/>
          <c:w val="0.37694741719903291"/>
          <c:h val="0.61074150268630401"/>
        </c:manualLayout>
      </c:layout>
      <c:doughnutChart>
        <c:varyColors val="1"/>
        <c:ser>
          <c:idx val="0"/>
          <c:order val="0"/>
          <c:dPt>
            <c:idx val="0"/>
            <c:bubble3D val="0"/>
            <c:spPr>
              <a:solidFill>
                <a:schemeClr val="accent1"/>
              </a:solidFill>
              <a:ln w="19050">
                <a:solidFill>
                  <a:schemeClr val="lt1"/>
                </a:solidFill>
              </a:ln>
              <a:effectLst/>
            </c:spPr>
            <c:extLst>
              <c:ext xmlns:c16="http://schemas.microsoft.com/office/drawing/2014/chart" uri="{C3380CC4-5D6E-409C-BE32-E72D297353CC}">
                <c16:uniqueId val="{00000001-08E3-491B-8776-5A54CF761E6C}"/>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08E3-491B-8776-5A54CF761E6C}"/>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08E3-491B-8776-5A54CF761E6C}"/>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08E3-491B-8776-5A54CF761E6C}"/>
              </c:ext>
            </c:extLst>
          </c:dPt>
          <c:dPt>
            <c:idx val="4"/>
            <c:bubble3D val="0"/>
            <c:spPr>
              <a:solidFill>
                <a:schemeClr val="accent5"/>
              </a:solidFill>
              <a:ln w="19050">
                <a:solidFill>
                  <a:schemeClr val="lt1"/>
                </a:solidFill>
              </a:ln>
              <a:effectLst/>
            </c:spPr>
            <c:extLst>
              <c:ext xmlns:c16="http://schemas.microsoft.com/office/drawing/2014/chart" uri="{C3380CC4-5D6E-409C-BE32-E72D297353CC}">
                <c16:uniqueId val="{00000009-08E3-491B-8776-5A54CF761E6C}"/>
              </c:ext>
            </c:extLst>
          </c:dPt>
          <c:dPt>
            <c:idx val="5"/>
            <c:bubble3D val="0"/>
            <c:spPr>
              <a:solidFill>
                <a:schemeClr val="accent6"/>
              </a:solidFill>
              <a:ln w="19050">
                <a:solidFill>
                  <a:schemeClr val="lt1"/>
                </a:solidFill>
              </a:ln>
              <a:effectLst/>
            </c:spPr>
            <c:extLst>
              <c:ext xmlns:c16="http://schemas.microsoft.com/office/drawing/2014/chart" uri="{C3380CC4-5D6E-409C-BE32-E72D297353CC}">
                <c16:uniqueId val="{0000000B-08E3-491B-8776-5A54CF761E6C}"/>
              </c:ext>
            </c:extLst>
          </c:dPt>
          <c:dPt>
            <c:idx val="6"/>
            <c:bubble3D val="0"/>
            <c:spPr>
              <a:solidFill>
                <a:schemeClr val="tx2"/>
              </a:solidFill>
              <a:ln w="19050">
                <a:solidFill>
                  <a:schemeClr val="lt1"/>
                </a:solidFill>
              </a:ln>
              <a:effectLst/>
            </c:spPr>
            <c:extLst>
              <c:ext xmlns:c16="http://schemas.microsoft.com/office/drawing/2014/chart" uri="{C3380CC4-5D6E-409C-BE32-E72D297353CC}">
                <c16:uniqueId val="{0000000D-08E3-491B-8776-5A54CF761E6C}"/>
              </c:ext>
            </c:extLst>
          </c:dPt>
          <c:dPt>
            <c:idx val="7"/>
            <c:bubble3D val="0"/>
            <c:spPr>
              <a:solidFill>
                <a:schemeClr val="accent6">
                  <a:lumMod val="25000"/>
                  <a:lumOff val="75000"/>
                </a:schemeClr>
              </a:solidFill>
              <a:ln w="19050">
                <a:solidFill>
                  <a:schemeClr val="lt1"/>
                </a:solidFill>
              </a:ln>
              <a:effectLst/>
            </c:spPr>
            <c:extLst>
              <c:ext xmlns:c16="http://schemas.microsoft.com/office/drawing/2014/chart" uri="{C3380CC4-5D6E-409C-BE32-E72D297353CC}">
                <c16:uniqueId val="{0000000F-08E3-491B-8776-5A54CF761E6C}"/>
              </c:ext>
            </c:extLst>
          </c:dPt>
          <c:dPt>
            <c:idx val="8"/>
            <c:bubble3D val="0"/>
            <c:spPr>
              <a:solidFill>
                <a:schemeClr val="accent3">
                  <a:lumMod val="60000"/>
                </a:schemeClr>
              </a:solidFill>
              <a:ln w="19050">
                <a:solidFill>
                  <a:schemeClr val="lt1"/>
                </a:solidFill>
              </a:ln>
              <a:effectLst/>
            </c:spPr>
            <c:extLst>
              <c:ext xmlns:c16="http://schemas.microsoft.com/office/drawing/2014/chart" uri="{C3380CC4-5D6E-409C-BE32-E72D297353CC}">
                <c16:uniqueId val="{00000011-08E3-491B-8776-5A54CF761E6C}"/>
              </c:ext>
            </c:extLst>
          </c:dPt>
          <c:dPt>
            <c:idx val="9"/>
            <c:bubble3D val="0"/>
            <c:spPr>
              <a:solidFill>
                <a:schemeClr val="accent4">
                  <a:lumMod val="60000"/>
                </a:schemeClr>
              </a:solidFill>
              <a:ln w="19050">
                <a:solidFill>
                  <a:schemeClr val="lt1"/>
                </a:solidFill>
              </a:ln>
              <a:effectLst/>
            </c:spPr>
            <c:extLst>
              <c:ext xmlns:c16="http://schemas.microsoft.com/office/drawing/2014/chart" uri="{C3380CC4-5D6E-409C-BE32-E72D297353CC}">
                <c16:uniqueId val="{00000013-08E3-491B-8776-5A54CF761E6C}"/>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2"/>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08E3-491B-8776-5A54CF761E6C}"/>
            </c:ext>
          </c:extLst>
        </c:ser>
        <c:dLbls>
          <c:showLegendKey val="0"/>
          <c:showVal val="0"/>
          <c:showCatName val="0"/>
          <c:showSerName val="0"/>
          <c:showPercent val="1"/>
          <c:showBubbleSize val="0"/>
          <c:showLeaderLines val="1"/>
        </c:dLbls>
        <c:firstSliceAng val="0"/>
        <c:holeSize val="75"/>
      </c:doughnutChart>
      <c:spPr>
        <a:noFill/>
        <a:ln>
          <a:noFill/>
        </a:ln>
        <a:effectLst/>
      </c:spPr>
    </c:plotArea>
    <c:legend>
      <c:legendPos val="b"/>
      <c:legendEntry>
        <c:idx val="9"/>
        <c:delete val="1"/>
      </c:legendEntry>
      <c:layout>
        <c:manualLayout>
          <c:xMode val="edge"/>
          <c:yMode val="edge"/>
          <c:x val="3.3447079008396365E-2"/>
          <c:y val="0.66949628686673623"/>
          <c:w val="0.42670891366741132"/>
          <c:h val="0.3212096740701250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21/09/2024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9/21/2024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2</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3</a:t>
            </a:fld>
            <a:endParaRPr lang="en-US"/>
          </a:p>
        </p:txBody>
      </p:sp>
    </p:spTree>
    <p:extLst>
      <p:ext uri="{BB962C8B-B14F-4D97-AF65-F5344CB8AC3E}">
        <p14:creationId xmlns:p14="http://schemas.microsoft.com/office/powerpoint/2010/main" val="314489411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21/09/2024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21/09/2024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21/09/2024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21/09/2024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21/09/2024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21/09/2024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21/09/2024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21/09/2024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21/09/2024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9.xml"/></Relationships>
</file>

<file path=ppt/slides/_rels/slide4.xml.rels><?xml version="1.0" encoding="UTF-8" standalone="yes"?>
<Relationships xmlns="http://schemas.openxmlformats.org/package/2006/relationships"><Relationship Id="rId8" Type="http://schemas.openxmlformats.org/officeDocument/2006/relationships/image" Target="../media/image21.svg"/><Relationship Id="rId13" Type="http://schemas.openxmlformats.org/officeDocument/2006/relationships/image" Target="../media/image26.png"/><Relationship Id="rId3" Type="http://schemas.openxmlformats.org/officeDocument/2006/relationships/image" Target="../media/image16.png"/><Relationship Id="rId7" Type="http://schemas.openxmlformats.org/officeDocument/2006/relationships/image" Target="../media/image20.png"/><Relationship Id="rId12" Type="http://schemas.openxmlformats.org/officeDocument/2006/relationships/image" Target="../media/image25.svg"/><Relationship Id="rId2" Type="http://schemas.openxmlformats.org/officeDocument/2006/relationships/chart" Target="../charts/chart1.xml"/><Relationship Id="rId1" Type="http://schemas.openxmlformats.org/officeDocument/2006/relationships/slideLayout" Target="../slideLayouts/slideLayout50.xml"/><Relationship Id="rId6" Type="http://schemas.openxmlformats.org/officeDocument/2006/relationships/image" Target="../media/image19.svg"/><Relationship Id="rId11" Type="http://schemas.openxmlformats.org/officeDocument/2006/relationships/image" Target="../media/image24.png"/><Relationship Id="rId5" Type="http://schemas.openxmlformats.org/officeDocument/2006/relationships/image" Target="../media/image18.png"/><Relationship Id="rId10" Type="http://schemas.openxmlformats.org/officeDocument/2006/relationships/image" Target="../media/image23.svg"/><Relationship Id="rId4" Type="http://schemas.openxmlformats.org/officeDocument/2006/relationships/image" Target="../media/image17.svg"/><Relationship Id="rId9" Type="http://schemas.openxmlformats.org/officeDocument/2006/relationships/image" Target="../media/image22.png"/><Relationship Id="rId14" Type="http://schemas.openxmlformats.org/officeDocument/2006/relationships/image" Target="../media/image27.svg"/></Relationships>
</file>

<file path=ppt/slides/_rels/slide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5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D41328-38B7-3594-7FBB-BE55921788B1}"/>
              </a:ext>
            </a:extLst>
          </p:cNvPr>
          <p:cNvSpPr>
            <a:spLocks noGrp="1"/>
          </p:cNvSpPr>
          <p:nvPr>
            <p:ph type="ctrTitle"/>
          </p:nvPr>
        </p:nvSpPr>
        <p:spPr/>
        <p:txBody>
          <a:bodyPr/>
          <a:lstStyle/>
          <a:p>
            <a:r>
              <a:rPr lang="en-US" dirty="0">
                <a:latin typeface="Montserrat SemiBold"/>
              </a:rPr>
              <a:t>Client Name:</a:t>
            </a:r>
            <a:r>
              <a:rPr lang="tr-TR" dirty="0" err="1">
                <a:latin typeface="Montserrat SemiBold"/>
              </a:rPr>
              <a:t>valclient</a:t>
            </a:r>
            <a:r>
              <a:rPr lang="en-US" dirty="0">
                <a:latin typeface="Montserrat SemiBold"/>
              </a:rPr>
              <a:t> Value Business Case</a:t>
            </a:r>
          </a:p>
        </p:txBody>
      </p:sp>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1</a:t>
            </a:fld>
            <a:endParaRPr lang="en-US"/>
          </a:p>
        </p:txBody>
      </p:sp>
      <p:sp>
        <p:nvSpPr>
          <p:cNvPr id="4" name="Subtitle 3">
            <a:extLst>
              <a:ext uri="{FF2B5EF4-FFF2-40B4-BE49-F238E27FC236}">
                <a16:creationId xmlns:a16="http://schemas.microsoft.com/office/drawing/2014/main" id="{04B16102-7F03-D98C-5599-59D403A4A6A5}"/>
              </a:ext>
            </a:extLst>
          </p:cNvPr>
          <p:cNvSpPr>
            <a:spLocks noGrp="1"/>
          </p:cNvSpPr>
          <p:nvPr>
            <p:ph type="subTitle" idx="1"/>
          </p:nvPr>
        </p:nvSpPr>
        <p:spPr/>
        <p:txBody>
          <a:bodyPr/>
          <a:lstStyle/>
          <a:p>
            <a:r>
              <a:rPr lang="en-US"/>
              <a:t>Financials</a:t>
            </a:r>
          </a:p>
        </p:txBody>
      </p:sp>
      <p:sp>
        <p:nvSpPr>
          <p:cNvPr id="5" name="Text Placeholder 4">
            <a:extLst>
              <a:ext uri="{FF2B5EF4-FFF2-40B4-BE49-F238E27FC236}">
                <a16:creationId xmlns:a16="http://schemas.microsoft.com/office/drawing/2014/main" id="{4BAC2211-2BF5-0F3E-134E-6D7CA1E5AA57}"/>
              </a:ext>
            </a:extLst>
          </p:cNvPr>
          <p:cNvSpPr>
            <a:spLocks noGrp="1"/>
          </p:cNvSpPr>
          <p:nvPr>
            <p:ph type="body" sz="quarter" idx="13"/>
          </p:nvPr>
        </p:nvSpPr>
        <p:spPr/>
        <p:txBody>
          <a:bodyPr/>
          <a:lstStyle/>
          <a:p>
            <a:r>
              <a:rPr lang="en-US" dirty="0"/>
              <a:t>Presented by OneAdvanced</a:t>
            </a:r>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Tree>
    <p:extLst>
      <p:ext uri="{BB962C8B-B14F-4D97-AF65-F5344CB8AC3E}">
        <p14:creationId xmlns:p14="http://schemas.microsoft.com/office/powerpoint/2010/main" val="3808875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58639" y="5022863"/>
            <a:ext cx="195131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Rounded Corners 58">
            <a:extLst>
              <a:ext uri="{FF2B5EF4-FFF2-40B4-BE49-F238E27FC236}">
                <a16:creationId xmlns:a16="http://schemas.microsoft.com/office/drawing/2014/main" id="{483145D9-A5D5-4A29-9000-3FD97569E5F5}"/>
              </a:ext>
            </a:extLst>
          </p:cNvPr>
          <p:cNvSpPr/>
          <p:nvPr/>
        </p:nvSpPr>
        <p:spPr>
          <a:xfrm>
            <a:off x="4862001" y="4999173"/>
            <a:ext cx="1930036"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182" y="1903894"/>
            <a:ext cx="1930036"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Off-page Connector 9">
            <a:extLst>
              <a:ext uri="{FF2B5EF4-FFF2-40B4-BE49-F238E27FC236}">
                <a16:creationId xmlns:a16="http://schemas.microsoft.com/office/drawing/2014/main" id="{14F02441-381E-E675-0973-5995D3C09337}"/>
              </a:ext>
            </a:extLst>
          </p:cNvPr>
          <p:cNvSpPr/>
          <p:nvPr/>
        </p:nvSpPr>
        <p:spPr>
          <a:xfrm>
            <a:off x="2767445" y="1903894"/>
            <a:ext cx="1930036"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1" name="Off-page Connector 9">
            <a:extLst>
              <a:ext uri="{FF2B5EF4-FFF2-40B4-BE49-F238E27FC236}">
                <a16:creationId xmlns:a16="http://schemas.microsoft.com/office/drawing/2014/main" id="{579E8B31-C28B-B9F8-070D-943247388A6B}"/>
              </a:ext>
            </a:extLst>
          </p:cNvPr>
          <p:cNvSpPr/>
          <p:nvPr/>
        </p:nvSpPr>
        <p:spPr>
          <a:xfrm>
            <a:off x="654867" y="1903895"/>
            <a:ext cx="1876855"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2</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lstStyle/>
          <a:p>
            <a:r>
              <a:rPr lang="en-GB"/>
              <a:t>DOING NOTHING IS NOT AN OPTION</a:t>
            </a: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8367" y="2163520"/>
            <a:ext cx="1931085"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51464"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78174"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43326" y="2050435"/>
            <a:ext cx="1951577"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800878"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Purchase Order </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7954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53592" y="2139161"/>
            <a:ext cx="1944972"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665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Order Approvals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6786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3" name="Off-page Connector 9">
            <a:extLst>
              <a:ext uri="{FF2B5EF4-FFF2-40B4-BE49-F238E27FC236}">
                <a16:creationId xmlns:a16="http://schemas.microsoft.com/office/drawing/2014/main" id="{A01973A7-1FA4-0C98-249C-23CD8984ED1A}"/>
              </a:ext>
            </a:extLst>
          </p:cNvPr>
          <p:cNvSpPr/>
          <p:nvPr/>
        </p:nvSpPr>
        <p:spPr>
          <a:xfrm>
            <a:off x="6941887" y="1903894"/>
            <a:ext cx="1930036"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52096"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58956"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51464" y="4986527"/>
            <a:ext cx="1917779"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43716" y="4999173"/>
            <a:ext cx="1953764"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26295" y="4383297"/>
            <a:ext cx="1873758"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Outdated IT infrastructure costs could be costing you</a:t>
            </a:r>
          </a:p>
        </p:txBody>
      </p:sp>
      <p:sp>
        <p:nvSpPr>
          <p:cNvPr id="63" name="TextBox 62">
            <a:extLst>
              <a:ext uri="{FF2B5EF4-FFF2-40B4-BE49-F238E27FC236}">
                <a16:creationId xmlns:a16="http://schemas.microsoft.com/office/drawing/2014/main" id="{95C09C31-B441-840E-A767-4F86861E1F2E}"/>
              </a:ext>
            </a:extLst>
          </p:cNvPr>
          <p:cNvSpPr txBox="1"/>
          <p:nvPr/>
        </p:nvSpPr>
        <p:spPr>
          <a:xfrm>
            <a:off x="2763794"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 could be costing you</a:t>
            </a:r>
          </a:p>
        </p:txBody>
      </p:sp>
      <p:sp>
        <p:nvSpPr>
          <p:cNvPr id="65" name="TextBox 64">
            <a:extLst>
              <a:ext uri="{FF2B5EF4-FFF2-40B4-BE49-F238E27FC236}">
                <a16:creationId xmlns:a16="http://schemas.microsoft.com/office/drawing/2014/main" id="{CCDBA8E2-2E49-D3DC-8F70-3EBC50517161}"/>
              </a:ext>
            </a:extLst>
          </p:cNvPr>
          <p:cNvSpPr txBox="1"/>
          <p:nvPr/>
        </p:nvSpPr>
        <p:spPr>
          <a:xfrm>
            <a:off x="48661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accounts processes could be costing you</a:t>
            </a: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36906" y="5110191"/>
            <a:ext cx="1905083" cy="461665"/>
          </a:xfrm>
          <a:prstGeom prst="rect">
            <a:avLst/>
          </a:prstGeom>
          <a:noFill/>
        </p:spPr>
        <p:txBody>
          <a:bodyPr wrap="square" rtlCol="0">
            <a:spAutoFit/>
          </a:bodyPr>
          <a:lstStyle/>
          <a:p>
            <a:pPr algn="ctr"/>
            <a:r>
              <a:rPr lang="en-GB" sz="24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1"/>
                </a:solidFill>
                <a:latin typeface="Open Sans" panose="020B0606030504020204" pitchFamily="34" charset="0"/>
                <a:ea typeface="Open Sans" panose="020B0606030504020204" pitchFamily="34" charset="0"/>
                <a:cs typeface="Open Sans" panose="020B0606030504020204" pitchFamily="34" charset="0"/>
              </a:rPr>
              <a:t>rpo</a:t>
            </a:r>
            <a:r>
              <a:rPr lang="en-GB" sz="24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99707" y="5093095"/>
            <a:ext cx="1891272" cy="461665"/>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poa</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59574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54866" y="5937956"/>
            <a:ext cx="10474787" cy="461665"/>
          </a:xfrm>
          <a:prstGeom prst="rect">
            <a:avLst/>
          </a:prstGeom>
          <a:noFill/>
        </p:spPr>
        <p:txBody>
          <a:bodyPr wrap="square" rtlCol="0">
            <a:spAutoFit/>
          </a:bodyPr>
          <a:lstStyle/>
          <a:p>
            <a:pPr algn="ct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COST OF DOING NOTHING: £XX,000 ANNUAL</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64160" y="5115340"/>
            <a:ext cx="1905083" cy="600164"/>
          </a:xfrm>
          <a:prstGeom prst="rect">
            <a:avLst/>
          </a:prstGeom>
          <a:noFill/>
        </p:spPr>
        <p:txBody>
          <a:bodyPr wrap="square" rtlCol="0">
            <a:spAutoFit/>
          </a:bodyPr>
          <a:lstStyle/>
          <a:p>
            <a:pPr algn="ctr"/>
            <a:r>
              <a:rPr lang="en-GB" sz="2400" dirty="0">
                <a:solidFill>
                  <a:schemeClr val="tx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tx2"/>
                </a:solidFill>
                <a:latin typeface="Open Sans" panose="020B0606030504020204" pitchFamily="34" charset="0"/>
                <a:ea typeface="Open Sans" panose="020B0606030504020204" pitchFamily="34" charset="0"/>
                <a:cs typeface="Open Sans" panose="020B0606030504020204" pitchFamily="34" charset="0"/>
              </a:rPr>
              <a:t>itfinance</a:t>
            </a:r>
            <a:r>
              <a:rPr lang="en-GB" sz="24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tx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67424" y="2158009"/>
            <a:ext cx="1951578"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83140" y="4381097"/>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Coding processes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7004485" y="5111942"/>
            <a:ext cx="1921948" cy="461665"/>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cip</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10" name="Rectangle: Rounded Corners 9">
            <a:extLst>
              <a:ext uri="{FF2B5EF4-FFF2-40B4-BE49-F238E27FC236}">
                <a16:creationId xmlns:a16="http://schemas.microsoft.com/office/drawing/2014/main" id="{01805B4A-2C0D-368E-E75D-FC2CDC15A66B}"/>
              </a:ext>
            </a:extLst>
          </p:cNvPr>
          <p:cNvSpPr/>
          <p:nvPr/>
        </p:nvSpPr>
        <p:spPr>
          <a:xfrm>
            <a:off x="9115214" y="5008615"/>
            <a:ext cx="1930036"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8462" y="1889646"/>
            <a:ext cx="1930036"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3881"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718298"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05893" y="2143761"/>
            <a:ext cx="1951578"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35359"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Supplier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61060" y="5097694"/>
            <a:ext cx="1892974" cy="461665"/>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mspi</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Tree>
    <p:extLst>
      <p:ext uri="{BB962C8B-B14F-4D97-AF65-F5344CB8AC3E}">
        <p14:creationId xmlns:p14="http://schemas.microsoft.com/office/powerpoint/2010/main" val="15036697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58639" y="5022863"/>
            <a:ext cx="195131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Rectangle: Rounded Corners 58">
            <a:extLst>
              <a:ext uri="{FF2B5EF4-FFF2-40B4-BE49-F238E27FC236}">
                <a16:creationId xmlns:a16="http://schemas.microsoft.com/office/drawing/2014/main" id="{483145D9-A5D5-4A29-9000-3FD97569E5F5}"/>
              </a:ext>
            </a:extLst>
          </p:cNvPr>
          <p:cNvSpPr/>
          <p:nvPr/>
        </p:nvSpPr>
        <p:spPr>
          <a:xfrm>
            <a:off x="4862001" y="4999173"/>
            <a:ext cx="1930036"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182" y="1903894"/>
            <a:ext cx="1930036"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5" name="Off-page Connector 9">
            <a:extLst>
              <a:ext uri="{FF2B5EF4-FFF2-40B4-BE49-F238E27FC236}">
                <a16:creationId xmlns:a16="http://schemas.microsoft.com/office/drawing/2014/main" id="{14F02441-381E-E675-0973-5995D3C09337}"/>
              </a:ext>
            </a:extLst>
          </p:cNvPr>
          <p:cNvSpPr/>
          <p:nvPr/>
        </p:nvSpPr>
        <p:spPr>
          <a:xfrm>
            <a:off x="2767445" y="1903894"/>
            <a:ext cx="1930036"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1" name="Off-page Connector 9">
            <a:extLst>
              <a:ext uri="{FF2B5EF4-FFF2-40B4-BE49-F238E27FC236}">
                <a16:creationId xmlns:a16="http://schemas.microsoft.com/office/drawing/2014/main" id="{579E8B31-C28B-B9F8-070D-943247388A6B}"/>
              </a:ext>
            </a:extLst>
          </p:cNvPr>
          <p:cNvSpPr/>
          <p:nvPr/>
        </p:nvSpPr>
        <p:spPr>
          <a:xfrm>
            <a:off x="654867" y="1903895"/>
            <a:ext cx="1876855"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lstStyle/>
          <a:p>
            <a:r>
              <a:rPr lang="en-GB"/>
              <a:t>DOING NOTHING IS NOT AN OPTION</a:t>
            </a: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8367" y="2163520"/>
            <a:ext cx="1931085"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51464"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43" name="Freeform 1015">
            <a:extLst>
              <a:ext uri="{FF2B5EF4-FFF2-40B4-BE49-F238E27FC236}">
                <a16:creationId xmlns:a16="http://schemas.microsoft.com/office/drawing/2014/main" id="{5222BCAB-8DAE-9ECC-55ED-CAF94FD73E96}"/>
              </a:ext>
            </a:extLst>
          </p:cNvPr>
          <p:cNvSpPr>
            <a:spLocks noChangeAspect="1"/>
          </p:cNvSpPr>
          <p:nvPr/>
        </p:nvSpPr>
        <p:spPr bwMode="auto">
          <a:xfrm>
            <a:off x="1378174"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43326" y="2050435"/>
            <a:ext cx="1951577"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813848"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47" name="Freeform 1015">
            <a:extLst>
              <a:ext uri="{FF2B5EF4-FFF2-40B4-BE49-F238E27FC236}">
                <a16:creationId xmlns:a16="http://schemas.microsoft.com/office/drawing/2014/main" id="{16EC12E5-48F2-89E2-C305-C96DCB49C49B}"/>
              </a:ext>
            </a:extLst>
          </p:cNvPr>
          <p:cNvSpPr>
            <a:spLocks noChangeAspect="1"/>
          </p:cNvSpPr>
          <p:nvPr/>
        </p:nvSpPr>
        <p:spPr bwMode="auto">
          <a:xfrm>
            <a:off x="3479545" y="1552929"/>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53592" y="2139161"/>
            <a:ext cx="1944972"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8040"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51" name="Freeform 1015">
            <a:extLst>
              <a:ext uri="{FF2B5EF4-FFF2-40B4-BE49-F238E27FC236}">
                <a16:creationId xmlns:a16="http://schemas.microsoft.com/office/drawing/2014/main" id="{063F48A3-FD39-6FB1-4A70-698D0FF8C694}"/>
              </a:ext>
            </a:extLst>
          </p:cNvPr>
          <p:cNvSpPr>
            <a:spLocks noChangeAspect="1"/>
          </p:cNvSpPr>
          <p:nvPr/>
        </p:nvSpPr>
        <p:spPr bwMode="auto">
          <a:xfrm>
            <a:off x="5567863" y="1556836"/>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3" name="Off-page Connector 9">
            <a:extLst>
              <a:ext uri="{FF2B5EF4-FFF2-40B4-BE49-F238E27FC236}">
                <a16:creationId xmlns:a16="http://schemas.microsoft.com/office/drawing/2014/main" id="{A01973A7-1FA4-0C98-249C-23CD8984ED1A}"/>
              </a:ext>
            </a:extLst>
          </p:cNvPr>
          <p:cNvSpPr/>
          <p:nvPr/>
        </p:nvSpPr>
        <p:spPr>
          <a:xfrm>
            <a:off x="6941887" y="1903894"/>
            <a:ext cx="1930036"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780498" y="2083569"/>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Invoicing &amp; Finance Workflow</a:t>
            </a:r>
            <a:endParaRPr lang="en-US" sz="1600" b="1" dirty="0">
              <a:latin typeface="Montserrat SemiBold" panose="00000700000000000000" pitchFamily="2" charset="0"/>
              <a:ea typeface="League Spartan" charset="0"/>
              <a:cs typeface="Poppins" pitchFamily="2" charset="77"/>
            </a:endParaRPr>
          </a:p>
        </p:txBody>
      </p:sp>
      <p:sp>
        <p:nvSpPr>
          <p:cNvPr id="55" name="Freeform 1015">
            <a:extLst>
              <a:ext uri="{FF2B5EF4-FFF2-40B4-BE49-F238E27FC236}">
                <a16:creationId xmlns:a16="http://schemas.microsoft.com/office/drawing/2014/main" id="{49379704-A7E9-6EF1-10D5-4FD212A90D8B}"/>
              </a:ext>
            </a:extLst>
          </p:cNvPr>
          <p:cNvSpPr>
            <a:spLocks noChangeAspect="1"/>
          </p:cNvSpPr>
          <p:nvPr/>
        </p:nvSpPr>
        <p:spPr bwMode="auto">
          <a:xfrm>
            <a:off x="7658956" y="1582040"/>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51464" y="4986527"/>
            <a:ext cx="1917779"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43716" y="4999173"/>
            <a:ext cx="1953764"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60">
            <a:extLst>
              <a:ext uri="{FF2B5EF4-FFF2-40B4-BE49-F238E27FC236}">
                <a16:creationId xmlns:a16="http://schemas.microsoft.com/office/drawing/2014/main" id="{39DF4247-E50B-19D8-DDEA-15B91EFA84A9}"/>
              </a:ext>
            </a:extLst>
          </p:cNvPr>
          <p:cNvSpPr txBox="1"/>
          <p:nvPr/>
        </p:nvSpPr>
        <p:spPr>
          <a:xfrm>
            <a:off x="626295"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Spend leakage could be costing you</a:t>
            </a:r>
          </a:p>
        </p:txBody>
      </p:sp>
      <p:sp>
        <p:nvSpPr>
          <p:cNvPr id="63" name="TextBox 62">
            <a:extLst>
              <a:ext uri="{FF2B5EF4-FFF2-40B4-BE49-F238E27FC236}">
                <a16:creationId xmlns:a16="http://schemas.microsoft.com/office/drawing/2014/main" id="{95C09C31-B441-840E-A767-4F86861E1F2E}"/>
              </a:ext>
            </a:extLst>
          </p:cNvPr>
          <p:cNvSpPr txBox="1"/>
          <p:nvPr/>
        </p:nvSpPr>
        <p:spPr>
          <a:xfrm>
            <a:off x="2763794" y="4372605"/>
            <a:ext cx="1869690"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finance reporting could be costing you</a:t>
            </a:r>
          </a:p>
        </p:txBody>
      </p:sp>
      <p:sp>
        <p:nvSpPr>
          <p:cNvPr id="65" name="TextBox 64">
            <a:extLst>
              <a:ext uri="{FF2B5EF4-FFF2-40B4-BE49-F238E27FC236}">
                <a16:creationId xmlns:a16="http://schemas.microsoft.com/office/drawing/2014/main" id="{CCDBA8E2-2E49-D3DC-8F70-3EBC50517161}"/>
              </a:ext>
            </a:extLst>
          </p:cNvPr>
          <p:cNvSpPr txBox="1"/>
          <p:nvPr/>
        </p:nvSpPr>
        <p:spPr>
          <a:xfrm>
            <a:off x="4866179" y="4365181"/>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Debt collection processes could be costing you</a:t>
            </a: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sp>
        <p:nvSpPr>
          <p:cNvPr id="68" name="TextBox 67">
            <a:extLst>
              <a:ext uri="{FF2B5EF4-FFF2-40B4-BE49-F238E27FC236}">
                <a16:creationId xmlns:a16="http://schemas.microsoft.com/office/drawing/2014/main" id="{C0EA8CB8-D6F8-2002-811C-82D845F0C462}"/>
              </a:ext>
            </a:extLst>
          </p:cNvPr>
          <p:cNvSpPr txBox="1"/>
          <p:nvPr/>
        </p:nvSpPr>
        <p:spPr>
          <a:xfrm>
            <a:off x="2736906" y="5110191"/>
            <a:ext cx="1905083" cy="600164"/>
          </a:xfrm>
          <a:prstGeom prst="rect">
            <a:avLst/>
          </a:prstGeom>
          <a:noFill/>
        </p:spPr>
        <p:txBody>
          <a:bodyPr wrap="square" rtlCol="0">
            <a:spAutoFit/>
          </a:bodyPr>
          <a:lstStyle/>
          <a:p>
            <a:pPr algn="ctr"/>
            <a:r>
              <a:rPr lang="en-GB" sz="24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1"/>
                </a:solidFill>
                <a:latin typeface="Open Sans" panose="020B0606030504020204" pitchFamily="34" charset="0"/>
                <a:ea typeface="Open Sans" panose="020B0606030504020204" pitchFamily="34" charset="0"/>
                <a:cs typeface="Open Sans" panose="020B0606030504020204" pitchFamily="34" charset="0"/>
              </a:rPr>
              <a:t>valfqmr</a:t>
            </a:r>
            <a:r>
              <a:rPr lang="en-GB" sz="24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99707" y="5093095"/>
            <a:ext cx="1891272" cy="600164"/>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valdcap</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59574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54866" y="5937956"/>
            <a:ext cx="10474787" cy="461665"/>
          </a:xfrm>
          <a:prstGeom prst="rect">
            <a:avLst/>
          </a:prstGeom>
          <a:noFill/>
        </p:spPr>
        <p:txBody>
          <a:bodyPr wrap="square" rtlCol="0">
            <a:spAutoFit/>
          </a:bodyPr>
          <a:lstStyle/>
          <a:p>
            <a:pPr algn="ct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COST OF DOING NOTHING: £XX,000 ANNUAL</a:t>
            </a:r>
          </a:p>
        </p:txBody>
      </p:sp>
      <p:sp>
        <p:nvSpPr>
          <p:cNvPr id="73" name="TextBox 72">
            <a:extLst>
              <a:ext uri="{FF2B5EF4-FFF2-40B4-BE49-F238E27FC236}">
                <a16:creationId xmlns:a16="http://schemas.microsoft.com/office/drawing/2014/main" id="{78369866-8BC6-33CD-42B1-8C4AEA93FDD2}"/>
              </a:ext>
            </a:extLst>
          </p:cNvPr>
          <p:cNvSpPr txBox="1"/>
          <p:nvPr/>
        </p:nvSpPr>
        <p:spPr>
          <a:xfrm>
            <a:off x="664160" y="5115340"/>
            <a:ext cx="1905083" cy="461665"/>
          </a:xfrm>
          <a:prstGeom prst="rect">
            <a:avLst/>
          </a:prstGeom>
          <a:noFill/>
        </p:spPr>
        <p:txBody>
          <a:bodyPr wrap="square" rtlCol="0">
            <a:spAutoFit/>
          </a:bodyPr>
          <a:lstStyle/>
          <a:p>
            <a:pPr algn="ctr"/>
            <a:r>
              <a:rPr lang="en-GB" sz="2400" dirty="0">
                <a:solidFill>
                  <a:schemeClr val="tx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tx2"/>
                </a:solidFill>
                <a:latin typeface="Open Sans" panose="020B0606030504020204" pitchFamily="34" charset="0"/>
                <a:ea typeface="Open Sans" panose="020B0606030504020204" pitchFamily="34" charset="0"/>
                <a:cs typeface="Open Sans" panose="020B0606030504020204" pitchFamily="34" charset="0"/>
              </a:rPr>
              <a:t>valmsl</a:t>
            </a:r>
            <a:r>
              <a:rPr lang="en-GB" sz="24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tx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67424" y="2158009"/>
            <a:ext cx="1951578"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TextBox 4">
            <a:extLst>
              <a:ext uri="{FF2B5EF4-FFF2-40B4-BE49-F238E27FC236}">
                <a16:creationId xmlns:a16="http://schemas.microsoft.com/office/drawing/2014/main" id="{02B73898-242B-B542-A13B-5A46CF540B50}"/>
              </a:ext>
            </a:extLst>
          </p:cNvPr>
          <p:cNvSpPr txBox="1"/>
          <p:nvPr/>
        </p:nvSpPr>
        <p:spPr>
          <a:xfrm>
            <a:off x="6983140" y="4381097"/>
            <a:ext cx="1914319" cy="675570"/>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Invoicing and finance workflows could be costing you</a:t>
            </a:r>
          </a:p>
        </p:txBody>
      </p:sp>
      <p:sp>
        <p:nvSpPr>
          <p:cNvPr id="6" name="TextBox 5">
            <a:extLst>
              <a:ext uri="{FF2B5EF4-FFF2-40B4-BE49-F238E27FC236}">
                <a16:creationId xmlns:a16="http://schemas.microsoft.com/office/drawing/2014/main" id="{17F0DF48-C88F-66C2-241D-A456E4C5498F}"/>
              </a:ext>
            </a:extLst>
          </p:cNvPr>
          <p:cNvSpPr txBox="1"/>
          <p:nvPr/>
        </p:nvSpPr>
        <p:spPr>
          <a:xfrm>
            <a:off x="7004485" y="5111942"/>
            <a:ext cx="1921948" cy="461665"/>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valcifw</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
        <p:nvSpPr>
          <p:cNvPr id="10" name="Rectangle: Rounded Corners 9">
            <a:extLst>
              <a:ext uri="{FF2B5EF4-FFF2-40B4-BE49-F238E27FC236}">
                <a16:creationId xmlns:a16="http://schemas.microsoft.com/office/drawing/2014/main" id="{01805B4A-2C0D-368E-E75D-FC2CDC15A66B}"/>
              </a:ext>
            </a:extLst>
          </p:cNvPr>
          <p:cNvSpPr/>
          <p:nvPr/>
        </p:nvSpPr>
        <p:spPr>
          <a:xfrm>
            <a:off x="9115214" y="5008615"/>
            <a:ext cx="1930036"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8462" y="1889646"/>
            <a:ext cx="1930036"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3" name="Freeform 1015">
            <a:extLst>
              <a:ext uri="{FF2B5EF4-FFF2-40B4-BE49-F238E27FC236}">
                <a16:creationId xmlns:a16="http://schemas.microsoft.com/office/drawing/2014/main" id="{2DFBB6BE-A3C1-C95A-4287-54102AC9E823}"/>
              </a:ext>
            </a:extLst>
          </p:cNvPr>
          <p:cNvSpPr>
            <a:spLocks noChangeAspect="1"/>
          </p:cNvSpPr>
          <p:nvPr/>
        </p:nvSpPr>
        <p:spPr bwMode="auto">
          <a:xfrm>
            <a:off x="9718298" y="1567792"/>
            <a:ext cx="495898" cy="495898"/>
          </a:xfrm>
          <a:custGeom>
            <a:avLst/>
            <a:gdLst>
              <a:gd name="T0" fmla="*/ 7726423 w 293329"/>
              <a:gd name="T1" fmla="*/ 9850932 h 293332"/>
              <a:gd name="T2" fmla="*/ 2935958 w 293329"/>
              <a:gd name="T3" fmla="*/ 9676341 h 293332"/>
              <a:gd name="T4" fmla="*/ 8633732 w 293329"/>
              <a:gd name="T5" fmla="*/ 8887648 h 293332"/>
              <a:gd name="T6" fmla="*/ 8503163 w 293329"/>
              <a:gd name="T7" fmla="*/ 10333017 h 293332"/>
              <a:gd name="T8" fmla="*/ 10187033 w 293329"/>
              <a:gd name="T9" fmla="*/ 9107071 h 293332"/>
              <a:gd name="T10" fmla="*/ 10656909 w 293329"/>
              <a:gd name="T11" fmla="*/ 9507104 h 293332"/>
              <a:gd name="T12" fmla="*/ 8346597 w 293329"/>
              <a:gd name="T13" fmla="*/ 10655613 h 293332"/>
              <a:gd name="T14" fmla="*/ 8398777 w 293329"/>
              <a:gd name="T15" fmla="*/ 8900613 h 293332"/>
              <a:gd name="T16" fmla="*/ 456778 w 293329"/>
              <a:gd name="T17" fmla="*/ 9107071 h 293332"/>
              <a:gd name="T18" fmla="*/ 2153785 w 293329"/>
              <a:gd name="T19" fmla="*/ 10333017 h 293332"/>
              <a:gd name="T20" fmla="*/ 2023134 w 293329"/>
              <a:gd name="T21" fmla="*/ 8887648 h 293332"/>
              <a:gd name="T22" fmla="*/ 2466970 w 293329"/>
              <a:gd name="T23" fmla="*/ 10500789 h 293332"/>
              <a:gd name="T24" fmla="*/ 0 w 293329"/>
              <a:gd name="T25" fmla="*/ 10500789 h 293332"/>
              <a:gd name="T26" fmla="*/ 443780 w 293329"/>
              <a:gd name="T27" fmla="*/ 8887648 h 293332"/>
              <a:gd name="T28" fmla="*/ 9388267 w 293329"/>
              <a:gd name="T29" fmla="*/ 8605304 h 293332"/>
              <a:gd name="T30" fmla="*/ 1198367 w 293329"/>
              <a:gd name="T31" fmla="*/ 7874844 h 293332"/>
              <a:gd name="T32" fmla="*/ 1570072 w 293329"/>
              <a:gd name="T33" fmla="*/ 8233637 h 293332"/>
              <a:gd name="T34" fmla="*/ 10080391 w 293329"/>
              <a:gd name="T35" fmla="*/ 8233637 h 293332"/>
              <a:gd name="T36" fmla="*/ 9388267 w 293329"/>
              <a:gd name="T37" fmla="*/ 7554479 h 293332"/>
              <a:gd name="T38" fmla="*/ 1198367 w 293329"/>
              <a:gd name="T39" fmla="*/ 8925645 h 293332"/>
              <a:gd name="T40" fmla="*/ 5130248 w 293329"/>
              <a:gd name="T41" fmla="*/ 6689459 h 293332"/>
              <a:gd name="T42" fmla="*/ 6635580 w 293329"/>
              <a:gd name="T43" fmla="*/ 7022186 h 293332"/>
              <a:gd name="T44" fmla="*/ 5130248 w 293329"/>
              <a:gd name="T45" fmla="*/ 6689459 h 293332"/>
              <a:gd name="T46" fmla="*/ 6792622 w 293329"/>
              <a:gd name="T47" fmla="*/ 5753460 h 293332"/>
              <a:gd name="T48" fmla="*/ 4960060 w 293329"/>
              <a:gd name="T49" fmla="*/ 5753460 h 293332"/>
              <a:gd name="T50" fmla="*/ 4394049 w 293329"/>
              <a:gd name="T51" fmla="*/ 8425350 h 293332"/>
              <a:gd name="T52" fmla="*/ 4394049 w 293329"/>
              <a:gd name="T53" fmla="*/ 4434924 h 293332"/>
              <a:gd name="T54" fmla="*/ 3801866 w 293329"/>
              <a:gd name="T55" fmla="*/ 8425350 h 293332"/>
              <a:gd name="T56" fmla="*/ 3801866 w 293329"/>
              <a:gd name="T57" fmla="*/ 4434924 h 293332"/>
              <a:gd name="T58" fmla="*/ 10173087 w 293329"/>
              <a:gd name="T59" fmla="*/ 3648251 h 293332"/>
              <a:gd name="T60" fmla="*/ 9880272 w 293329"/>
              <a:gd name="T61" fmla="*/ 7355373 h 293332"/>
              <a:gd name="T62" fmla="*/ 9960128 w 293329"/>
              <a:gd name="T63" fmla="*/ 3543768 h 293332"/>
              <a:gd name="T64" fmla="*/ 882485 w 293329"/>
              <a:gd name="T65" fmla="*/ 7043025 h 293332"/>
              <a:gd name="T66" fmla="*/ 572838 w 293329"/>
              <a:gd name="T67" fmla="*/ 7161164 h 293332"/>
              <a:gd name="T68" fmla="*/ 3801866 w 293329"/>
              <a:gd name="T69" fmla="*/ 3139719 h 293332"/>
              <a:gd name="T70" fmla="*/ 6999706 w 293329"/>
              <a:gd name="T71" fmla="*/ 4120936 h 293332"/>
              <a:gd name="T72" fmla="*/ 3801866 w 293329"/>
              <a:gd name="T73" fmla="*/ 2825664 h 293332"/>
              <a:gd name="T74" fmla="*/ 7486601 w 293329"/>
              <a:gd name="T75" fmla="*/ 3139719 h 293332"/>
              <a:gd name="T76" fmla="*/ 7486601 w 293329"/>
              <a:gd name="T77" fmla="*/ 4120936 h 293332"/>
              <a:gd name="T78" fmla="*/ 7486601 w 293329"/>
              <a:gd name="T79" fmla="*/ 8752426 h 293332"/>
              <a:gd name="T80" fmla="*/ 2999112 w 293329"/>
              <a:gd name="T81" fmla="*/ 3623786 h 293332"/>
              <a:gd name="T82" fmla="*/ 8646767 w 293329"/>
              <a:gd name="T83" fmla="*/ 1554601 h 293332"/>
              <a:gd name="T84" fmla="*/ 10330586 w 293329"/>
              <a:gd name="T85" fmla="*/ 2789136 h 293332"/>
              <a:gd name="T86" fmla="*/ 10213098 w 293329"/>
              <a:gd name="T87" fmla="*/ 1333651 h 293332"/>
              <a:gd name="T88" fmla="*/ 10656909 w 293329"/>
              <a:gd name="T89" fmla="*/ 2945074 h 293332"/>
              <a:gd name="T90" fmla="*/ 8189923 w 293329"/>
              <a:gd name="T91" fmla="*/ 2945074 h 293332"/>
              <a:gd name="T92" fmla="*/ 8633732 w 293329"/>
              <a:gd name="T93" fmla="*/ 1333651 h 293332"/>
              <a:gd name="T94" fmla="*/ 313320 w 293329"/>
              <a:gd name="T95" fmla="*/ 1957394 h 293332"/>
              <a:gd name="T96" fmla="*/ 2153785 w 293329"/>
              <a:gd name="T97" fmla="*/ 1957394 h 293332"/>
              <a:gd name="T98" fmla="*/ 2245154 w 293329"/>
              <a:gd name="T99" fmla="*/ 1346649 h 293332"/>
              <a:gd name="T100" fmla="*/ 2310348 w 293329"/>
              <a:gd name="T101" fmla="*/ 3101058 h 293332"/>
              <a:gd name="T102" fmla="*/ 0 w 293329"/>
              <a:gd name="T103" fmla="*/ 1957394 h 293332"/>
              <a:gd name="T104" fmla="*/ 9388267 w 293329"/>
              <a:gd name="T105" fmla="*/ 307485 h 293332"/>
              <a:gd name="T106" fmla="*/ 9759991 w 293329"/>
              <a:gd name="T107" fmla="*/ 679246 h 293332"/>
              <a:gd name="T108" fmla="*/ 826690 w 293329"/>
              <a:gd name="T109" fmla="*/ 679246 h 293332"/>
              <a:gd name="T110" fmla="*/ 1198367 w 293329"/>
              <a:gd name="T111" fmla="*/ 307485 h 293332"/>
              <a:gd name="T112" fmla="*/ 8022361 w 293329"/>
              <a:gd name="T113" fmla="*/ 1208071 h 293332"/>
              <a:gd name="T114" fmla="*/ 2720558 w 293329"/>
              <a:gd name="T115" fmla="*/ 1286932 h 293332"/>
              <a:gd name="T116" fmla="*/ 5293109 w 293329"/>
              <a:gd name="T117" fmla="*/ 246183 h 293332"/>
              <a:gd name="T118" fmla="*/ 9388267 w 293329"/>
              <a:gd name="T119" fmla="*/ 1371250 h 293332"/>
              <a:gd name="T120" fmla="*/ 1198367 w 293329"/>
              <a:gd name="T121" fmla="*/ 0 h 293332"/>
              <a:gd name="T122" fmla="*/ 519153 w 293329"/>
              <a:gd name="T123" fmla="*/ 679246 h 29333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0" t="0" r="r" b="b"/>
            <a:pathLst>
              <a:path w="293329" h="293332">
                <a:moveTo>
                  <a:pt x="208355" y="263416"/>
                </a:moveTo>
                <a:cubicBezTo>
                  <a:pt x="210511" y="261937"/>
                  <a:pt x="213385" y="262677"/>
                  <a:pt x="214822" y="264895"/>
                </a:cubicBezTo>
                <a:cubicBezTo>
                  <a:pt x="215541" y="267483"/>
                  <a:pt x="214822" y="270071"/>
                  <a:pt x="212667" y="271180"/>
                </a:cubicBezTo>
                <a:cubicBezTo>
                  <a:pt x="192188" y="282640"/>
                  <a:pt x="169194" y="288556"/>
                  <a:pt x="146201" y="288556"/>
                </a:cubicBezTo>
                <a:cubicBezTo>
                  <a:pt x="124284" y="288556"/>
                  <a:pt x="102728" y="283010"/>
                  <a:pt x="82608" y="272659"/>
                </a:cubicBezTo>
                <a:cubicBezTo>
                  <a:pt x="80093" y="271549"/>
                  <a:pt x="79375" y="268592"/>
                  <a:pt x="80812" y="266374"/>
                </a:cubicBezTo>
                <a:cubicBezTo>
                  <a:pt x="81530" y="264155"/>
                  <a:pt x="84405" y="263416"/>
                  <a:pt x="86560" y="264525"/>
                </a:cubicBezTo>
                <a:cubicBezTo>
                  <a:pt x="125003" y="284859"/>
                  <a:pt x="170631" y="284119"/>
                  <a:pt x="208355" y="263416"/>
                </a:cubicBezTo>
                <a:close/>
                <a:moveTo>
                  <a:pt x="237641" y="244663"/>
                </a:moveTo>
                <a:cubicBezTo>
                  <a:pt x="239437" y="246084"/>
                  <a:pt x="239796" y="248926"/>
                  <a:pt x="238000" y="250703"/>
                </a:cubicBezTo>
                <a:cubicBezTo>
                  <a:pt x="235485" y="253900"/>
                  <a:pt x="234048" y="257808"/>
                  <a:pt x="234048" y="261715"/>
                </a:cubicBezTo>
                <a:lnTo>
                  <a:pt x="234048" y="284451"/>
                </a:lnTo>
                <a:lnTo>
                  <a:pt x="284347" y="284451"/>
                </a:lnTo>
                <a:lnTo>
                  <a:pt x="284347" y="261715"/>
                </a:lnTo>
                <a:cubicBezTo>
                  <a:pt x="284347" y="257808"/>
                  <a:pt x="283269" y="253900"/>
                  <a:pt x="280395" y="250703"/>
                </a:cubicBezTo>
                <a:cubicBezTo>
                  <a:pt x="278958" y="248926"/>
                  <a:pt x="278958" y="246084"/>
                  <a:pt x="281113" y="244663"/>
                </a:cubicBezTo>
                <a:cubicBezTo>
                  <a:pt x="282910" y="242887"/>
                  <a:pt x="285784" y="243242"/>
                  <a:pt x="287221" y="245019"/>
                </a:cubicBezTo>
                <a:cubicBezTo>
                  <a:pt x="291173" y="249992"/>
                  <a:pt x="293329" y="255676"/>
                  <a:pt x="293329" y="261715"/>
                </a:cubicBezTo>
                <a:lnTo>
                  <a:pt x="293329" y="289069"/>
                </a:lnTo>
                <a:cubicBezTo>
                  <a:pt x="293329" y="291201"/>
                  <a:pt x="291533" y="293332"/>
                  <a:pt x="288658" y="293332"/>
                </a:cubicBezTo>
                <a:lnTo>
                  <a:pt x="229737" y="293332"/>
                </a:lnTo>
                <a:cubicBezTo>
                  <a:pt x="227222" y="293332"/>
                  <a:pt x="225425" y="291201"/>
                  <a:pt x="225425" y="289069"/>
                </a:cubicBezTo>
                <a:lnTo>
                  <a:pt x="225425" y="261715"/>
                </a:lnTo>
                <a:cubicBezTo>
                  <a:pt x="225425" y="255676"/>
                  <a:pt x="227222" y="249992"/>
                  <a:pt x="231174" y="245019"/>
                </a:cubicBezTo>
                <a:cubicBezTo>
                  <a:pt x="232611" y="243242"/>
                  <a:pt x="235844" y="242887"/>
                  <a:pt x="237641" y="244663"/>
                </a:cubicBezTo>
                <a:close/>
                <a:moveTo>
                  <a:pt x="12215" y="244663"/>
                </a:moveTo>
                <a:cubicBezTo>
                  <a:pt x="14012" y="246084"/>
                  <a:pt x="14371" y="248926"/>
                  <a:pt x="12575" y="250703"/>
                </a:cubicBezTo>
                <a:cubicBezTo>
                  <a:pt x="10419" y="253900"/>
                  <a:pt x="8622" y="257808"/>
                  <a:pt x="8622" y="261715"/>
                </a:cubicBezTo>
                <a:lnTo>
                  <a:pt x="8622" y="284451"/>
                </a:lnTo>
                <a:lnTo>
                  <a:pt x="59281" y="284451"/>
                </a:lnTo>
                <a:lnTo>
                  <a:pt x="59281" y="261715"/>
                </a:lnTo>
                <a:cubicBezTo>
                  <a:pt x="59281" y="257808"/>
                  <a:pt x="57844" y="253900"/>
                  <a:pt x="54969" y="250703"/>
                </a:cubicBezTo>
                <a:cubicBezTo>
                  <a:pt x="53532" y="248926"/>
                  <a:pt x="53892" y="246084"/>
                  <a:pt x="55688" y="244663"/>
                </a:cubicBezTo>
                <a:cubicBezTo>
                  <a:pt x="57844" y="242887"/>
                  <a:pt x="60359" y="243242"/>
                  <a:pt x="61796" y="245019"/>
                </a:cubicBezTo>
                <a:cubicBezTo>
                  <a:pt x="65748" y="249992"/>
                  <a:pt x="67903" y="255676"/>
                  <a:pt x="67903" y="261715"/>
                </a:cubicBezTo>
                <a:lnTo>
                  <a:pt x="67903" y="289069"/>
                </a:lnTo>
                <a:cubicBezTo>
                  <a:pt x="67903" y="291201"/>
                  <a:pt x="65748" y="293332"/>
                  <a:pt x="63592" y="293332"/>
                </a:cubicBezTo>
                <a:lnTo>
                  <a:pt x="4311" y="293332"/>
                </a:lnTo>
                <a:cubicBezTo>
                  <a:pt x="1796" y="293332"/>
                  <a:pt x="0" y="291201"/>
                  <a:pt x="0" y="289069"/>
                </a:cubicBezTo>
                <a:lnTo>
                  <a:pt x="0" y="261715"/>
                </a:lnTo>
                <a:cubicBezTo>
                  <a:pt x="0" y="255676"/>
                  <a:pt x="1796" y="249992"/>
                  <a:pt x="6107" y="245019"/>
                </a:cubicBezTo>
                <a:cubicBezTo>
                  <a:pt x="7545" y="243242"/>
                  <a:pt x="10419" y="242887"/>
                  <a:pt x="12215" y="244663"/>
                </a:cubicBezTo>
                <a:close/>
                <a:moveTo>
                  <a:pt x="258410" y="216782"/>
                </a:moveTo>
                <a:cubicBezTo>
                  <a:pt x="252766" y="216782"/>
                  <a:pt x="248180" y="221368"/>
                  <a:pt x="248180" y="226659"/>
                </a:cubicBezTo>
                <a:cubicBezTo>
                  <a:pt x="248180" y="232304"/>
                  <a:pt x="252766" y="236890"/>
                  <a:pt x="258410" y="236890"/>
                </a:cubicBezTo>
                <a:cubicBezTo>
                  <a:pt x="264055" y="236890"/>
                  <a:pt x="268641" y="232304"/>
                  <a:pt x="268641" y="226659"/>
                </a:cubicBezTo>
                <a:cubicBezTo>
                  <a:pt x="268641" y="221368"/>
                  <a:pt x="264055" y="216782"/>
                  <a:pt x="258410" y="216782"/>
                </a:cubicBezTo>
                <a:close/>
                <a:moveTo>
                  <a:pt x="32985" y="216782"/>
                </a:moveTo>
                <a:cubicBezTo>
                  <a:pt x="27341" y="216782"/>
                  <a:pt x="22754" y="221368"/>
                  <a:pt x="22754" y="226659"/>
                </a:cubicBezTo>
                <a:cubicBezTo>
                  <a:pt x="22754" y="232304"/>
                  <a:pt x="27341" y="236890"/>
                  <a:pt x="32985" y="236890"/>
                </a:cubicBezTo>
                <a:cubicBezTo>
                  <a:pt x="38629" y="236890"/>
                  <a:pt x="43216" y="232304"/>
                  <a:pt x="43216" y="226659"/>
                </a:cubicBezTo>
                <a:cubicBezTo>
                  <a:pt x="43216" y="221368"/>
                  <a:pt x="38629" y="216782"/>
                  <a:pt x="32985" y="216782"/>
                </a:cubicBezTo>
                <a:close/>
                <a:moveTo>
                  <a:pt x="258410" y="207962"/>
                </a:moveTo>
                <a:cubicBezTo>
                  <a:pt x="268994" y="207962"/>
                  <a:pt x="277460" y="216429"/>
                  <a:pt x="277460" y="226659"/>
                </a:cubicBezTo>
                <a:cubicBezTo>
                  <a:pt x="277460" y="237243"/>
                  <a:pt x="268994" y="245709"/>
                  <a:pt x="258410" y="245709"/>
                </a:cubicBezTo>
                <a:cubicBezTo>
                  <a:pt x="248180" y="245709"/>
                  <a:pt x="239713" y="237243"/>
                  <a:pt x="239713" y="226659"/>
                </a:cubicBezTo>
                <a:cubicBezTo>
                  <a:pt x="239713" y="216429"/>
                  <a:pt x="248180" y="207962"/>
                  <a:pt x="258410" y="207962"/>
                </a:cubicBezTo>
                <a:close/>
                <a:moveTo>
                  <a:pt x="32985" y="207962"/>
                </a:moveTo>
                <a:cubicBezTo>
                  <a:pt x="43568" y="207962"/>
                  <a:pt x="52035" y="216429"/>
                  <a:pt x="52035" y="226659"/>
                </a:cubicBezTo>
                <a:cubicBezTo>
                  <a:pt x="52035" y="237243"/>
                  <a:pt x="43568" y="245709"/>
                  <a:pt x="32985" y="245709"/>
                </a:cubicBezTo>
                <a:cubicBezTo>
                  <a:pt x="22754" y="245709"/>
                  <a:pt x="14288" y="237243"/>
                  <a:pt x="14288" y="226659"/>
                </a:cubicBezTo>
                <a:cubicBezTo>
                  <a:pt x="14288" y="216429"/>
                  <a:pt x="22754" y="207962"/>
                  <a:pt x="32985" y="207962"/>
                </a:cubicBezTo>
                <a:close/>
                <a:moveTo>
                  <a:pt x="141209" y="184150"/>
                </a:moveTo>
                <a:lnTo>
                  <a:pt x="182642" y="184150"/>
                </a:lnTo>
                <a:cubicBezTo>
                  <a:pt x="185164" y="184150"/>
                  <a:pt x="186965" y="186348"/>
                  <a:pt x="186965" y="188913"/>
                </a:cubicBezTo>
                <a:cubicBezTo>
                  <a:pt x="186965" y="191477"/>
                  <a:pt x="185164" y="193309"/>
                  <a:pt x="182642" y="193309"/>
                </a:cubicBezTo>
                <a:lnTo>
                  <a:pt x="141209" y="193309"/>
                </a:lnTo>
                <a:cubicBezTo>
                  <a:pt x="138687" y="193309"/>
                  <a:pt x="136525" y="191477"/>
                  <a:pt x="136525" y="188913"/>
                </a:cubicBezTo>
                <a:cubicBezTo>
                  <a:pt x="136525" y="186348"/>
                  <a:pt x="138687" y="184150"/>
                  <a:pt x="141209" y="184150"/>
                </a:cubicBezTo>
                <a:close/>
                <a:moveTo>
                  <a:pt x="141209" y="153987"/>
                </a:moveTo>
                <a:lnTo>
                  <a:pt x="182642" y="153987"/>
                </a:lnTo>
                <a:cubicBezTo>
                  <a:pt x="185164" y="153987"/>
                  <a:pt x="186965" y="155818"/>
                  <a:pt x="186965" y="158383"/>
                </a:cubicBezTo>
                <a:cubicBezTo>
                  <a:pt x="186965" y="160947"/>
                  <a:pt x="185164" y="163145"/>
                  <a:pt x="182642" y="163145"/>
                </a:cubicBezTo>
                <a:lnTo>
                  <a:pt x="141209" y="163145"/>
                </a:lnTo>
                <a:cubicBezTo>
                  <a:pt x="138687" y="163145"/>
                  <a:pt x="136525" y="160947"/>
                  <a:pt x="136525" y="158383"/>
                </a:cubicBezTo>
                <a:cubicBezTo>
                  <a:pt x="136525" y="155818"/>
                  <a:pt x="138687" y="153987"/>
                  <a:pt x="141209" y="153987"/>
                </a:cubicBezTo>
                <a:close/>
                <a:moveTo>
                  <a:pt x="120945" y="122087"/>
                </a:moveTo>
                <a:lnTo>
                  <a:pt x="120945" y="231936"/>
                </a:lnTo>
                <a:lnTo>
                  <a:pt x="201721" y="231936"/>
                </a:lnTo>
                <a:lnTo>
                  <a:pt x="201721" y="122087"/>
                </a:lnTo>
                <a:lnTo>
                  <a:pt x="120945" y="122087"/>
                </a:lnTo>
                <a:close/>
                <a:moveTo>
                  <a:pt x="91243" y="117765"/>
                </a:moveTo>
                <a:lnTo>
                  <a:pt x="91243" y="218610"/>
                </a:lnTo>
                <a:cubicBezTo>
                  <a:pt x="91243" y="225813"/>
                  <a:pt x="97401" y="231936"/>
                  <a:pt x="104645" y="231936"/>
                </a:cubicBezTo>
                <a:lnTo>
                  <a:pt x="112252" y="231936"/>
                </a:lnTo>
                <a:lnTo>
                  <a:pt x="112252" y="122087"/>
                </a:lnTo>
                <a:lnTo>
                  <a:pt x="104645" y="122087"/>
                </a:lnTo>
                <a:cubicBezTo>
                  <a:pt x="99574" y="122087"/>
                  <a:pt x="94865" y="120286"/>
                  <a:pt x="91243" y="117765"/>
                </a:cubicBezTo>
                <a:close/>
                <a:moveTo>
                  <a:pt x="274150" y="97555"/>
                </a:moveTo>
                <a:cubicBezTo>
                  <a:pt x="276714" y="96837"/>
                  <a:pt x="279278" y="98274"/>
                  <a:pt x="280011" y="100430"/>
                </a:cubicBezTo>
                <a:cubicBezTo>
                  <a:pt x="291734" y="132770"/>
                  <a:pt x="291001" y="168344"/>
                  <a:pt x="277813" y="199966"/>
                </a:cubicBezTo>
                <a:cubicBezTo>
                  <a:pt x="277080" y="201763"/>
                  <a:pt x="275249" y="202841"/>
                  <a:pt x="273783" y="202841"/>
                </a:cubicBezTo>
                <a:cubicBezTo>
                  <a:pt x="273051" y="202841"/>
                  <a:pt x="272684" y="202841"/>
                  <a:pt x="271952" y="202482"/>
                </a:cubicBezTo>
                <a:cubicBezTo>
                  <a:pt x="269387" y="201404"/>
                  <a:pt x="268288" y="198888"/>
                  <a:pt x="269387" y="196732"/>
                </a:cubicBezTo>
                <a:cubicBezTo>
                  <a:pt x="281843" y="166907"/>
                  <a:pt x="282209" y="133848"/>
                  <a:pt x="271585" y="103305"/>
                </a:cubicBezTo>
                <a:cubicBezTo>
                  <a:pt x="270853" y="101149"/>
                  <a:pt x="271952" y="98633"/>
                  <a:pt x="274150" y="97555"/>
                </a:cubicBezTo>
                <a:close/>
                <a:moveTo>
                  <a:pt x="20584" y="95972"/>
                </a:moveTo>
                <a:cubicBezTo>
                  <a:pt x="22807" y="96695"/>
                  <a:pt x="24289" y="99224"/>
                  <a:pt x="23177" y="101753"/>
                </a:cubicBezTo>
                <a:cubicBezTo>
                  <a:pt x="12435" y="131379"/>
                  <a:pt x="12806" y="164257"/>
                  <a:pt x="24289" y="193883"/>
                </a:cubicBezTo>
                <a:cubicBezTo>
                  <a:pt x="25029" y="196051"/>
                  <a:pt x="23918" y="198580"/>
                  <a:pt x="21696" y="199664"/>
                </a:cubicBezTo>
                <a:cubicBezTo>
                  <a:pt x="20955" y="199664"/>
                  <a:pt x="20584" y="199664"/>
                  <a:pt x="19844" y="199664"/>
                </a:cubicBezTo>
                <a:cubicBezTo>
                  <a:pt x="17991" y="199664"/>
                  <a:pt x="16510" y="198580"/>
                  <a:pt x="15769" y="197135"/>
                </a:cubicBezTo>
                <a:cubicBezTo>
                  <a:pt x="3545" y="165341"/>
                  <a:pt x="3175" y="130656"/>
                  <a:pt x="14658" y="98863"/>
                </a:cubicBezTo>
                <a:cubicBezTo>
                  <a:pt x="15399" y="96334"/>
                  <a:pt x="17991" y="95250"/>
                  <a:pt x="20584" y="95972"/>
                </a:cubicBezTo>
                <a:close/>
                <a:moveTo>
                  <a:pt x="104645" y="86431"/>
                </a:moveTo>
                <a:cubicBezTo>
                  <a:pt x="97401" y="86431"/>
                  <a:pt x="91243" y="92553"/>
                  <a:pt x="91243" y="99757"/>
                </a:cubicBezTo>
                <a:cubicBezTo>
                  <a:pt x="91243" y="107320"/>
                  <a:pt x="97401" y="113443"/>
                  <a:pt x="104645" y="113443"/>
                </a:cubicBezTo>
                <a:lnTo>
                  <a:pt x="192665" y="113443"/>
                </a:lnTo>
                <a:cubicBezTo>
                  <a:pt x="189405" y="104799"/>
                  <a:pt x="189405" y="95435"/>
                  <a:pt x="192665" y="86431"/>
                </a:cubicBezTo>
                <a:lnTo>
                  <a:pt x="104645" y="86431"/>
                </a:lnTo>
                <a:close/>
                <a:moveTo>
                  <a:pt x="104645" y="77787"/>
                </a:moveTo>
                <a:lnTo>
                  <a:pt x="206067" y="77787"/>
                </a:lnTo>
                <a:cubicBezTo>
                  <a:pt x="208603" y="77787"/>
                  <a:pt x="210776" y="79948"/>
                  <a:pt x="210776" y="82109"/>
                </a:cubicBezTo>
                <a:cubicBezTo>
                  <a:pt x="210776" y="84630"/>
                  <a:pt x="208603" y="86431"/>
                  <a:pt x="206067" y="86431"/>
                </a:cubicBezTo>
                <a:lnTo>
                  <a:pt x="202807" y="86431"/>
                </a:lnTo>
                <a:cubicBezTo>
                  <a:pt x="198098" y="95074"/>
                  <a:pt x="198098" y="104799"/>
                  <a:pt x="202807" y="113443"/>
                </a:cubicBezTo>
                <a:lnTo>
                  <a:pt x="206067" y="113443"/>
                </a:lnTo>
                <a:cubicBezTo>
                  <a:pt x="208603" y="113443"/>
                  <a:pt x="210776" y="115243"/>
                  <a:pt x="210776" y="117765"/>
                </a:cubicBezTo>
                <a:lnTo>
                  <a:pt x="210776" y="236258"/>
                </a:lnTo>
                <a:cubicBezTo>
                  <a:pt x="210776" y="238779"/>
                  <a:pt x="208603" y="240940"/>
                  <a:pt x="206067" y="240940"/>
                </a:cubicBezTo>
                <a:lnTo>
                  <a:pt x="104645" y="240940"/>
                </a:lnTo>
                <a:cubicBezTo>
                  <a:pt x="92330" y="240940"/>
                  <a:pt x="82550" y="230856"/>
                  <a:pt x="82550" y="218610"/>
                </a:cubicBezTo>
                <a:lnTo>
                  <a:pt x="82550" y="99757"/>
                </a:lnTo>
                <a:cubicBezTo>
                  <a:pt x="82550" y="87511"/>
                  <a:pt x="92330" y="77787"/>
                  <a:pt x="104645" y="77787"/>
                </a:cubicBezTo>
                <a:close/>
                <a:moveTo>
                  <a:pt x="237641" y="36713"/>
                </a:moveTo>
                <a:cubicBezTo>
                  <a:pt x="239437" y="37787"/>
                  <a:pt x="239796" y="40649"/>
                  <a:pt x="238000" y="42795"/>
                </a:cubicBezTo>
                <a:cubicBezTo>
                  <a:pt x="235485" y="45657"/>
                  <a:pt x="234048" y="49950"/>
                  <a:pt x="234048" y="53885"/>
                </a:cubicBezTo>
                <a:lnTo>
                  <a:pt x="234048" y="76781"/>
                </a:lnTo>
                <a:lnTo>
                  <a:pt x="284347" y="76781"/>
                </a:lnTo>
                <a:lnTo>
                  <a:pt x="284347" y="53885"/>
                </a:lnTo>
                <a:cubicBezTo>
                  <a:pt x="284347" y="49950"/>
                  <a:pt x="282910" y="45657"/>
                  <a:pt x="280395" y="42795"/>
                </a:cubicBezTo>
                <a:cubicBezTo>
                  <a:pt x="278958" y="40649"/>
                  <a:pt x="278958" y="37787"/>
                  <a:pt x="281113" y="36713"/>
                </a:cubicBezTo>
                <a:cubicBezTo>
                  <a:pt x="282910" y="34925"/>
                  <a:pt x="285784" y="35282"/>
                  <a:pt x="287221" y="37071"/>
                </a:cubicBezTo>
                <a:cubicBezTo>
                  <a:pt x="291173" y="41722"/>
                  <a:pt x="293329" y="47804"/>
                  <a:pt x="293329" y="53885"/>
                </a:cubicBezTo>
                <a:lnTo>
                  <a:pt x="293329" y="81074"/>
                </a:lnTo>
                <a:cubicBezTo>
                  <a:pt x="293329" y="83578"/>
                  <a:pt x="291533" y="85367"/>
                  <a:pt x="288658" y="85367"/>
                </a:cubicBezTo>
                <a:lnTo>
                  <a:pt x="229737" y="85367"/>
                </a:lnTo>
                <a:cubicBezTo>
                  <a:pt x="227222" y="85367"/>
                  <a:pt x="225425" y="83578"/>
                  <a:pt x="225425" y="81074"/>
                </a:cubicBezTo>
                <a:lnTo>
                  <a:pt x="225425" y="53885"/>
                </a:lnTo>
                <a:cubicBezTo>
                  <a:pt x="225425" y="47804"/>
                  <a:pt x="227222" y="41722"/>
                  <a:pt x="231174" y="37071"/>
                </a:cubicBezTo>
                <a:cubicBezTo>
                  <a:pt x="232970" y="35282"/>
                  <a:pt x="235844" y="34925"/>
                  <a:pt x="237641" y="36713"/>
                </a:cubicBezTo>
                <a:close/>
                <a:moveTo>
                  <a:pt x="12215" y="36713"/>
                </a:moveTo>
                <a:cubicBezTo>
                  <a:pt x="14012" y="37787"/>
                  <a:pt x="14371" y="40649"/>
                  <a:pt x="12575" y="42795"/>
                </a:cubicBezTo>
                <a:cubicBezTo>
                  <a:pt x="10419" y="45657"/>
                  <a:pt x="8622" y="49950"/>
                  <a:pt x="8622" y="53885"/>
                </a:cubicBezTo>
                <a:lnTo>
                  <a:pt x="8622" y="76781"/>
                </a:lnTo>
                <a:lnTo>
                  <a:pt x="59281" y="76781"/>
                </a:lnTo>
                <a:lnTo>
                  <a:pt x="59281" y="53885"/>
                </a:lnTo>
                <a:cubicBezTo>
                  <a:pt x="59281" y="49950"/>
                  <a:pt x="57844" y="45657"/>
                  <a:pt x="54969" y="42795"/>
                </a:cubicBezTo>
                <a:cubicBezTo>
                  <a:pt x="53532" y="40649"/>
                  <a:pt x="53892" y="37787"/>
                  <a:pt x="55688" y="36713"/>
                </a:cubicBezTo>
                <a:cubicBezTo>
                  <a:pt x="57844" y="34925"/>
                  <a:pt x="60359" y="35282"/>
                  <a:pt x="61796" y="37071"/>
                </a:cubicBezTo>
                <a:cubicBezTo>
                  <a:pt x="65748" y="41722"/>
                  <a:pt x="67903" y="47804"/>
                  <a:pt x="67903" y="53885"/>
                </a:cubicBezTo>
                <a:lnTo>
                  <a:pt x="67903" y="81074"/>
                </a:lnTo>
                <a:cubicBezTo>
                  <a:pt x="67903" y="83578"/>
                  <a:pt x="65748" y="85367"/>
                  <a:pt x="63592" y="85367"/>
                </a:cubicBezTo>
                <a:lnTo>
                  <a:pt x="4311" y="85367"/>
                </a:lnTo>
                <a:cubicBezTo>
                  <a:pt x="1796" y="85367"/>
                  <a:pt x="0" y="83578"/>
                  <a:pt x="0" y="81074"/>
                </a:cubicBezTo>
                <a:lnTo>
                  <a:pt x="0" y="53885"/>
                </a:lnTo>
                <a:cubicBezTo>
                  <a:pt x="0" y="47804"/>
                  <a:pt x="1796" y="41722"/>
                  <a:pt x="6107" y="37071"/>
                </a:cubicBezTo>
                <a:cubicBezTo>
                  <a:pt x="7545" y="35282"/>
                  <a:pt x="10419" y="34925"/>
                  <a:pt x="12215" y="36713"/>
                </a:cubicBezTo>
                <a:close/>
                <a:moveTo>
                  <a:pt x="258410" y="8466"/>
                </a:moveTo>
                <a:cubicBezTo>
                  <a:pt x="252766" y="8466"/>
                  <a:pt x="248180" y="13405"/>
                  <a:pt x="248180" y="18697"/>
                </a:cubicBezTo>
                <a:cubicBezTo>
                  <a:pt x="248180" y="24341"/>
                  <a:pt x="252766" y="28928"/>
                  <a:pt x="258410" y="28928"/>
                </a:cubicBezTo>
                <a:cubicBezTo>
                  <a:pt x="264055" y="28928"/>
                  <a:pt x="268641" y="24341"/>
                  <a:pt x="268641" y="18697"/>
                </a:cubicBezTo>
                <a:cubicBezTo>
                  <a:pt x="268641" y="13405"/>
                  <a:pt x="264055" y="8466"/>
                  <a:pt x="258410" y="8466"/>
                </a:cubicBezTo>
                <a:close/>
                <a:moveTo>
                  <a:pt x="32985" y="8466"/>
                </a:moveTo>
                <a:cubicBezTo>
                  <a:pt x="27341" y="8466"/>
                  <a:pt x="22754" y="13405"/>
                  <a:pt x="22754" y="18697"/>
                </a:cubicBezTo>
                <a:cubicBezTo>
                  <a:pt x="22754" y="24341"/>
                  <a:pt x="27341" y="28928"/>
                  <a:pt x="32985" y="28928"/>
                </a:cubicBezTo>
                <a:cubicBezTo>
                  <a:pt x="38629" y="28928"/>
                  <a:pt x="43216" y="24341"/>
                  <a:pt x="43216" y="18697"/>
                </a:cubicBezTo>
                <a:cubicBezTo>
                  <a:pt x="43216" y="13405"/>
                  <a:pt x="38629" y="8466"/>
                  <a:pt x="32985" y="8466"/>
                </a:cubicBezTo>
                <a:close/>
                <a:moveTo>
                  <a:pt x="145691" y="6778"/>
                </a:moveTo>
                <a:cubicBezTo>
                  <a:pt x="171211" y="6778"/>
                  <a:pt x="196731" y="13556"/>
                  <a:pt x="219015" y="27113"/>
                </a:cubicBezTo>
                <a:cubicBezTo>
                  <a:pt x="221531" y="28559"/>
                  <a:pt x="221891" y="31089"/>
                  <a:pt x="220813" y="33258"/>
                </a:cubicBezTo>
                <a:cubicBezTo>
                  <a:pt x="219015" y="35427"/>
                  <a:pt x="216499" y="36150"/>
                  <a:pt x="214702" y="34704"/>
                </a:cubicBezTo>
                <a:cubicBezTo>
                  <a:pt x="172648" y="9037"/>
                  <a:pt x="118733" y="9037"/>
                  <a:pt x="77038" y="34704"/>
                </a:cubicBezTo>
                <a:cubicBezTo>
                  <a:pt x="76320" y="35427"/>
                  <a:pt x="75601" y="35427"/>
                  <a:pt x="74882" y="35427"/>
                </a:cubicBezTo>
                <a:cubicBezTo>
                  <a:pt x="73444" y="35427"/>
                  <a:pt x="72006" y="34704"/>
                  <a:pt x="70928" y="33258"/>
                </a:cubicBezTo>
                <a:cubicBezTo>
                  <a:pt x="69850" y="31089"/>
                  <a:pt x="70209" y="28559"/>
                  <a:pt x="72366" y="27113"/>
                </a:cubicBezTo>
                <a:cubicBezTo>
                  <a:pt x="94651" y="13556"/>
                  <a:pt x="120171" y="6778"/>
                  <a:pt x="145691" y="6778"/>
                </a:cubicBezTo>
                <a:close/>
                <a:moveTo>
                  <a:pt x="258410" y="0"/>
                </a:moveTo>
                <a:cubicBezTo>
                  <a:pt x="268994" y="0"/>
                  <a:pt x="277460" y="8466"/>
                  <a:pt x="277460" y="18697"/>
                </a:cubicBezTo>
                <a:cubicBezTo>
                  <a:pt x="277460" y="29280"/>
                  <a:pt x="268994" y="37747"/>
                  <a:pt x="258410" y="37747"/>
                </a:cubicBezTo>
                <a:cubicBezTo>
                  <a:pt x="248180" y="37747"/>
                  <a:pt x="239713" y="29280"/>
                  <a:pt x="239713" y="18697"/>
                </a:cubicBezTo>
                <a:cubicBezTo>
                  <a:pt x="239713" y="8466"/>
                  <a:pt x="248180" y="0"/>
                  <a:pt x="258410" y="0"/>
                </a:cubicBezTo>
                <a:close/>
                <a:moveTo>
                  <a:pt x="32985" y="0"/>
                </a:moveTo>
                <a:cubicBezTo>
                  <a:pt x="43568" y="0"/>
                  <a:pt x="52035" y="8466"/>
                  <a:pt x="52035" y="18697"/>
                </a:cubicBezTo>
                <a:cubicBezTo>
                  <a:pt x="52035" y="29280"/>
                  <a:pt x="43568" y="37747"/>
                  <a:pt x="32985" y="37747"/>
                </a:cubicBezTo>
                <a:cubicBezTo>
                  <a:pt x="22754" y="37747"/>
                  <a:pt x="14288" y="29280"/>
                  <a:pt x="14288" y="18697"/>
                </a:cubicBezTo>
                <a:cubicBezTo>
                  <a:pt x="14288" y="8466"/>
                  <a:pt x="22754" y="0"/>
                  <a:pt x="32985" y="0"/>
                </a:cubicBezTo>
                <a:close/>
              </a:path>
            </a:pathLst>
          </a:custGeom>
          <a:solidFill>
            <a:srgbClr val="ED8B00"/>
          </a:solidFill>
          <a:ln>
            <a:noFill/>
          </a:ln>
        </p:spPr>
        <p:txBody>
          <a:bodyPr anchor="ctr"/>
          <a:lstStyle/>
          <a:p>
            <a:endParaRPr lang="en-US" sz="900"/>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05893" y="2143761"/>
            <a:ext cx="1951578"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5" name="TextBox 14">
            <a:extLst>
              <a:ext uri="{FF2B5EF4-FFF2-40B4-BE49-F238E27FC236}">
                <a16:creationId xmlns:a16="http://schemas.microsoft.com/office/drawing/2014/main" id="{78087AEC-86F9-E8B2-C10B-A49DA1E431AE}"/>
              </a:ext>
            </a:extLst>
          </p:cNvPr>
          <p:cNvSpPr txBox="1"/>
          <p:nvPr/>
        </p:nvSpPr>
        <p:spPr>
          <a:xfrm>
            <a:off x="9135359"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Expense management could be costing you</a:t>
            </a:r>
          </a:p>
        </p:txBody>
      </p:sp>
      <p:sp>
        <p:nvSpPr>
          <p:cNvPr id="16" name="TextBox 15">
            <a:extLst>
              <a:ext uri="{FF2B5EF4-FFF2-40B4-BE49-F238E27FC236}">
                <a16:creationId xmlns:a16="http://schemas.microsoft.com/office/drawing/2014/main" id="{758C2988-077F-715B-4765-2E7B0D4C1F34}"/>
              </a:ext>
            </a:extLst>
          </p:cNvPr>
          <p:cNvSpPr txBox="1"/>
          <p:nvPr/>
        </p:nvSpPr>
        <p:spPr>
          <a:xfrm>
            <a:off x="9161060" y="5097694"/>
            <a:ext cx="1892974" cy="600164"/>
          </a:xfrm>
          <a:prstGeom prst="rect">
            <a:avLst/>
          </a:prstGeom>
          <a:noFill/>
        </p:spPr>
        <p:txBody>
          <a:bodyPr wrap="square" rtlCol="0">
            <a:spAutoFit/>
          </a:bodyPr>
          <a:lstStyle/>
          <a:p>
            <a:pPr algn="ct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t>
            </a:r>
            <a:r>
              <a:rPr lang="tr-TR" sz="2400" dirty="0" err="1">
                <a:solidFill>
                  <a:schemeClr val="accent2"/>
                </a:solidFill>
                <a:latin typeface="Open Sans" panose="020B0606030504020204" pitchFamily="34" charset="0"/>
                <a:ea typeface="Open Sans" panose="020B0606030504020204" pitchFamily="34" charset="0"/>
                <a:cs typeface="Open Sans" panose="020B0606030504020204" pitchFamily="34" charset="0"/>
              </a:rPr>
              <a:t>valoem</a:t>
            </a:r>
            <a:r>
              <a:rPr lang="en-GB" sz="24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9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annually</a:t>
            </a:r>
          </a:p>
        </p:txBody>
      </p:sp>
    </p:spTree>
    <p:extLst>
      <p:ext uri="{BB962C8B-B14F-4D97-AF65-F5344CB8AC3E}">
        <p14:creationId xmlns:p14="http://schemas.microsoft.com/office/powerpoint/2010/main" val="6539043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4</a:t>
            </a:fld>
            <a:endParaRPr lang="en-US"/>
          </a:p>
        </p:txBody>
      </p:sp>
      <p:sp>
        <p:nvSpPr>
          <p:cNvPr id="3" name="Title 2">
            <a:extLst>
              <a:ext uri="{FF2B5EF4-FFF2-40B4-BE49-F238E27FC236}">
                <a16:creationId xmlns:a16="http://schemas.microsoft.com/office/drawing/2014/main" id="{8E8DA237-B9A8-8F39-10D8-DB6BB882015C}"/>
              </a:ext>
            </a:extLst>
          </p:cNvPr>
          <p:cNvSpPr>
            <a:spLocks noGrp="1"/>
          </p:cNvSpPr>
          <p:nvPr>
            <p:ph type="title"/>
          </p:nvPr>
        </p:nvSpPr>
        <p:spPr/>
        <p:txBody>
          <a:bodyPr/>
          <a:lstStyle/>
          <a:p>
            <a:r>
              <a:rPr lang="en-GB"/>
              <a:t>OUR VALUE OFFERING</a:t>
            </a:r>
            <a:br>
              <a:rPr lang="en-GB"/>
            </a:br>
            <a:endParaRPr lang="en-US"/>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2"/>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dirty="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tr-TR" sz="1862" b="1" dirty="0">
                <a:solidFill>
                  <a:srgbClr val="25252C"/>
                </a:solidFill>
                <a:latin typeface="Montserrat SemiBold" pitchFamily="2" charset="77"/>
              </a:rPr>
              <a:t> </a:t>
            </a:r>
            <a:r>
              <a:rPr lang="en-GB" sz="1862" b="1" dirty="0">
                <a:solidFill>
                  <a:srgbClr val="25252C"/>
                </a:solidFill>
                <a:latin typeface="Montserrat SemiBold" pitchFamily="2" charset="77"/>
              </a:rPr>
              <a:t>RETURNS</a:t>
            </a: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pic>
        <p:nvPicPr>
          <p:cNvPr id="33" name="Graphic 32" descr="Coins outline">
            <a:extLst>
              <a:ext uri="{FF2B5EF4-FFF2-40B4-BE49-F238E27FC236}">
                <a16:creationId xmlns:a16="http://schemas.microsoft.com/office/drawing/2014/main" id="{8893B05B-C6E0-B3A7-D58E-486044616A3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03483" y="2016302"/>
            <a:ext cx="493118" cy="493118"/>
          </a:xfrm>
          <a:prstGeom prst="rect">
            <a:avLst/>
          </a:prstGeom>
        </p:spPr>
      </p:pic>
      <p:pic>
        <p:nvPicPr>
          <p:cNvPr id="34" name="Graphic 33" descr="Open hand outline">
            <a:extLst>
              <a:ext uri="{FF2B5EF4-FFF2-40B4-BE49-F238E27FC236}">
                <a16:creationId xmlns:a16="http://schemas.microsoft.com/office/drawing/2014/main" id="{F4B19FD7-C3E3-0A5D-8AC9-C81CAEC5243E}"/>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104863" y="4042808"/>
            <a:ext cx="394596" cy="394596"/>
          </a:xfrm>
          <a:prstGeom prst="rect">
            <a:avLst/>
          </a:prstGeom>
        </p:spPr>
      </p:pic>
      <p:pic>
        <p:nvPicPr>
          <p:cNvPr id="35" name="Graphic 34" descr="Dollar outline">
            <a:extLst>
              <a:ext uri="{FF2B5EF4-FFF2-40B4-BE49-F238E27FC236}">
                <a16:creationId xmlns:a16="http://schemas.microsoft.com/office/drawing/2014/main" id="{3F7A8CC5-A34A-2AAF-046A-EA7F5275B046}"/>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397341" y="3971094"/>
            <a:ext cx="99414" cy="99414"/>
          </a:xfrm>
          <a:prstGeom prst="rect">
            <a:avLst/>
          </a:prstGeom>
        </p:spPr>
      </p:pic>
      <p:sp>
        <p:nvSpPr>
          <p:cNvPr id="36" name="TextBox 35">
            <a:extLst>
              <a:ext uri="{FF2B5EF4-FFF2-40B4-BE49-F238E27FC236}">
                <a16:creationId xmlns:a16="http://schemas.microsoft.com/office/drawing/2014/main" id="{9FA86A8D-86F3-D8A5-4B2F-A073EE2727C5}"/>
              </a:ext>
            </a:extLst>
          </p:cNvPr>
          <p:cNvSpPr txBox="1"/>
          <p:nvPr/>
        </p:nvSpPr>
        <p:spPr>
          <a:xfrm>
            <a:off x="412673" y="3361760"/>
            <a:ext cx="1086998" cy="400110"/>
          </a:xfrm>
          <a:prstGeom prst="rect">
            <a:avLst/>
          </a:prstGeom>
          <a:noFill/>
        </p:spPr>
        <p:txBody>
          <a:bodyPr wrap="square" rtlCol="0">
            <a:spAutoFit/>
          </a:bodyPr>
          <a:lstStyle/>
          <a:p>
            <a:pPr algn="ctr"/>
            <a:r>
              <a:rPr lang="en-GB" sz="1000" b="1" dirty="0">
                <a:solidFill>
                  <a:schemeClr val="tx2"/>
                </a:solidFill>
                <a:latin typeface="Open Sans" panose="020B0606030504020204" pitchFamily="34" charset="0"/>
                <a:ea typeface="Open Sans" panose="020B0606030504020204" pitchFamily="34" charset="0"/>
                <a:cs typeface="Open Sans" panose="020B0606030504020204" pitchFamily="34" charset="0"/>
              </a:rPr>
              <a:t>Annual cost of delay</a:t>
            </a:r>
          </a:p>
        </p:txBody>
      </p:sp>
      <p:sp>
        <p:nvSpPr>
          <p:cNvPr id="37" name="TextBox 36">
            <a:extLst>
              <a:ext uri="{FF2B5EF4-FFF2-40B4-BE49-F238E27FC236}">
                <a16:creationId xmlns:a16="http://schemas.microsoft.com/office/drawing/2014/main" id="{325C6676-A04D-9A0A-5013-8F256DA67B98}"/>
              </a:ext>
            </a:extLst>
          </p:cNvPr>
          <p:cNvSpPr txBox="1"/>
          <p:nvPr/>
        </p:nvSpPr>
        <p:spPr>
          <a:xfrm>
            <a:off x="538150" y="2462878"/>
            <a:ext cx="799309" cy="253916"/>
          </a:xfrm>
          <a:prstGeom prst="rect">
            <a:avLst/>
          </a:prstGeom>
          <a:noFill/>
        </p:spPr>
        <p:txBody>
          <a:bodyPr wrap="square" rtlCol="0">
            <a:spAutoFit/>
          </a:bodyPr>
          <a:lstStyle/>
          <a:p>
            <a:pPr algn="ctr"/>
            <a:r>
              <a:rPr lang="en-GB" sz="1050" b="1">
                <a:solidFill>
                  <a:schemeClr val="tx2"/>
                </a:solidFill>
                <a:latin typeface="Open Sans" panose="020B0606030504020204" pitchFamily="34" charset="0"/>
                <a:ea typeface="Open Sans" panose="020B0606030504020204" pitchFamily="34" charset="0"/>
                <a:cs typeface="Open Sans" panose="020B0606030504020204" pitchFamily="34" charset="0"/>
              </a:rPr>
              <a:t>BENEFIT</a:t>
            </a:r>
          </a:p>
        </p:txBody>
      </p:sp>
      <p:pic>
        <p:nvPicPr>
          <p:cNvPr id="38" name="Graphic 37" descr="Downward trend graph outline">
            <a:extLst>
              <a:ext uri="{FF2B5EF4-FFF2-40B4-BE49-F238E27FC236}">
                <a16:creationId xmlns:a16="http://schemas.microsoft.com/office/drawing/2014/main" id="{7FA9B895-8EB4-7A49-5734-83756E4D30F1}"/>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740002" y="2930773"/>
            <a:ext cx="394596" cy="394596"/>
          </a:xfrm>
          <a:prstGeom prst="rect">
            <a:avLst/>
          </a:prstGeom>
        </p:spPr>
      </p:pic>
      <p:sp>
        <p:nvSpPr>
          <p:cNvPr id="39" name="TextBox 38">
            <a:extLst>
              <a:ext uri="{FF2B5EF4-FFF2-40B4-BE49-F238E27FC236}">
                <a16:creationId xmlns:a16="http://schemas.microsoft.com/office/drawing/2014/main" id="{37271072-AD93-D632-48FD-EDE2D6D2F892}"/>
              </a:ext>
            </a:extLst>
          </p:cNvPr>
          <p:cNvSpPr txBox="1"/>
          <p:nvPr/>
        </p:nvSpPr>
        <p:spPr>
          <a:xfrm>
            <a:off x="440792" y="4381620"/>
            <a:ext cx="1086998" cy="253916"/>
          </a:xfrm>
          <a:prstGeom prst="rect">
            <a:avLst/>
          </a:prstGeom>
          <a:noFill/>
        </p:spPr>
        <p:txBody>
          <a:bodyPr wrap="square" rtlCol="0">
            <a:spAutoFit/>
          </a:bodyPr>
          <a:lstStyle/>
          <a:p>
            <a:pPr algn="ctr"/>
            <a:r>
              <a:rPr lang="en-GB" sz="1050" b="1">
                <a:solidFill>
                  <a:schemeClr val="tx2"/>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40" name="TextBox 39">
            <a:extLst>
              <a:ext uri="{FF2B5EF4-FFF2-40B4-BE49-F238E27FC236}">
                <a16:creationId xmlns:a16="http://schemas.microsoft.com/office/drawing/2014/main" id="{F05CA6D4-8335-F2D7-196A-2958318AB9FC}"/>
              </a:ext>
            </a:extLst>
          </p:cNvPr>
          <p:cNvSpPr txBox="1"/>
          <p:nvPr/>
        </p:nvSpPr>
        <p:spPr>
          <a:xfrm>
            <a:off x="2983217" y="4316345"/>
            <a:ext cx="729079" cy="400110"/>
          </a:xfrm>
          <a:prstGeom prst="rect">
            <a:avLst/>
          </a:prstGeom>
          <a:noFill/>
        </p:spPr>
        <p:txBody>
          <a:bodyPr wrap="square" rtlCol="0">
            <a:spAutoFit/>
          </a:bodyPr>
          <a:lstStyle/>
          <a:p>
            <a:pPr algn="ctr"/>
            <a:r>
              <a:rPr lang="en-GB" sz="1000" b="1">
                <a:solidFill>
                  <a:schemeClr val="tx2"/>
                </a:solidFill>
                <a:latin typeface="Open Sans" panose="020B0606030504020204" pitchFamily="34" charset="0"/>
                <a:ea typeface="Open Sans" panose="020B0606030504020204" pitchFamily="34" charset="0"/>
                <a:cs typeface="Open Sans" panose="020B0606030504020204" pitchFamily="34" charset="0"/>
              </a:rPr>
              <a:t>Payback</a:t>
            </a:r>
            <a:r>
              <a:rPr lang="en-GB" sz="70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1000" b="1">
                <a:solidFill>
                  <a:schemeClr val="tx2"/>
                </a:solidFill>
                <a:latin typeface="Open Sans" panose="020B0606030504020204" pitchFamily="34" charset="0"/>
                <a:ea typeface="Open Sans" panose="020B0606030504020204" pitchFamily="34" charset="0"/>
                <a:cs typeface="Open Sans" panose="020B0606030504020204" pitchFamily="34" charset="0"/>
              </a:rPr>
              <a:t>Period</a:t>
            </a:r>
          </a:p>
        </p:txBody>
      </p:sp>
      <p:sp>
        <p:nvSpPr>
          <p:cNvPr id="41" name="TextBox 40">
            <a:extLst>
              <a:ext uri="{FF2B5EF4-FFF2-40B4-BE49-F238E27FC236}">
                <a16:creationId xmlns:a16="http://schemas.microsoft.com/office/drawing/2014/main" id="{854C1CF3-49C6-7197-7CCD-F4A045119A8D}"/>
              </a:ext>
            </a:extLst>
          </p:cNvPr>
          <p:cNvSpPr txBox="1"/>
          <p:nvPr/>
        </p:nvSpPr>
        <p:spPr>
          <a:xfrm>
            <a:off x="1276879" y="2200685"/>
            <a:ext cx="1408328" cy="338554"/>
          </a:xfrm>
          <a:prstGeom prst="rect">
            <a:avLst/>
          </a:prstGeom>
          <a:noFill/>
        </p:spPr>
        <p:txBody>
          <a:bodyPr wrap="square" rtlCol="0">
            <a:spAutoFit/>
          </a:bodyPr>
          <a:lstStyle/>
          <a:p>
            <a:pPr algn="ct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2" name="Oval 41">
            <a:extLst>
              <a:ext uri="{FF2B5EF4-FFF2-40B4-BE49-F238E27FC236}">
                <a16:creationId xmlns:a16="http://schemas.microsoft.com/office/drawing/2014/main" id="{9A25C8F3-0395-18E2-136E-9D6BCA42D6B7}"/>
              </a:ext>
            </a:extLst>
          </p:cNvPr>
          <p:cNvSpPr/>
          <p:nvPr/>
        </p:nvSpPr>
        <p:spPr>
          <a:xfrm>
            <a:off x="3394960" y="4021748"/>
            <a:ext cx="106557" cy="106557"/>
          </a:xfrm>
          <a:prstGeom prst="ellipse">
            <a:avLst/>
          </a:prstGeom>
          <a:noFill/>
          <a:ln w="31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TextBox 42">
            <a:extLst>
              <a:ext uri="{FF2B5EF4-FFF2-40B4-BE49-F238E27FC236}">
                <a16:creationId xmlns:a16="http://schemas.microsoft.com/office/drawing/2014/main" id="{1CA5A673-91FC-2C94-7F57-6F75AF00332C}"/>
              </a:ext>
            </a:extLst>
          </p:cNvPr>
          <p:cNvSpPr txBox="1"/>
          <p:nvPr/>
        </p:nvSpPr>
        <p:spPr>
          <a:xfrm>
            <a:off x="3627573" y="4027026"/>
            <a:ext cx="1343438" cy="584775"/>
          </a:xfrm>
          <a:prstGeom prst="rect">
            <a:avLst/>
          </a:prstGeom>
          <a:noFill/>
        </p:spPr>
        <p:txBody>
          <a:bodyPr wrap="square" rtlCol="0">
            <a:spAutoFit/>
          </a:bodyPr>
          <a:lstStyle/>
          <a:p>
            <a:pPr algn="ct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months</a:t>
            </a:r>
          </a:p>
        </p:txBody>
      </p:sp>
      <p:sp>
        <p:nvSpPr>
          <p:cNvPr id="44" name="TextBox 43">
            <a:extLst>
              <a:ext uri="{FF2B5EF4-FFF2-40B4-BE49-F238E27FC236}">
                <a16:creationId xmlns:a16="http://schemas.microsoft.com/office/drawing/2014/main" id="{B51CD36F-4B90-CBDF-E4CA-2F7753CCAD0D}"/>
              </a:ext>
            </a:extLst>
          </p:cNvPr>
          <p:cNvSpPr txBox="1"/>
          <p:nvPr/>
        </p:nvSpPr>
        <p:spPr>
          <a:xfrm>
            <a:off x="1196601" y="4017274"/>
            <a:ext cx="1599526" cy="584775"/>
          </a:xfrm>
          <a:prstGeom prst="rect">
            <a:avLst/>
          </a:prstGeom>
          <a:noFill/>
        </p:spPr>
        <p:txBody>
          <a:bodyPr wrap="square" rtlCol="0">
            <a:spAutoFit/>
          </a:bodyPr>
          <a:lstStyle/>
          <a:p>
            <a:pPr algn="ct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337459" y="3192818"/>
            <a:ext cx="1278041" cy="338554"/>
          </a:xfrm>
          <a:prstGeom prst="rect">
            <a:avLst/>
          </a:prstGeom>
          <a:noFill/>
        </p:spPr>
        <p:txBody>
          <a:bodyPr wrap="square" rtlCol="0">
            <a:spAutoFit/>
          </a:bodyPr>
          <a:lstStyle/>
          <a:p>
            <a:pPr algn="ct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47" name="Graphic 46" descr="Diamond with solid fill">
            <a:extLst>
              <a:ext uri="{FF2B5EF4-FFF2-40B4-BE49-F238E27FC236}">
                <a16:creationId xmlns:a16="http://schemas.microsoft.com/office/drawing/2014/main" id="{82BCB199-5552-EC5E-904C-B1EE4616B02D}"/>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3099064" y="2033136"/>
            <a:ext cx="420646" cy="521262"/>
          </a:xfrm>
          <a:prstGeom prst="rect">
            <a:avLst/>
          </a:prstGeom>
        </p:spPr>
      </p:pic>
      <p:sp>
        <p:nvSpPr>
          <p:cNvPr id="48" name="TextBox 47">
            <a:extLst>
              <a:ext uri="{FF2B5EF4-FFF2-40B4-BE49-F238E27FC236}">
                <a16:creationId xmlns:a16="http://schemas.microsoft.com/office/drawing/2014/main" id="{B814839A-EAED-C894-FA97-CC64E40C2578}"/>
              </a:ext>
            </a:extLst>
          </p:cNvPr>
          <p:cNvSpPr txBox="1"/>
          <p:nvPr/>
        </p:nvSpPr>
        <p:spPr>
          <a:xfrm>
            <a:off x="2906368" y="2516728"/>
            <a:ext cx="840873" cy="253916"/>
          </a:xfrm>
          <a:prstGeom prst="rect">
            <a:avLst/>
          </a:prstGeom>
          <a:noFill/>
        </p:spPr>
        <p:txBody>
          <a:bodyPr wrap="square" rtlCol="0">
            <a:spAutoFit/>
          </a:bodyPr>
          <a:lstStyle/>
          <a:p>
            <a:pPr algn="ctr"/>
            <a:r>
              <a:rPr lang="en-GB" sz="1050" b="1">
                <a:solidFill>
                  <a:schemeClr val="tx2"/>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49" name="TextBox 48">
            <a:extLst>
              <a:ext uri="{FF2B5EF4-FFF2-40B4-BE49-F238E27FC236}">
                <a16:creationId xmlns:a16="http://schemas.microsoft.com/office/drawing/2014/main" id="{059F857E-0C32-6C1E-C411-71299828D62F}"/>
              </a:ext>
            </a:extLst>
          </p:cNvPr>
          <p:cNvSpPr txBox="1"/>
          <p:nvPr/>
        </p:nvSpPr>
        <p:spPr>
          <a:xfrm>
            <a:off x="3473431" y="3184326"/>
            <a:ext cx="1278041" cy="338554"/>
          </a:xfrm>
          <a:prstGeom prst="rect">
            <a:avLst/>
          </a:prstGeom>
          <a:noFill/>
        </p:spPr>
        <p:txBody>
          <a:bodyPr wrap="square" rtlCol="0">
            <a:spAutoFit/>
          </a:bodyPr>
          <a:lstStyle/>
          <a:p>
            <a:pPr algn="ct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0" name="TextBox 49">
            <a:extLst>
              <a:ext uri="{FF2B5EF4-FFF2-40B4-BE49-F238E27FC236}">
                <a16:creationId xmlns:a16="http://schemas.microsoft.com/office/drawing/2014/main" id="{8B567199-AC9B-6222-FCBC-A6DFAA7E81F7}"/>
              </a:ext>
            </a:extLst>
          </p:cNvPr>
          <p:cNvSpPr txBox="1"/>
          <p:nvPr/>
        </p:nvSpPr>
        <p:spPr>
          <a:xfrm>
            <a:off x="3019644" y="3171616"/>
            <a:ext cx="680598" cy="369332"/>
          </a:xfrm>
          <a:prstGeom prst="rect">
            <a:avLst/>
          </a:prstGeom>
          <a:noFill/>
        </p:spPr>
        <p:txBody>
          <a:bodyPr wrap="square" rtlCol="0">
            <a:spAutoFit/>
          </a:bodyPr>
          <a:lstStyle/>
          <a:p>
            <a:r>
              <a:rPr lang="en-GB" b="1">
                <a:solidFill>
                  <a:srgbClr val="FF6600"/>
                </a:solidFill>
                <a:latin typeface="Open Sans" panose="020B0606030504020204" pitchFamily="34" charset="0"/>
                <a:ea typeface="Open Sans" panose="020B0606030504020204" pitchFamily="34" charset="0"/>
                <a:cs typeface="Open Sans" panose="020B0606030504020204" pitchFamily="34" charset="0"/>
              </a:rPr>
              <a:t>ROI</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00242" y="2204508"/>
            <a:ext cx="1626223" cy="338554"/>
          </a:xfrm>
          <a:prstGeom prst="rect">
            <a:avLst/>
          </a:prstGeom>
          <a:noFill/>
        </p:spPr>
        <p:txBody>
          <a:bodyPr wrap="square">
            <a:spAutoFit/>
          </a:bodyPr>
          <a:lstStyle/>
          <a:p>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t>
            </a:r>
            <a:r>
              <a:rPr lang="tr-TR" sz="1600" i="0" u="none" strike="noStrike" dirty="0" err="1">
                <a:solidFill>
                  <a:schemeClr val="bg1"/>
                </a:solidFill>
                <a:effectLst/>
                <a:latin typeface="Open Sans" panose="020B0606030504020204" pitchFamily="34" charset="0"/>
                <a:ea typeface="Open Sans" panose="020B0606030504020204" pitchFamily="34" charset="0"/>
                <a:cs typeface="Open Sans" panose="020B0606030504020204" pitchFamily="34" charset="0"/>
              </a:rPr>
              <a:t>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pic>
        <p:nvPicPr>
          <p:cNvPr id="52" name="Graphic 51" descr="Bank with solid fill">
            <a:extLst>
              <a:ext uri="{FF2B5EF4-FFF2-40B4-BE49-F238E27FC236}">
                <a16:creationId xmlns:a16="http://schemas.microsoft.com/office/drawing/2014/main" id="{2CA66873-6558-5189-CF21-85CA2C0FFA0B}"/>
              </a:ext>
            </a:extLst>
          </p:cNvPr>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723088" y="3943217"/>
            <a:ext cx="486669" cy="486669"/>
          </a:xfrm>
          <a:prstGeom prst="rect">
            <a:avLst/>
          </a:prstGeom>
        </p:spPr>
      </p:pic>
      <p:sp>
        <p:nvSpPr>
          <p:cNvPr id="53" name="TextBox 52">
            <a:extLst>
              <a:ext uri="{FF2B5EF4-FFF2-40B4-BE49-F238E27FC236}">
                <a16:creationId xmlns:a16="http://schemas.microsoft.com/office/drawing/2014/main" id="{7464C18C-8143-AB54-955A-A0DE0ACF69AD}"/>
              </a:ext>
            </a:extLst>
          </p:cNvPr>
          <p:cNvSpPr txBox="1"/>
          <p:nvPr/>
        </p:nvSpPr>
        <p:spPr>
          <a:xfrm>
            <a:off x="650833" y="791325"/>
            <a:ext cx="24062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5" name="Title 2">
            <a:extLst>
              <a:ext uri="{FF2B5EF4-FFF2-40B4-BE49-F238E27FC236}">
                <a16:creationId xmlns:a16="http://schemas.microsoft.com/office/drawing/2014/main" id="{95231DC7-13F4-B2E9-19F8-431DECEA63CF}"/>
              </a:ext>
            </a:extLst>
          </p:cNvPr>
          <p:cNvSpPr txBox="1">
            <a:spLocks/>
          </p:cNvSpPr>
          <p:nvPr/>
        </p:nvSpPr>
        <p:spPr>
          <a:xfrm>
            <a:off x="742951" y="7067325"/>
            <a:ext cx="10801349" cy="276999"/>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GB">
                <a:latin typeface="Montserrat SemiBold"/>
              </a:rPr>
              <a:t>STANDARD SLIDE: NO COPY REQUIRED</a:t>
            </a:r>
            <a:endParaRPr lang="en-GB"/>
          </a:p>
        </p:txBody>
      </p:sp>
    </p:spTree>
    <p:extLst>
      <p:ext uri="{BB962C8B-B14F-4D97-AF65-F5344CB8AC3E}">
        <p14:creationId xmlns:p14="http://schemas.microsoft.com/office/powerpoint/2010/main" val="23658039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lstStyle/>
          <a:p>
            <a:r>
              <a:rPr lang="en-GB" dirty="0"/>
              <a:t>VARIABLE ESTIMATIONS</a:t>
            </a:r>
            <a:endParaRPr lang="en-US" dirty="0"/>
          </a:p>
        </p:txBody>
      </p:sp>
      <p:graphicFrame>
        <p:nvGraphicFramePr>
          <p:cNvPr id="10" name="Chart 9">
            <a:extLst>
              <a:ext uri="{FF2B5EF4-FFF2-40B4-BE49-F238E27FC236}">
                <a16:creationId xmlns:a16="http://schemas.microsoft.com/office/drawing/2014/main" id="{81145D9C-FCD0-4238-9B47-4E8099566B41}"/>
              </a:ext>
            </a:extLst>
          </p:cNvPr>
          <p:cNvGraphicFramePr>
            <a:graphicFrameLocks/>
          </p:cNvGraphicFramePr>
          <p:nvPr>
            <p:extLst>
              <p:ext uri="{D42A27DB-BD31-4B8C-83A1-F6EECF244321}">
                <p14:modId xmlns:p14="http://schemas.microsoft.com/office/powerpoint/2010/main" val="3040983758"/>
              </p:ext>
            </p:extLst>
          </p:nvPr>
        </p:nvGraphicFramePr>
        <p:xfrm>
          <a:off x="5854288" y="963730"/>
          <a:ext cx="9597632" cy="5465869"/>
        </p:xfrm>
        <a:graphic>
          <a:graphicData uri="http://schemas.openxmlformats.org/drawingml/2006/chart">
            <c:chart xmlns:c="http://schemas.openxmlformats.org/drawingml/2006/chart" xmlns:r="http://schemas.openxmlformats.org/officeDocument/2006/relationships" r:id="rId2"/>
          </a:graphicData>
        </a:graphic>
      </p:graphicFrame>
      <p:sp>
        <p:nvSpPr>
          <p:cNvPr id="11" name="Text Placeholder 3">
            <a:extLst>
              <a:ext uri="{FF2B5EF4-FFF2-40B4-BE49-F238E27FC236}">
                <a16:creationId xmlns:a16="http://schemas.microsoft.com/office/drawing/2014/main" id="{E11A7449-0F94-58D4-D1A8-AABE95370FFD}"/>
              </a:ext>
            </a:extLst>
          </p:cNvPr>
          <p:cNvSpPr>
            <a:spLocks noGrp="1"/>
          </p:cNvSpPr>
          <p:nvPr>
            <p:ph type="body" sz="quarter" idx="14"/>
          </p:nvPr>
        </p:nvSpPr>
        <p:spPr>
          <a:xfrm>
            <a:off x="596184" y="1582925"/>
            <a:ext cx="4638088" cy="3361386"/>
          </a:xfrm>
        </p:spPr>
        <p:txBody>
          <a:bodyPr vert="horz" lIns="0" tIns="0" rIns="0" bIns="0" rtlCol="0" anchor="t">
            <a:noAutofit/>
          </a:bodyPr>
          <a:lstStyle/>
          <a:p>
            <a:pPr marL="90170" indent="0">
              <a:spcAft>
                <a:spcPts val="800"/>
              </a:spcAft>
              <a:buNone/>
            </a:pPr>
            <a:r>
              <a:rPr lang="en-GB" sz="900" b="1" dirty="0">
                <a:solidFill>
                  <a:srgbClr val="FF6600"/>
                </a:solidFill>
                <a:latin typeface="Open Sans"/>
                <a:ea typeface="Open Sans"/>
                <a:cs typeface="Open Sans"/>
              </a:rPr>
              <a:t>Top Pain points</a:t>
            </a:r>
          </a:p>
          <a:p>
            <a:pPr marL="90170" indent="0">
              <a:spcAft>
                <a:spcPts val="800"/>
              </a:spcAft>
              <a:buNone/>
            </a:pPr>
            <a:r>
              <a:rPr lang="en-GB" sz="900" b="1" dirty="0">
                <a:solidFill>
                  <a:srgbClr val="FF6600"/>
                </a:solidFill>
                <a:effectLst/>
                <a:latin typeface="Open Sans"/>
                <a:ea typeface="Open Sans"/>
                <a:cs typeface="Open Sans"/>
              </a:rPr>
              <a:t>The top pain points you listed included:</a:t>
            </a:r>
            <a:r>
              <a:rPr lang="en-GB" sz="900" dirty="0">
                <a:solidFill>
                  <a:srgbClr val="FF6600"/>
                </a:solidFill>
                <a:effectLst/>
                <a:latin typeface="Open Sans"/>
                <a:ea typeface="Open Sans"/>
                <a:cs typeface="Open Sans"/>
              </a:rPr>
              <a:t> [Please could we list these in order of the efficiency]</a:t>
            </a:r>
          </a:p>
          <a:p>
            <a:pPr marL="90170" indent="0">
              <a:spcAft>
                <a:spcPts val="800"/>
              </a:spcAft>
              <a:buNone/>
            </a:pPr>
            <a:r>
              <a:rPr lang="en-GB" sz="900" dirty="0">
                <a:solidFill>
                  <a:schemeClr val="tx1">
                    <a:lumMod val="50000"/>
                    <a:lumOff val="50000"/>
                  </a:schemeClr>
                </a:solidFill>
                <a:effectLst/>
                <a:latin typeface="Open Sans"/>
                <a:ea typeface="Open Sans"/>
                <a:cs typeface="Open Sans"/>
              </a:rPr>
              <a:t>Raising Purchase Orders: We anticipate a 30% efficiency </a:t>
            </a:r>
          </a:p>
          <a:p>
            <a:pPr marL="90170" indent="0">
              <a:spcAft>
                <a:spcPts val="800"/>
              </a:spcAft>
              <a:buNone/>
            </a:pPr>
            <a:r>
              <a:rPr lang="en-GB" sz="900" dirty="0">
                <a:solidFill>
                  <a:schemeClr val="tx1">
                    <a:lumMod val="50000"/>
                    <a:lumOff val="50000"/>
                  </a:schemeClr>
                </a:solidFill>
                <a:latin typeface="Open Sans"/>
                <a:ea typeface="Open Sans"/>
                <a:cs typeface="Open Sans"/>
              </a:rPr>
              <a:t>Purchase Order Approvals: </a:t>
            </a:r>
            <a:r>
              <a:rPr lang="en-GB" sz="900" dirty="0">
                <a:solidFill>
                  <a:schemeClr val="tx1">
                    <a:lumMod val="50000"/>
                    <a:lumOff val="50000"/>
                  </a:schemeClr>
                </a:solidFill>
                <a:effectLst/>
                <a:latin typeface="Open Sans"/>
                <a:ea typeface="Open Sans"/>
                <a:cs typeface="Open Sans"/>
              </a:rPr>
              <a:t>We anticipate a 30% efficiency </a:t>
            </a:r>
            <a:endParaRPr lang="en-GB" sz="900" dirty="0">
              <a:solidFill>
                <a:schemeClr val="tx1">
                  <a:lumMod val="50000"/>
                  <a:lumOff val="50000"/>
                </a:schemeClr>
              </a:solidFill>
              <a:latin typeface="Open Sans"/>
              <a:ea typeface="Open Sans"/>
              <a:cs typeface="Open Sans"/>
            </a:endParaRPr>
          </a:p>
          <a:p>
            <a:pPr marL="90170" indent="0">
              <a:spcAft>
                <a:spcPts val="800"/>
              </a:spcAft>
              <a:buNone/>
            </a:pPr>
            <a:r>
              <a:rPr lang="en-GB" sz="900" dirty="0">
                <a:solidFill>
                  <a:schemeClr val="tx1">
                    <a:lumMod val="50000"/>
                    <a:lumOff val="50000"/>
                  </a:schemeClr>
                </a:solidFill>
                <a:effectLst/>
                <a:latin typeface="Open Sans"/>
                <a:ea typeface="Open Sans"/>
                <a:cs typeface="Open Sans"/>
              </a:rPr>
              <a:t>Coding invoice processes: We anticipate a 30% efficiency </a:t>
            </a:r>
            <a:endParaRPr lang="en-GB" sz="900" dirty="0">
              <a:solidFill>
                <a:schemeClr val="tx1">
                  <a:lumMod val="50000"/>
                  <a:lumOff val="50000"/>
                </a:schemeClr>
              </a:solidFill>
              <a:latin typeface="Open Sans"/>
              <a:ea typeface="Open Sans"/>
              <a:cs typeface="Open Sans"/>
            </a:endParaRPr>
          </a:p>
          <a:p>
            <a:pPr marL="90170" indent="0">
              <a:spcAft>
                <a:spcPts val="800"/>
              </a:spcAft>
              <a:buNone/>
            </a:pPr>
            <a:r>
              <a:rPr lang="en-GB" sz="900" dirty="0">
                <a:solidFill>
                  <a:schemeClr val="tx1">
                    <a:lumMod val="50000"/>
                    <a:lumOff val="50000"/>
                  </a:schemeClr>
                </a:solidFill>
                <a:latin typeface="Open Sans"/>
                <a:ea typeface="Open Sans"/>
                <a:cs typeface="Open Sans"/>
              </a:rPr>
              <a:t>Management of supplier and purchase invoices: </a:t>
            </a:r>
            <a:r>
              <a:rPr lang="en-GB" sz="900" dirty="0">
                <a:solidFill>
                  <a:schemeClr val="tx1">
                    <a:lumMod val="50000"/>
                    <a:lumOff val="50000"/>
                  </a:schemeClr>
                </a:solidFill>
                <a:effectLst/>
                <a:latin typeface="Open Sans"/>
                <a:ea typeface="Open Sans"/>
                <a:cs typeface="Open Sans"/>
              </a:rPr>
              <a:t>We anticipate a 30% efficiency </a:t>
            </a:r>
            <a:endParaRPr lang="en-GB" sz="900" dirty="0">
              <a:solidFill>
                <a:schemeClr val="tx1">
                  <a:lumMod val="50000"/>
                  <a:lumOff val="50000"/>
                </a:schemeClr>
              </a:solidFill>
              <a:latin typeface="Open Sans"/>
              <a:ea typeface="Open Sans"/>
              <a:cs typeface="Open Sans"/>
            </a:endParaRPr>
          </a:p>
          <a:p>
            <a:pPr marL="90170" indent="0">
              <a:spcAft>
                <a:spcPts val="800"/>
              </a:spcAft>
              <a:buNone/>
            </a:pPr>
            <a:r>
              <a:rPr lang="en-GB" sz="900" dirty="0">
                <a:solidFill>
                  <a:schemeClr val="tx1">
                    <a:lumMod val="50000"/>
                    <a:lumOff val="50000"/>
                  </a:schemeClr>
                </a:solidFill>
                <a:effectLst/>
                <a:latin typeface="Open Sans"/>
                <a:ea typeface="Open Sans"/>
                <a:cs typeface="Open Sans"/>
              </a:rPr>
              <a:t>Managing spend leakage: We anticipate a 30% efficiency </a:t>
            </a:r>
          </a:p>
          <a:p>
            <a:pPr marL="90170" indent="0">
              <a:spcAft>
                <a:spcPts val="800"/>
              </a:spcAft>
              <a:buNone/>
            </a:pPr>
            <a:r>
              <a:rPr lang="en-GB" sz="900" dirty="0">
                <a:solidFill>
                  <a:schemeClr val="tx1">
                    <a:lumMod val="50000"/>
                    <a:lumOff val="50000"/>
                  </a:schemeClr>
                </a:solidFill>
                <a:latin typeface="Open Sans"/>
                <a:ea typeface="Open Sans"/>
                <a:cs typeface="Open Sans"/>
              </a:rPr>
              <a:t>Finance query management &amp; reporting: </a:t>
            </a:r>
            <a:r>
              <a:rPr lang="en-GB" sz="900" dirty="0">
                <a:solidFill>
                  <a:schemeClr val="tx1">
                    <a:lumMod val="50000"/>
                    <a:lumOff val="50000"/>
                  </a:schemeClr>
                </a:solidFill>
                <a:effectLst/>
                <a:latin typeface="Open Sans"/>
                <a:ea typeface="Open Sans"/>
                <a:cs typeface="Open Sans"/>
              </a:rPr>
              <a:t>We anticipate a 30% efficiency </a:t>
            </a:r>
            <a:endParaRPr lang="en-GB" sz="900" dirty="0">
              <a:solidFill>
                <a:schemeClr val="tx1">
                  <a:lumMod val="50000"/>
                  <a:lumOff val="50000"/>
                </a:schemeClr>
              </a:solidFill>
              <a:latin typeface="Open Sans"/>
              <a:ea typeface="Open Sans"/>
              <a:cs typeface="Open Sans"/>
            </a:endParaRPr>
          </a:p>
          <a:p>
            <a:pPr marL="90170" indent="0">
              <a:spcAft>
                <a:spcPts val="800"/>
              </a:spcAft>
              <a:buNone/>
            </a:pPr>
            <a:endParaRPr lang="en-GB" sz="900" dirty="0">
              <a:solidFill>
                <a:schemeClr val="tx1">
                  <a:lumMod val="50000"/>
                  <a:lumOff val="50000"/>
                </a:schemeClr>
              </a:solidFill>
              <a:effectLst/>
              <a:latin typeface="Open Sans"/>
              <a:ea typeface="Open Sans"/>
              <a:cs typeface="Open Sans"/>
            </a:endParaRPr>
          </a:p>
        </p:txBody>
      </p:sp>
    </p:spTree>
    <p:extLst>
      <p:ext uri="{BB962C8B-B14F-4D97-AF65-F5344CB8AC3E}">
        <p14:creationId xmlns:p14="http://schemas.microsoft.com/office/powerpoint/2010/main" val="20082175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lstStyle/>
          <a:p>
            <a:r>
              <a:rPr lang="en-GB" dirty="0"/>
              <a:t>VARIABLE ESTIMATIONS</a:t>
            </a:r>
            <a:endParaRPr lang="en-US" dirty="0"/>
          </a:p>
        </p:txBody>
      </p:sp>
      <p:sp>
        <p:nvSpPr>
          <p:cNvPr id="4" name="Text Placeholder 3">
            <a:extLst>
              <a:ext uri="{FF2B5EF4-FFF2-40B4-BE49-F238E27FC236}">
                <a16:creationId xmlns:a16="http://schemas.microsoft.com/office/drawing/2014/main" id="{77D034D3-826E-71EB-8E21-FFDB47E1C1EE}"/>
              </a:ext>
            </a:extLst>
          </p:cNvPr>
          <p:cNvSpPr>
            <a:spLocks noGrp="1"/>
          </p:cNvSpPr>
          <p:nvPr>
            <p:ph type="body" sz="quarter" idx="14"/>
          </p:nvPr>
        </p:nvSpPr>
        <p:spPr>
          <a:xfrm>
            <a:off x="6017270" y="1717608"/>
            <a:ext cx="4638088" cy="3361386"/>
          </a:xfrm>
        </p:spPr>
        <p:txBody>
          <a:bodyPr vert="horz" lIns="0" tIns="0" rIns="0" bIns="0" rtlCol="0" anchor="t">
            <a:noAutofit/>
          </a:bodyPr>
          <a:lstStyle/>
          <a:p>
            <a:pPr marL="341630" indent="-251460">
              <a:spcAft>
                <a:spcPts val="800"/>
              </a:spcAft>
            </a:pPr>
            <a:r>
              <a:rPr lang="en-GB" sz="900" b="1" dirty="0">
                <a:solidFill>
                  <a:srgbClr val="FF6600"/>
                </a:solidFill>
                <a:effectLst/>
                <a:latin typeface="Open Sans"/>
                <a:ea typeface="Open Sans"/>
                <a:cs typeface="Open Sans"/>
              </a:rPr>
              <a:t>Payback Period: </a:t>
            </a:r>
            <a:r>
              <a:rPr lang="en-GB" sz="900" dirty="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900" b="1" dirty="0">
                <a:solidFill>
                  <a:srgbClr val="FF6600"/>
                </a:solidFill>
                <a:effectLst/>
                <a:latin typeface="Open Sans"/>
                <a:ea typeface="Open Sans"/>
                <a:cs typeface="Open Sans"/>
              </a:rPr>
              <a:t>Net Present Value (NPV): </a:t>
            </a:r>
            <a:r>
              <a:rPr lang="en-GB" sz="900" dirty="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900" b="1" dirty="0">
                <a:solidFill>
                  <a:srgbClr val="FF6600"/>
                </a:solidFill>
                <a:effectLst/>
                <a:latin typeface="Open Sans"/>
                <a:ea typeface="Open Sans"/>
                <a:cs typeface="Open Sans"/>
              </a:rPr>
              <a:t>Return on Investment (ROI): </a:t>
            </a:r>
            <a:r>
              <a:rPr lang="en-GB" sz="900" dirty="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900" b="1" dirty="0">
                <a:solidFill>
                  <a:srgbClr val="FF6600"/>
                </a:solidFill>
                <a:effectLst/>
                <a:latin typeface="Open Sans"/>
                <a:ea typeface="Open Sans"/>
                <a:cs typeface="Open Sans"/>
              </a:rPr>
              <a:t>Adoption rate: </a:t>
            </a:r>
            <a:r>
              <a:rPr lang="en-GB" sz="900" dirty="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These ratios can be amended in the Sales Pricing Configurator.</a:t>
            </a:r>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8832" y="1715549"/>
            <a:ext cx="4638088" cy="3898760"/>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Some key phrases we have illustrated in this proposal are detailed for </a:t>
            </a:r>
            <a:br>
              <a:rPr lang="en-GB" sz="2800" b="1" dirty="0">
                <a:solidFill>
                  <a:srgbClr val="FF6600"/>
                </a:solidFill>
                <a:latin typeface="Open Sans"/>
                <a:ea typeface="Open Sans"/>
                <a:cs typeface="Open Sans"/>
              </a:rPr>
            </a:br>
            <a:r>
              <a:rPr lang="en-GB" sz="2800" b="1" dirty="0">
                <a:solidFill>
                  <a:srgbClr val="FF6600"/>
                </a:solidFill>
                <a:latin typeface="Open Sans"/>
                <a:ea typeface="Open Sans"/>
                <a:cs typeface="Open Sans"/>
              </a:rPr>
              <a:t>information</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17354" y="4189491"/>
            <a:ext cx="4638088" cy="784830"/>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Disclaimer </a:t>
            </a:r>
            <a:r>
              <a:rPr lang="en-GB" sz="900" dirty="0">
                <a:latin typeface="Open Sans"/>
                <a:ea typeface="Open Sans"/>
                <a:cs typeface="Open Sans"/>
              </a:rPr>
              <a:t>We hope these estimations can assist in purchasing decisions and surface value prospects could see. Advanced assumes no responsibility or liability for any errors in the provisions of these estimations. Details listed are provided in good faith, as a guide only, on an "as is" basis with no guarantees of completeness or success. </a:t>
            </a:r>
            <a:endParaRPr lang="en-GB" sz="900" dirty="0"/>
          </a:p>
        </p:txBody>
      </p:sp>
    </p:spTree>
    <p:extLst>
      <p:ext uri="{BB962C8B-B14F-4D97-AF65-F5344CB8AC3E}">
        <p14:creationId xmlns:p14="http://schemas.microsoft.com/office/powerpoint/2010/main" val="40707801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049836168"/>
      </p:ext>
    </p:extLst>
  </p:cSld>
  <p:clrMapOvr>
    <a:masterClrMapping/>
  </p:clrMapOvr>
</p:sld>
</file>

<file path=ppt/theme/theme1.xml><?xml version="1.0" encoding="utf-8"?>
<a:theme xmlns:a="http://schemas.openxmlformats.org/drawingml/2006/main" name="Advanced 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2.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3.xml><?xml version="1.0" encoding="utf-8"?>
<ds:datastoreItem xmlns:ds="http://schemas.openxmlformats.org/officeDocument/2006/customXml" ds:itemID="{E8B078B6-6DFE-46A1-A0D6-D8F6958086B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OneAdvanced-Powerpoint-Template (1)</Template>
  <TotalTime>2160</TotalTime>
  <Words>730</Words>
  <Application>Microsoft Office PowerPoint</Application>
  <PresentationFormat>Geniş ekran</PresentationFormat>
  <Paragraphs>133</Paragraphs>
  <Slides>7</Slides>
  <Notes>2</Notes>
  <HiddenSlides>0</HiddenSlides>
  <MMClips>0</MMClips>
  <ScaleCrop>false</ScaleCrop>
  <HeadingPairs>
    <vt:vector size="6" baseType="variant">
      <vt:variant>
        <vt:lpstr>Kullanılan Yazı Tipleri</vt:lpstr>
      </vt:variant>
      <vt:variant>
        <vt:i4>7</vt:i4>
      </vt:variant>
      <vt:variant>
        <vt:lpstr>Tema</vt:lpstr>
      </vt:variant>
      <vt:variant>
        <vt:i4>1</vt:i4>
      </vt:variant>
      <vt:variant>
        <vt:lpstr>Slayt Başlıkları</vt:lpstr>
      </vt:variant>
      <vt:variant>
        <vt:i4>7</vt:i4>
      </vt:variant>
    </vt:vector>
  </HeadingPairs>
  <TitlesOfParts>
    <vt:vector size="15" baseType="lpstr">
      <vt:lpstr>Arial</vt:lpstr>
      <vt:lpstr>Calibri</vt:lpstr>
      <vt:lpstr>Montserrat</vt:lpstr>
      <vt:lpstr>Montserrat Medium</vt:lpstr>
      <vt:lpstr>Montserrat SemiBold</vt:lpstr>
      <vt:lpstr>Open Sans</vt:lpstr>
      <vt:lpstr>Wingdings</vt:lpstr>
      <vt:lpstr>Advanced Theme</vt:lpstr>
      <vt:lpstr>Client Name:valclient Value Business Case</vt:lpstr>
      <vt:lpstr>DOING NOTHING IS NOT AN OPTION</vt:lpstr>
      <vt:lpstr>DOING NOTHING IS NOT AN OPTION</vt:lpstr>
      <vt:lpstr>OUR VALUE OFFERING </vt:lpstr>
      <vt:lpstr>VARIABLE ESTIMATIONS</vt:lpstr>
      <vt:lpstr>VARIABLE ESTIMATIONS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10</cp:revision>
  <dcterms:created xsi:type="dcterms:W3CDTF">2024-07-05T15:05:35Z</dcterms:created>
  <dcterms:modified xsi:type="dcterms:W3CDTF">2024-09-21T13:09:28Z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