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89" r:id="rId5"/>
    <p:sldId id="457" r:id="rId6"/>
    <p:sldId id="458" r:id="rId7"/>
    <p:sldId id="463" r:id="rId8"/>
    <p:sldId id="465" r:id="rId9"/>
    <p:sldId id="466" r:id="rId10"/>
    <p:sldId id="449" r:id="rId11"/>
    <p:sldId id="461" r:id="rId12"/>
    <p:sldId id="27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9ADB"/>
    <a:srgbClr val="40404C"/>
    <a:srgbClr val="FCB415"/>
    <a:srgbClr val="1078CF"/>
    <a:srgbClr val="616173"/>
    <a:srgbClr val="F37721"/>
    <a:srgbClr val="2D4FB2"/>
    <a:srgbClr val="F6911E"/>
    <a:srgbClr val="F15D23"/>
    <a:srgbClr val="FF5A1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3E05C6-C6CD-4794-B248-9AAA64DBED33}" v="17" dt="2024-09-19T08:41:34.9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404" autoAdjust="0"/>
  </p:normalViewPr>
  <p:slideViewPr>
    <p:cSldViewPr snapToGrid="0">
      <p:cViewPr>
        <p:scale>
          <a:sx n="100" d="100"/>
          <a:sy n="100" d="100"/>
        </p:scale>
        <p:origin x="-86" y="-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.sharepoint.com/sites/Value-Creation/Shared%20Documents/Financials/Value%20Calculator_Financials%20LIVE%20v9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-my.sharepoint.com/personal/angela_dcruz_oneadvanced_com/Documents/Angela's%20Stuff/Value%20Creation/Products/Clear%20Review/ROI%20Pack/FINALS/LIVE%20Clear%20Review%20Value%20Proposition%20Calculator%20v7.xlsm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1689408780942777E-3"/>
          <c:y val="2.5380776597463277E-2"/>
          <c:w val="0.97918232058845212"/>
          <c:h val="0.96671180011294944"/>
        </c:manualLayout>
      </c:layout>
      <c:doughnut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37C-4CDA-8E9F-829A8DFC67F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37C-4CDA-8E9F-829A8DFC67F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37C-4CDA-8E9F-829A8DFC67F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37C-4CDA-8E9F-829A8DFC67F4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37C-4CDA-8E9F-829A8DFC67F4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037C-4CDA-8E9F-829A8DFC67F4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037C-4CDA-8E9F-829A8DFC67F4}"/>
              </c:ext>
            </c:extLst>
          </c:dPt>
          <c:dPt>
            <c:idx val="7"/>
            <c:bubble3D val="0"/>
            <c:spPr>
              <a:solidFill>
                <a:schemeClr val="accent6">
                  <a:lumMod val="25000"/>
                  <a:lumOff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037C-4CDA-8E9F-829A8DFC67F4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037C-4CDA-8E9F-829A8DFC67F4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037C-4CDA-8E9F-829A8DFC67F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2"/>
                    </a:solidFill>
                    <a:latin typeface="+mn-lt"/>
                    <a:ea typeface="+mn-ea"/>
                    <a:cs typeface="+mn-cs"/>
                  </a:defRPr>
                </a:pPr>
                <a:endParaRPr lang="tr-T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'[Value Calculator_Financials LIVE v9.xlsm]Value Analysis'!$C$46:$C$54</c:f>
              <c:strCache>
                <c:ptCount val="9"/>
                <c:pt idx="0">
                  <c:v>Raising Purchase Orders</c:v>
                </c:pt>
                <c:pt idx="1">
                  <c:v>Purchase Order approvals</c:v>
                </c:pt>
                <c:pt idx="2">
                  <c:v>Coding invoice processes</c:v>
                </c:pt>
                <c:pt idx="3">
                  <c:v>Management of supplier and purchase invoices</c:v>
                </c:pt>
                <c:pt idx="4">
                  <c:v>Managing Spend leakage </c:v>
                </c:pt>
                <c:pt idx="5">
                  <c:v>Finance query management &amp; reporting</c:v>
                </c:pt>
                <c:pt idx="6">
                  <c:v>Debt collection administration processes</c:v>
                </c:pt>
                <c:pt idx="7">
                  <c:v>Customer Invoicing &amp; Finance Workflow</c:v>
                </c:pt>
                <c:pt idx="8">
                  <c:v>Online expense management</c:v>
                </c:pt>
              </c:strCache>
            </c:strRef>
          </c:cat>
          <c:val>
            <c:numRef>
              <c:f>'[Value Calculator_Financials LIVE v9.xlsm]Value Analysis'!$L$45:$L$54</c:f>
              <c:numCache>
                <c:formatCode>"£"#,##0</c:formatCode>
                <c:ptCount val="10"/>
                <c:pt idx="0">
                  <c:v>58750</c:v>
                </c:pt>
                <c:pt idx="1">
                  <c:v>1023555.5555555555</c:v>
                </c:pt>
                <c:pt idx="2">
                  <c:v>767666.66666666663</c:v>
                </c:pt>
                <c:pt idx="3">
                  <c:v>266550.92592592596</c:v>
                </c:pt>
                <c:pt idx="4">
                  <c:v>246293.05555555553</c:v>
                </c:pt>
                <c:pt idx="5">
                  <c:v>16156.25</c:v>
                </c:pt>
                <c:pt idx="6">
                  <c:v>226205.77777777778</c:v>
                </c:pt>
                <c:pt idx="7">
                  <c:v>189153.06666666668</c:v>
                </c:pt>
                <c:pt idx="8">
                  <c:v>13306.222222222221</c:v>
                </c:pt>
                <c:pt idx="9">
                  <c:v>388219.99999999988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37C-4CDA-8E9F-829A8DFC67F4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42140890092332E-2"/>
          <c:y val="3.108893616642484E-2"/>
          <c:w val="0.92859981406902237"/>
          <c:h val="0.85615280534809812"/>
        </c:manualLayout>
      </c:layout>
      <c:barChart>
        <c:barDir val="col"/>
        <c:grouping val="clustered"/>
        <c:varyColors val="0"/>
        <c:ser>
          <c:idx val="0"/>
          <c:order val="0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83F9-4BC0-8CB9-9896CA7D3B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83F9-4BC0-8CB9-9896CA7D3B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83F9-4BC0-8CB9-9896CA7D3BE8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83F9-4BC0-8CB9-9896CA7D3BE8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83F9-4BC0-8CB9-9896CA7D3BE8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83F9-4BC0-8CB9-9896CA7D3BE8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83F9-4BC0-8CB9-9896CA7D3BE8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83F9-4BC0-8CB9-9896CA7D3BE8}"/>
              </c:ext>
            </c:extLst>
          </c:dPt>
          <c:dPt>
            <c:idx val="1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83F9-4BC0-8CB9-9896CA7D3BE8}"/>
              </c:ext>
            </c:extLst>
          </c:dPt>
          <c:dPt>
            <c:idx val="13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83F9-4BC0-8CB9-9896CA7D3BE8}"/>
              </c:ext>
            </c:extLst>
          </c:dPt>
          <c:cat>
            <c:multiLvlStrRef>
              <c:f>'Value Proposition Analysis'!$B$25:$F$38</c:f>
              <c:multiLvlStrCache>
                <c:ptCount val="14"/>
                <c:lvl>
                  <c:pt idx="0">
                    <c:v>£</c:v>
                  </c:pt>
                  <c:pt idx="1">
                    <c:v>£</c:v>
                  </c:pt>
                  <c:pt idx="3">
                    <c:v>£</c:v>
                  </c:pt>
                  <c:pt idx="4">
                    <c:v>£</c:v>
                  </c:pt>
                  <c:pt idx="6">
                    <c:v>£</c:v>
                  </c:pt>
                  <c:pt idx="7">
                    <c:v>£</c:v>
                  </c:pt>
                  <c:pt idx="9">
                    <c:v>£</c:v>
                  </c:pt>
                  <c:pt idx="10">
                    <c:v>£</c:v>
                  </c:pt>
                  <c:pt idx="12">
                    <c:v>£</c:v>
                  </c:pt>
                  <c:pt idx="13">
                    <c:v>£</c:v>
                  </c:pt>
                </c:lvl>
                <c:lvl>
                  <c:pt idx="0">
                    <c:v> 1 Year Investment </c:v>
                  </c:pt>
                  <c:pt idx="1">
                    <c:v> 1 Year Return </c:v>
                  </c:pt>
                  <c:pt idx="3">
                    <c:v> 2 Year Investment </c:v>
                  </c:pt>
                  <c:pt idx="4">
                    <c:v> 2 Year Return </c:v>
                  </c:pt>
                  <c:pt idx="6">
                    <c:v> 3 Year Investment </c:v>
                  </c:pt>
                  <c:pt idx="7">
                    <c:v> 3 Year Return </c:v>
                  </c:pt>
                  <c:pt idx="9">
                    <c:v> 4 Year Investment </c:v>
                  </c:pt>
                  <c:pt idx="10">
                    <c:v> 4 Year Return </c:v>
                  </c:pt>
                  <c:pt idx="12">
                    <c:v> 5 Year Investment </c:v>
                  </c:pt>
                  <c:pt idx="13">
                    <c:v> 5 Year Return </c:v>
                  </c:pt>
                </c:lvl>
              </c:multiLvlStrCache>
            </c:multiLvlStrRef>
          </c:cat>
          <c:val>
            <c:numRef>
              <c:f>'Value Proposition Analysis'!$G$25:$G$38</c:f>
              <c:numCache>
                <c:formatCode>_(* #,##0_);_(* \(#,##0\);_(* "-"??_);_(@_)</c:formatCode>
                <c:ptCount val="14"/>
                <c:pt idx="0">
                  <c:v>33000</c:v>
                </c:pt>
                <c:pt idx="1">
                  <c:v>66430.547826086971</c:v>
                </c:pt>
                <c:pt idx="3">
                  <c:v>29400</c:v>
                </c:pt>
                <c:pt idx="4">
                  <c:v>80665.665217391332</c:v>
                </c:pt>
                <c:pt idx="6">
                  <c:v>30870</c:v>
                </c:pt>
                <c:pt idx="7">
                  <c:v>94900.782608695677</c:v>
                </c:pt>
                <c:pt idx="9">
                  <c:v>32413.5</c:v>
                </c:pt>
                <c:pt idx="10">
                  <c:v>94900.782608695677</c:v>
                </c:pt>
                <c:pt idx="12">
                  <c:v>34034.175000000003</c:v>
                </c:pt>
                <c:pt idx="13">
                  <c:v>94900.782608695677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3F9-4BC0-8CB9-9896CA7D3B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945546352"/>
        <c:axId val="945550928"/>
      </c:barChart>
      <c:catAx>
        <c:axId val="94554635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45550928"/>
        <c:crosses val="autoZero"/>
        <c:auto val="1"/>
        <c:lblAlgn val="ctr"/>
        <c:lblOffset val="100"/>
        <c:noMultiLvlLbl val="0"/>
      </c:catAx>
      <c:valAx>
        <c:axId val="945550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tr-TR"/>
          </a:p>
        </c:txPr>
        <c:crossAx val="9455463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53995B-D5C5-E9F3-74E1-867BB85FAC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775A38-0062-6C38-0B8A-6561F09F2D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E6207-6821-4DAB-B818-E4F4F6AB12F5}" type="datetimeFigureOut">
              <a:rPr lang="en-GB" smtClean="0"/>
              <a:t>03/10/2024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76C68E-BDFC-0BFF-7F14-6B953611F6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FAFE3-268E-270F-8A32-C160C9648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E5AB6-E7A7-49F2-B3EF-8EA64FA4A4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20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6EE0-4F6D-274D-8902-95CDFEF84C8C}" type="datetimeFigureOut">
              <a:rPr lang="en-US" smtClean="0"/>
              <a:t>10/3/2024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F5981-AC5E-AE4D-852B-DAB06874D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49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429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94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5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189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hyperlink" Target="mailto:hello@oneadvanced.com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4.svg"/><Relationship Id="rId4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14551C-8DA6-7975-4AC8-8A180A4C6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794264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74C2F-C574-4EA9-44E0-B379B008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695325" y="1287508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4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BA657EF-F445-0102-2BA7-44A9F51D8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B90FE5-9B10-DE0E-C798-6B53CC1B51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16B070-9C5D-0E7C-E2ED-3FE385C377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730389"/>
            <a:ext cx="5668391" cy="5398949"/>
          </a:xfrm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75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DCACB3E2-F3D6-FBFE-9D4D-122785B60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FE279612-A00D-9DA6-F257-9A62F420A7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 </a:t>
            </a:r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157F8B76-BD18-D930-D55C-B6A1B10E8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6E4DEAF-BC4A-5DD9-036E-624FD7C4D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9600" y="1287463"/>
            <a:ext cx="4264025" cy="4273550"/>
          </a:xfrm>
          <a:custGeom>
            <a:avLst/>
            <a:gdLst>
              <a:gd name="connsiteX0" fmla="*/ 328842 w 4264025"/>
              <a:gd name="connsiteY0" fmla="*/ 0 h 4273550"/>
              <a:gd name="connsiteX1" fmla="*/ 3935183 w 4264025"/>
              <a:gd name="connsiteY1" fmla="*/ 0 h 4273550"/>
              <a:gd name="connsiteX2" fmla="*/ 4264025 w 4264025"/>
              <a:gd name="connsiteY2" fmla="*/ 328842 h 4273550"/>
              <a:gd name="connsiteX3" fmla="*/ 4264025 w 4264025"/>
              <a:gd name="connsiteY3" fmla="*/ 2397987 h 4273550"/>
              <a:gd name="connsiteX4" fmla="*/ 4187602 w 4264025"/>
              <a:gd name="connsiteY4" fmla="*/ 2540521 h 4273550"/>
              <a:gd name="connsiteX5" fmla="*/ 3434167 w 4264025"/>
              <a:gd name="connsiteY5" fmla="*/ 3594728 h 4273550"/>
              <a:gd name="connsiteX6" fmla="*/ 2977109 w 4264025"/>
              <a:gd name="connsiteY6" fmla="*/ 4084536 h 4273550"/>
              <a:gd name="connsiteX7" fmla="*/ 2776680 w 4264025"/>
              <a:gd name="connsiteY7" fmla="*/ 4273550 h 4273550"/>
              <a:gd name="connsiteX8" fmla="*/ 328842 w 4264025"/>
              <a:gd name="connsiteY8" fmla="*/ 4273550 h 4273550"/>
              <a:gd name="connsiteX9" fmla="*/ 0 w 4264025"/>
              <a:gd name="connsiteY9" fmla="*/ 3944708 h 4273550"/>
              <a:gd name="connsiteX10" fmla="*/ 0 w 4264025"/>
              <a:gd name="connsiteY10" fmla="*/ 328842 h 4273550"/>
              <a:gd name="connsiteX11" fmla="*/ 328842 w 4264025"/>
              <a:gd name="connsiteY11" fmla="*/ 0 h 427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64025" h="4273550">
                <a:moveTo>
                  <a:pt x="328842" y="0"/>
                </a:moveTo>
                <a:lnTo>
                  <a:pt x="3935183" y="0"/>
                </a:lnTo>
                <a:cubicBezTo>
                  <a:pt x="4116797" y="0"/>
                  <a:pt x="4264025" y="147228"/>
                  <a:pt x="4264025" y="328842"/>
                </a:cubicBezTo>
                <a:lnTo>
                  <a:pt x="4264025" y="2397987"/>
                </a:lnTo>
                <a:lnTo>
                  <a:pt x="4187602" y="2540521"/>
                </a:lnTo>
                <a:cubicBezTo>
                  <a:pt x="3989287" y="2884882"/>
                  <a:pt x="3729269" y="3244387"/>
                  <a:pt x="3434167" y="3594728"/>
                </a:cubicBezTo>
                <a:cubicBezTo>
                  <a:pt x="3294444" y="3760607"/>
                  <a:pt x="3140729" y="3924189"/>
                  <a:pt x="2977109" y="4084536"/>
                </a:cubicBezTo>
                <a:lnTo>
                  <a:pt x="2776680" y="4273550"/>
                </a:lnTo>
                <a:lnTo>
                  <a:pt x="328842" y="4273550"/>
                </a:lnTo>
                <a:cubicBezTo>
                  <a:pt x="147228" y="4273550"/>
                  <a:pt x="0" y="4126322"/>
                  <a:pt x="0" y="3944708"/>
                </a:cubicBezTo>
                <a:lnTo>
                  <a:pt x="0" y="328842"/>
                </a:lnTo>
                <a:cubicBezTo>
                  <a:pt x="0" y="147228"/>
                  <a:pt x="147228" y="0"/>
                  <a:pt x="3288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F632325-B368-E7E6-040E-5422C4DE6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02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C5667-D53D-4431-E3F2-914E5141B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4D20E-0688-A8CD-F668-241C3808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6A6473A-A022-609A-AF07-7030038A97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E5D0EF1-6B49-B967-1CC4-90ECFB619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02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358244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222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358800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5363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377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66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678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614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DB418724-83AC-4BA4-53E4-38273EA86C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1809653"/>
            <a:ext cx="360000" cy="36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512CDF71-5986-90E7-436B-0FC63AF45C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3337001"/>
            <a:ext cx="360000" cy="360000"/>
          </a:xfrm>
          <a:prstGeom prst="rect">
            <a:avLst/>
          </a:prstGeom>
        </p:spPr>
      </p:pic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6148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3483A506-4640-0C11-7E76-4ADF601F8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1809653"/>
            <a:ext cx="360000" cy="36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DB674452-D96D-4ED0-8BD6-C67163051C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3337001"/>
            <a:ext cx="360000" cy="360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0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98EB03-8E33-56BF-12A4-1CC34E1361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4801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25A403C-7874-825D-629B-91845DF858A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73089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02</a:t>
            </a:r>
            <a:endParaRPr lang="en-US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7DA963A-F8CB-2788-34E3-9545F9452C3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4801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04</a:t>
            </a:r>
            <a:endParaRPr lang="en-US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2B504E0-4466-BAA4-C7FF-B42ED83C75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3089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05</a:t>
            </a:r>
            <a:endParaRPr lang="en-US"/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C1AEB284-7F0C-3187-B592-E1732E8ED9F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6434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4B41B821-5DFB-B757-C0F7-DB0D030FBE5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26433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3" name="Text Placeholder 21">
            <a:extLst>
              <a:ext uri="{FF2B5EF4-FFF2-40B4-BE49-F238E27FC236}">
                <a16:creationId xmlns:a16="http://schemas.microsoft.com/office/drawing/2014/main" id="{DF6AFE7A-748E-3094-E5DD-96068A1ADB2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6434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4A3630C7-F978-2556-4A23-C0C594F4D67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26433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3E8A0744-C495-285F-181E-6DC10F0DF49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89314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03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BDFD6F31-A9EA-9929-A27C-F99215BAC5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89314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6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22">
            <a:extLst>
              <a:ext uri="{FF2B5EF4-FFF2-40B4-BE49-F238E27FC236}">
                <a16:creationId xmlns:a16="http://schemas.microsoft.com/office/drawing/2014/main" id="{5536B56F-F531-540F-8796-BAE4CC0E7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32063" y="13880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804F481-5029-6614-64A1-EDA7EF95EC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31580" y="17803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ABBF112A-5454-FE49-7AAC-CF484D9533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2081" y="2234192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1" name="Text Placeholder 24">
            <a:extLst>
              <a:ext uri="{FF2B5EF4-FFF2-40B4-BE49-F238E27FC236}">
                <a16:creationId xmlns:a16="http://schemas.microsoft.com/office/drawing/2014/main" id="{1A150C75-E0E2-38DD-416D-91A21E88CB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31580" y="2626447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C80484F3-A715-7D93-FF70-AF8370E1B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2081" y="30796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ABCFCEF-6730-EA4C-DBFF-2CFF639B3F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31580" y="34719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2E974CF-5325-C835-8D53-30C45BE0FA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10026" y="1388067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766B7B2-1CEE-476D-CD98-C488FBD749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10026" y="2240692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D84AEBAE-9F18-73E1-0696-0E9858817C6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10026" y="3079666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A7EDDCDD-B4C2-59E6-19B3-6014DE489B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32081" y="3925140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CD8E8B20-BC80-2B9E-4915-D5339CD1EE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31580" y="4317395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B5B9C15-3731-CC21-4A7B-A5C374A1A53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10026" y="3925140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13E1AAB4-635D-BF4A-5965-4B31253F31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32081" y="4775125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25A78126-D46D-FF52-6586-D197EBED544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31580" y="5167380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9AE9F7A2-511D-9C1D-CE95-14D3B8788A8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10026" y="4775125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02487"/>
            <a:ext cx="3483438" cy="317667"/>
          </a:xfrm>
        </p:spPr>
        <p:txBody>
          <a:bodyPr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CFD1A9-B1E6-239C-FBAB-267510721D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77261" y="2512088"/>
            <a:ext cx="5282675" cy="230806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GB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418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2328CA78-E1CB-C82D-3890-7CE118FFA6F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83174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86042117-1A75-2036-9EB6-B3BAB40557A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1976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0CD4D48C-EC00-94E4-69F3-EF51AC0276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61973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9A1D6FB7-B1FF-8326-8B31-3AC5954FA26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720677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9ED438C1-B0A6-419C-0AC3-151D81BAE8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99479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A6B83889-1ECE-CF73-A5C2-C8DE7E9CA0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99476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2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9961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00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873163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826949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7CC51DE0-F066-5324-2C99-81558D301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4376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79E0B83-D473-F57B-563A-6CFD62DBE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0400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0874603D-7E3E-8180-F8FD-8504D8000B8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4376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B512BF3A-A754-CFE5-9D8E-6A4A96ADD5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9004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6293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136087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430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13720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11715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rgbClr val="FFFFFF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9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64143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0157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two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5974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597689"/>
            <a:ext cx="5314446" cy="4069582"/>
          </a:xfr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5600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202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428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993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6794" y="1593767"/>
            <a:ext cx="4114800" cy="4107087"/>
          </a:xfrm>
          <a:prstGeom prst="roundRect">
            <a:avLst>
              <a:gd name="adj" fmla="val 7615"/>
            </a:avLst>
          </a:prstGeo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7480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9735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EE144-5BB5-C5BE-3211-4ACE9671E42F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62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B566984-B347-149E-5EF6-AAEE91A2E0DA}"/>
              </a:ext>
            </a:extLst>
          </p:cNvPr>
          <p:cNvSpPr/>
          <p:nvPr userDrawn="1"/>
        </p:nvSpPr>
        <p:spPr>
          <a:xfrm>
            <a:off x="488878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19C1E24-F3BE-1545-B466-259D2F466505}"/>
              </a:ext>
            </a:extLst>
          </p:cNvPr>
          <p:cNvSpPr txBox="1">
            <a:spLocks/>
          </p:cNvSpPr>
          <p:nvPr userDrawn="1"/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A462540C-F753-3056-E12C-65BA9F96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412" y="428399"/>
            <a:ext cx="5090026" cy="7380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AB79E9F5-9B26-D766-6D16-3F2857660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7971" y="1944056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0EEF6B20-7D2D-8BE4-DEB0-1CB4EAA1F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77412" y="2336311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2D47398-A81A-2F66-E483-91B10294E3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7971" y="3290538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DA391CD-BF5E-4808-FA75-365989C220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77412" y="3682793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8B28A51F-7A4D-0432-A413-F17616ABC4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77971" y="4637020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40B90ED3-2AF3-6557-DEDB-F226C1F6749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77412" y="5029275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1B9B645-A9EB-1AA3-6ACA-3315C5441FE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6858000"/>
          </a:xfrm>
          <a:custGeom>
            <a:avLst/>
            <a:gdLst>
              <a:gd name="connsiteX0" fmla="*/ 6399839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6399839 w 12191999"/>
              <a:gd name="connsiteY3" fmla="*/ 6858000 h 6858000"/>
              <a:gd name="connsiteX4" fmla="*/ 0 w 12191999"/>
              <a:gd name="connsiteY4" fmla="*/ 0 h 6858000"/>
              <a:gd name="connsiteX5" fmla="*/ 488877 w 12191999"/>
              <a:gd name="connsiteY5" fmla="*/ 0 h 6858000"/>
              <a:gd name="connsiteX6" fmla="*/ 488877 w 12191999"/>
              <a:gd name="connsiteY6" fmla="*/ 6858000 h 6858000"/>
              <a:gd name="connsiteX7" fmla="*/ 0 w 1219199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6858000">
                <a:moveTo>
                  <a:pt x="6399839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6399839" y="6858000"/>
                </a:lnTo>
                <a:close/>
                <a:moveTo>
                  <a:pt x="0" y="0"/>
                </a:moveTo>
                <a:lnTo>
                  <a:pt x="488877" y="0"/>
                </a:lnTo>
                <a:lnTo>
                  <a:pt x="48887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0F0F5"/>
          </a:solidFill>
        </p:spPr>
        <p:txBody>
          <a:bodyPr wrap="square" anchor="ctr">
            <a:noAutofit/>
          </a:bodyPr>
          <a:lstStyle>
            <a:lvl1pPr marL="90000" indent="0" algn="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76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075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174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0835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842145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173DC7-07F3-ABA3-D297-B2C121C32F7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4850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35DC4F-2FA0-7E50-CF62-9AFB6B3E21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9025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E6E024-9AF9-8E7F-A55A-8D12D291FDE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5600" y="4381200"/>
            <a:ext cx="5122800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4D3BF96-B778-BA87-9A0E-995A785337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69025" y="4381500"/>
            <a:ext cx="5122800" cy="1717200"/>
          </a:xfrm>
        </p:spPr>
        <p:txBody>
          <a:bodyPr rIns="10800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9841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0813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314446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00469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rgbClr val="FFFFFF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5916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26113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58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two 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074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54B5D95-4F83-359C-8FCD-E14BC4AC9C2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04377" y="1412878"/>
            <a:ext cx="9125120" cy="4724400"/>
          </a:xfrm>
        </p:spPr>
        <p:txBody>
          <a:bodyPr/>
          <a:lstStyle>
            <a:lvl1pPr marL="9000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8197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52642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ey">
    <p:bg>
      <p:bgPr>
        <a:solidFill>
          <a:srgbClr val="F0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48444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charco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38660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tx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752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18172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2EDB9E-36C5-331F-FE4B-FA11863C036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449320"/>
            <a:ext cx="10607427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84A06105-1918-4D48-4012-403DC48E85B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177486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07D37555-56E0-B06A-2BF1-E0CC74C220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9982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C02FD89F-3D60-2FD1-485C-6221111E6C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89012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0B9962A7-CD41-6118-6450-821D8B75B9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605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692274A4-78DA-3E01-C255-AFE76F68861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3957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F708F00-742F-2C43-A211-F3150213C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3737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9162AE8-E357-35E9-508B-41339494E13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67194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E3BD5D-175C-EF12-7FC9-0788773733F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88400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945307B8-8C12-0385-C7BA-5F63407DF0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5380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4DF3858-039A-438A-E4A1-4CB305DFB25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776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51875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687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ra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29F81D18-B8A7-4EA1-250C-DCC372BC8E13}"/>
              </a:ext>
            </a:extLst>
          </p:cNvPr>
          <p:cNvSpPr txBox="1">
            <a:spLocks/>
          </p:cNvSpPr>
          <p:nvPr/>
        </p:nvSpPr>
        <p:spPr>
          <a:xfrm>
            <a:off x="1084349" y="3514204"/>
            <a:ext cx="7506842" cy="396967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Powering the world of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BC7164-FD22-490B-65DA-7F9AF62F72F7}"/>
              </a:ext>
            </a:extLst>
          </p:cNvPr>
          <p:cNvGrpSpPr/>
          <p:nvPr userDrawn="1"/>
        </p:nvGrpSpPr>
        <p:grpSpPr>
          <a:xfrm>
            <a:off x="6417903" y="5486"/>
            <a:ext cx="4883744" cy="6828826"/>
            <a:chOff x="6549356" y="5486"/>
            <a:chExt cx="4883744" cy="682882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1AD5FDC-FA8F-CB6F-3F0F-232D86DC0038}"/>
                </a:ext>
              </a:extLst>
            </p:cNvPr>
            <p:cNvSpPr/>
            <p:nvPr/>
          </p:nvSpPr>
          <p:spPr>
            <a:xfrm rot="21242962">
              <a:off x="6549356" y="5486"/>
              <a:ext cx="2540174" cy="1976639"/>
            </a:xfrm>
            <a:custGeom>
              <a:avLst/>
              <a:gdLst>
                <a:gd name="connsiteX0" fmla="*/ 1374372 w 2540174"/>
                <a:gd name="connsiteY0" fmla="*/ 0 h 1976639"/>
                <a:gd name="connsiteX1" fmla="*/ 2540174 w 2540174"/>
                <a:gd name="connsiteY1" fmla="*/ 121516 h 1976639"/>
                <a:gd name="connsiteX2" fmla="*/ 2319004 w 2540174"/>
                <a:gd name="connsiteY2" fmla="*/ 244769 h 1976639"/>
                <a:gd name="connsiteX3" fmla="*/ 1147936 w 2540174"/>
                <a:gd name="connsiteY3" fmla="*/ 1075407 h 1976639"/>
                <a:gd name="connsiteX4" fmla="*/ 351927 w 2540174"/>
                <a:gd name="connsiteY4" fmla="*/ 1976639 h 1976639"/>
                <a:gd name="connsiteX5" fmla="*/ 77094 w 2540174"/>
                <a:gd name="connsiteY5" fmla="*/ 1800399 h 1976639"/>
                <a:gd name="connsiteX6" fmla="*/ 25384 w 2540174"/>
                <a:gd name="connsiteY6" fmla="*/ 1712740 h 1976639"/>
                <a:gd name="connsiteX7" fmla="*/ 593545 w 2540174"/>
                <a:gd name="connsiteY7" fmla="*/ 672561 h 1976639"/>
                <a:gd name="connsiteX8" fmla="*/ 1248544 w 2540174"/>
                <a:gd name="connsiteY8" fmla="*/ 93328 h 1976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40174" h="1976639">
                  <a:moveTo>
                    <a:pt x="1374372" y="0"/>
                  </a:moveTo>
                  <a:lnTo>
                    <a:pt x="2540174" y="121516"/>
                  </a:lnTo>
                  <a:lnTo>
                    <a:pt x="2319004" y="244769"/>
                  </a:lnTo>
                  <a:cubicBezTo>
                    <a:pt x="1907647" y="484374"/>
                    <a:pt x="1512338" y="758000"/>
                    <a:pt x="1147936" y="1075407"/>
                  </a:cubicBezTo>
                  <a:cubicBezTo>
                    <a:pt x="932634" y="1262584"/>
                    <a:pt x="522408" y="1608641"/>
                    <a:pt x="351927" y="1976639"/>
                  </a:cubicBezTo>
                  <a:cubicBezTo>
                    <a:pt x="241261" y="1941139"/>
                    <a:pt x="145241" y="1885599"/>
                    <a:pt x="77094" y="1800399"/>
                  </a:cubicBezTo>
                  <a:cubicBezTo>
                    <a:pt x="54711" y="1772325"/>
                    <a:pt x="37606" y="1742994"/>
                    <a:pt x="25384" y="1712740"/>
                  </a:cubicBezTo>
                  <a:cubicBezTo>
                    <a:pt x="-120579" y="1354254"/>
                    <a:pt x="402248" y="859924"/>
                    <a:pt x="593545" y="672561"/>
                  </a:cubicBezTo>
                  <a:cubicBezTo>
                    <a:pt x="829125" y="442341"/>
                    <a:pt x="1041333" y="254555"/>
                    <a:pt x="1248544" y="9332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1064200-2FDB-8854-6149-140FCEAC061C}"/>
                </a:ext>
              </a:extLst>
            </p:cNvPr>
            <p:cNvSpPr/>
            <p:nvPr/>
          </p:nvSpPr>
          <p:spPr>
            <a:xfrm rot="21242962">
              <a:off x="6699121" y="1589759"/>
              <a:ext cx="4219130" cy="1340463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938A101-18F6-3C75-6073-A86841C7A113}"/>
                </a:ext>
              </a:extLst>
            </p:cNvPr>
            <p:cNvSpPr/>
            <p:nvPr/>
          </p:nvSpPr>
          <p:spPr>
            <a:xfrm rot="21242962">
              <a:off x="6992707" y="2304275"/>
              <a:ext cx="4440393" cy="4530037"/>
            </a:xfrm>
            <a:custGeom>
              <a:avLst/>
              <a:gdLst>
                <a:gd name="connsiteX0" fmla="*/ 4108292 w 4440393"/>
                <a:gd name="connsiteY0" fmla="*/ 0 h 4530037"/>
                <a:gd name="connsiteX1" fmla="*/ 4393250 w 4440393"/>
                <a:gd name="connsiteY1" fmla="*/ 857957 h 4530037"/>
                <a:gd name="connsiteX2" fmla="*/ 4390534 w 4440393"/>
                <a:gd name="connsiteY2" fmla="*/ 859203 h 4530037"/>
                <a:gd name="connsiteX3" fmla="*/ 3580177 w 4440393"/>
                <a:gd name="connsiteY3" fmla="*/ 2993784 h 4530037"/>
                <a:gd name="connsiteX4" fmla="*/ 2038526 w 4440393"/>
                <a:gd name="connsiteY4" fmla="*/ 4412429 h 4530037"/>
                <a:gd name="connsiteX5" fmla="*/ 1873976 w 4440393"/>
                <a:gd name="connsiteY5" fmla="*/ 4530037 h 4530037"/>
                <a:gd name="connsiteX6" fmla="*/ 0 w 4440393"/>
                <a:gd name="connsiteY6" fmla="*/ 4334707 h 4530037"/>
                <a:gd name="connsiteX7" fmla="*/ 120875 w 4440393"/>
                <a:gd name="connsiteY7" fmla="*/ 4237966 h 4530037"/>
                <a:gd name="connsiteX8" fmla="*/ 336429 w 4440393"/>
                <a:gd name="connsiteY8" fmla="*/ 4099796 h 4530037"/>
                <a:gd name="connsiteX9" fmla="*/ 2937303 w 4440393"/>
                <a:gd name="connsiteY9" fmla="*/ 2230809 h 4530037"/>
                <a:gd name="connsiteX10" fmla="*/ 4085552 w 4440393"/>
                <a:gd name="connsiteY10" fmla="*/ 476188 h 4530037"/>
                <a:gd name="connsiteX11" fmla="*/ 4108292 w 4440393"/>
                <a:gd name="connsiteY11" fmla="*/ 0 h 453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40393" h="4530037">
                  <a:moveTo>
                    <a:pt x="4108292" y="0"/>
                  </a:moveTo>
                  <a:lnTo>
                    <a:pt x="4393250" y="857957"/>
                  </a:lnTo>
                  <a:lnTo>
                    <a:pt x="4390534" y="859203"/>
                  </a:lnTo>
                  <a:cubicBezTo>
                    <a:pt x="4623606" y="1512532"/>
                    <a:pt x="3986268" y="2501821"/>
                    <a:pt x="3580177" y="2993784"/>
                  </a:cubicBezTo>
                  <a:cubicBezTo>
                    <a:pt x="3155563" y="3504232"/>
                    <a:pt x="2621580" y="3982170"/>
                    <a:pt x="2038526" y="4412429"/>
                  </a:cubicBezTo>
                  <a:lnTo>
                    <a:pt x="1873976" y="4530037"/>
                  </a:lnTo>
                  <a:lnTo>
                    <a:pt x="0" y="4334707"/>
                  </a:lnTo>
                  <a:lnTo>
                    <a:pt x="120875" y="4237966"/>
                  </a:lnTo>
                  <a:cubicBezTo>
                    <a:pt x="190323" y="4188073"/>
                    <a:pt x="262240" y="4141930"/>
                    <a:pt x="336429" y="4099796"/>
                  </a:cubicBezTo>
                  <a:cubicBezTo>
                    <a:pt x="1176090" y="3623375"/>
                    <a:pt x="2223431" y="2976436"/>
                    <a:pt x="2937303" y="2230809"/>
                  </a:cubicBezTo>
                  <a:cubicBezTo>
                    <a:pt x="3502699" y="1640262"/>
                    <a:pt x="3951723" y="1002334"/>
                    <a:pt x="4085552" y="476188"/>
                  </a:cubicBezTo>
                  <a:cubicBezTo>
                    <a:pt x="4129606" y="303504"/>
                    <a:pt x="4139472" y="143037"/>
                    <a:pt x="410829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7D060999-7EDC-78DA-BCA4-FF58F3925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17011" y="2970825"/>
            <a:ext cx="3103464" cy="38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721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73A0B3-E323-EBD2-098B-3E1A25761AA4}"/>
              </a:ext>
            </a:extLst>
          </p:cNvPr>
          <p:cNvSpPr txBox="1">
            <a:spLocks/>
          </p:cNvSpPr>
          <p:nvPr userDrawn="1"/>
        </p:nvSpPr>
        <p:spPr>
          <a:xfrm>
            <a:off x="1149849" y="2507409"/>
            <a:ext cx="6443257" cy="177772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6000" spc="-50"/>
              <a:t>Thank you for </a:t>
            </a:r>
            <a:r>
              <a:rPr lang="en-US" sz="6000" spc="-50">
                <a:solidFill>
                  <a:schemeClr val="tx2"/>
                </a:solidFill>
              </a:rPr>
              <a:t>your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225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E9C4B1-8BBD-4A86-97E6-A05321731C6E}"/>
              </a:ext>
            </a:extLst>
          </p:cNvPr>
          <p:cNvGrpSpPr/>
          <p:nvPr userDrawn="1"/>
        </p:nvGrpSpPr>
        <p:grpSpPr>
          <a:xfrm>
            <a:off x="1161334" y="3581400"/>
            <a:ext cx="9922400" cy="372831"/>
            <a:chOff x="1383408" y="3927281"/>
            <a:chExt cx="9922400" cy="37283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258D66-EE6D-A115-1AB5-B4C27C73A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3408" y="3927281"/>
              <a:ext cx="372831" cy="372831"/>
            </a:xfrm>
            <a:prstGeom prst="rect">
              <a:avLst/>
            </a:prstGeom>
          </p:spPr>
        </p:pic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A16597B-7B44-BE93-4394-1DA701C95A99}"/>
                </a:ext>
              </a:extLst>
            </p:cNvPr>
            <p:cNvSpPr txBox="1">
              <a:spLocks/>
            </p:cNvSpPr>
            <p:nvPr/>
          </p:nvSpPr>
          <p:spPr>
            <a:xfrm>
              <a:off x="1886305" y="3979892"/>
              <a:ext cx="1978833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+44(0) 330 343 4000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8CBC0C8-00D3-597B-95ED-2951CCF52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08650" y="3966176"/>
              <a:ext cx="375506" cy="295040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E394DDB-95F4-C779-DDA8-2A6D4C37E464}"/>
                </a:ext>
              </a:extLst>
            </p:cNvPr>
            <p:cNvSpPr txBox="1">
              <a:spLocks/>
            </p:cNvSpPr>
            <p:nvPr/>
          </p:nvSpPr>
          <p:spPr>
            <a:xfrm>
              <a:off x="5041117" y="3979892"/>
              <a:ext cx="2310527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 err="1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www.oneadvanced.com</a:t>
              </a:r>
              <a:endParaRPr lang="en-GB" sz="1600" b="0" kern="1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B617B8F-439F-0846-C91B-0D0BE613E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07239" y="3966176"/>
              <a:ext cx="375506" cy="295040"/>
            </a:xfrm>
            <a:prstGeom prst="rect">
              <a:avLst/>
            </a:prstGeom>
          </p:spPr>
        </p:pic>
        <p:sp>
          <p:nvSpPr>
            <p:cNvPr id="13" name="Title 1">
              <a:hlinkClick r:id="rId8"/>
              <a:extLst>
                <a:ext uri="{FF2B5EF4-FFF2-40B4-BE49-F238E27FC236}">
                  <a16:creationId xmlns:a16="http://schemas.microsoft.com/office/drawing/2014/main" id="{0C9002D1-74E0-6CBD-9260-7B915AF42557}"/>
                </a:ext>
              </a:extLst>
            </p:cNvPr>
            <p:cNvSpPr txBox="1">
              <a:spLocks/>
            </p:cNvSpPr>
            <p:nvPr/>
          </p:nvSpPr>
          <p:spPr>
            <a:xfrm>
              <a:off x="8539706" y="3979892"/>
              <a:ext cx="2766102" cy="281324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hello@oneadvanced.com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0BE4C725-FC06-DB3B-0F4B-89A77869B06D}"/>
              </a:ext>
            </a:extLst>
          </p:cNvPr>
          <p:cNvSpPr txBox="1">
            <a:spLocks/>
          </p:cNvSpPr>
          <p:nvPr userDrawn="1"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58167D-1797-F786-9B8C-3BB1923D6493}"/>
              </a:ext>
            </a:extLst>
          </p:cNvPr>
          <p:cNvSpPr txBox="1"/>
          <p:nvPr userDrawn="1"/>
        </p:nvSpPr>
        <p:spPr>
          <a:xfrm>
            <a:off x="3194787" y="5765172"/>
            <a:ext cx="7618977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Computer Software Group Limited is a company registered in England and Wales under company number 05965280, whose registered office </a:t>
            </a:r>
            <a:r>
              <a:rPr lang="en-GB" sz="800" kern="100">
                <a:solidFill>
                  <a:srgbClr val="373743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is: The Mailbox, Level 3, 101 Wharfside Street, Birmingham, B1 1RF</a:t>
            </a: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 full list of its trading subsidiaries is available at www.oneadvanced.com/legal-privacy.</a:t>
            </a:r>
            <a:endParaRPr lang="en-US" sz="80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8498B2A-6B78-C39B-1C69-0EA4C112C95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98111" y="5849241"/>
            <a:ext cx="1752318" cy="2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5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ed - Title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5292725" cy="4705200"/>
          </a:xfrm>
        </p:spPr>
        <p:txBody>
          <a:bodyPr/>
          <a:lstStyle>
            <a:lvl1pPr>
              <a:lnSpc>
                <a:spcPct val="140000"/>
              </a:lnSpc>
              <a:defRPr lang="en-GB" noProof="0" dirty="0" smtClean="0"/>
            </a:lvl1pPr>
            <a:lvl2pPr>
              <a:lnSpc>
                <a:spcPct val="140000"/>
              </a:lnSpc>
              <a:defRPr lang="en-GB" noProof="0" dirty="0" smtClean="0"/>
            </a:lvl2pPr>
            <a:lvl3pPr>
              <a:lnSpc>
                <a:spcPct val="140000"/>
              </a:lnSpc>
              <a:defRPr lang="en-GB" noProof="0" dirty="0" smtClean="0"/>
            </a:lvl3pPr>
            <a:lvl4pPr>
              <a:lnSpc>
                <a:spcPct val="140000"/>
              </a:lnSpc>
              <a:defRPr lang="en-GB" noProof="0" dirty="0"/>
            </a:lvl4pPr>
          </a:lstStyle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F472F98-5AEE-6AB5-BBB2-A88EB9603F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725" y="1425599"/>
            <a:ext cx="5314950" cy="4705200"/>
          </a:xfrm>
        </p:spPr>
        <p:txBody>
          <a:bodyPr/>
          <a:lstStyle/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8304401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conten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5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948237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orange triangle on a black background&#10;&#10;Description automatically generated">
            <a:extLst>
              <a:ext uri="{FF2B5EF4-FFF2-40B4-BE49-F238E27FC236}">
                <a16:creationId xmlns:a16="http://schemas.microsoft.com/office/drawing/2014/main" id="{008AA23A-E33D-6297-008B-71F741560D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74221" y="125373"/>
            <a:ext cx="444903" cy="44490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33626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54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FA676-B67E-AC67-7DDA-00665EF3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29193"/>
            <a:ext cx="10801349" cy="687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9D472-BF61-3B8E-D859-41FCAE35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138"/>
            <a:ext cx="10801350" cy="470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7B15-1A7C-CA75-4000-6B4E7DCC0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4377" y="6356350"/>
            <a:ext cx="11897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0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D63005AE-A14B-7B48-9AF5-01E333747121}" type="datetime1">
              <a:rPr lang="en-GB" smtClean="0"/>
              <a:t>03/10/2024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5CDDB-CC03-EB15-3D1D-E9C5DF5AC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67426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9A69-816B-342C-83AD-D5776DA9D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58AAB2-EDCD-A900-5FDD-1A1336EBF022}"/>
              </a:ext>
            </a:extLst>
          </p:cNvPr>
          <p:cNvPicPr>
            <a:picLocks noChangeAspect="1"/>
          </p:cNvPicPr>
          <p:nvPr userDrawn="1"/>
        </p:nvPicPr>
        <p:blipFill>
          <a:blip r:embed="rId53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1360321" y="240054"/>
            <a:ext cx="276225" cy="2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7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84" r:id="rId4"/>
    <p:sldLayoutId id="2147483685" r:id="rId5"/>
    <p:sldLayoutId id="2147483651" r:id="rId6"/>
    <p:sldLayoutId id="2147483660" r:id="rId7"/>
    <p:sldLayoutId id="2147483661" r:id="rId8"/>
    <p:sldLayoutId id="2147483717" r:id="rId9"/>
    <p:sldLayoutId id="2147483718" r:id="rId10"/>
    <p:sldLayoutId id="2147483662" r:id="rId11"/>
    <p:sldLayoutId id="2147483663" r:id="rId12"/>
    <p:sldLayoutId id="2147483731" r:id="rId13"/>
    <p:sldLayoutId id="2147483733" r:id="rId14"/>
    <p:sldLayoutId id="2147483734" r:id="rId15"/>
    <p:sldLayoutId id="2147483735" r:id="rId16"/>
    <p:sldLayoutId id="2147483719" r:id="rId17"/>
    <p:sldLayoutId id="2147483673" r:id="rId18"/>
    <p:sldLayoutId id="2147483676" r:id="rId19"/>
    <p:sldLayoutId id="2147483674" r:id="rId20"/>
    <p:sldLayoutId id="2147483677" r:id="rId21"/>
    <p:sldLayoutId id="2147483741" r:id="rId22"/>
    <p:sldLayoutId id="2147483742" r:id="rId23"/>
    <p:sldLayoutId id="2147483666" r:id="rId24"/>
    <p:sldLayoutId id="2147483667" r:id="rId25"/>
    <p:sldLayoutId id="2147483668" r:id="rId26"/>
    <p:sldLayoutId id="2147483680" r:id="rId27"/>
    <p:sldLayoutId id="2147483675" r:id="rId28"/>
    <p:sldLayoutId id="2147483723" r:id="rId29"/>
    <p:sldLayoutId id="2147483722" r:id="rId30"/>
    <p:sldLayoutId id="2147483732" r:id="rId31"/>
    <p:sldLayoutId id="2147483737" r:id="rId32"/>
    <p:sldLayoutId id="2147483738" r:id="rId33"/>
    <p:sldLayoutId id="2147483739" r:id="rId34"/>
    <p:sldLayoutId id="2147483740" r:id="rId35"/>
    <p:sldLayoutId id="2147483682" r:id="rId36"/>
    <p:sldLayoutId id="2147483683" r:id="rId37"/>
    <p:sldLayoutId id="2147483725" r:id="rId38"/>
    <p:sldLayoutId id="2147483670" r:id="rId39"/>
    <p:sldLayoutId id="2147483671" r:id="rId40"/>
    <p:sldLayoutId id="2147483669" r:id="rId41"/>
    <p:sldLayoutId id="2147483664" r:id="rId42"/>
    <p:sldLayoutId id="2147483665" r:id="rId43"/>
    <p:sldLayoutId id="2147483681" r:id="rId44"/>
    <p:sldLayoutId id="2147483655" r:id="rId45"/>
    <p:sldLayoutId id="2147483672" r:id="rId46"/>
    <p:sldLayoutId id="2147483678" r:id="rId47"/>
    <p:sldLayoutId id="2147483679" r:id="rId48"/>
    <p:sldLayoutId id="2147483743" r:id="rId49"/>
    <p:sldLayoutId id="2147483744" r:id="rId50"/>
    <p:sldLayoutId id="2147483746" r:id="rId5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342000" indent="-252000" algn="l" defTabSz="914400" rtl="0" eaLnBrk="1" latinLnBrk="0" hangingPunct="1">
        <a:lnSpc>
          <a:spcPct val="120000"/>
        </a:lnSpc>
        <a:spcBef>
          <a:spcPts val="800"/>
        </a:spcBef>
        <a:spcAft>
          <a:spcPts val="300"/>
        </a:spcAft>
        <a:buSzPct val="12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20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0"/>
        </a:spcAft>
        <a:buClr>
          <a:schemeClr val="tx2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52000" indent="-180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75000"/>
            <a:lumOff val="25000"/>
          </a:schemeClr>
        </a:buClr>
        <a:buSzPct val="130000"/>
        <a:buFont typeface="Open Sans" panose="020B0606030504020204" pitchFamily="34" charset="0"/>
        <a:buChar char="›"/>
        <a:defRPr sz="16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512000" indent="-144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2"/>
        </a:buClr>
        <a:buSzPct val="120000"/>
        <a:buFont typeface="Open Sans" panose="020B0606030504020204" pitchFamily="34" charset="0"/>
        <a:buChar char="›"/>
        <a:defRPr sz="14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872000" indent="-108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50000"/>
            <a:lumOff val="50000"/>
          </a:schemeClr>
        </a:buClr>
        <a:buFont typeface="Open Sans" panose="020B0606030504020204" pitchFamily="34" charset="0"/>
        <a:buChar char="›"/>
        <a:defRPr sz="12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9">
          <p15:clr>
            <a:srgbClr val="547EBF"/>
          </p15:clr>
        </p15:guide>
        <p15:guide id="3" orient="horz" pos="2228">
          <p15:clr>
            <a:srgbClr val="547EBF"/>
          </p15:clr>
        </p15:guide>
        <p15:guide id="4" orient="horz" pos="2115">
          <p15:clr>
            <a:srgbClr val="547EBF"/>
          </p15:clr>
        </p15:guide>
        <p15:guide id="7" pos="1481">
          <p15:clr>
            <a:srgbClr val="547EBF"/>
          </p15:clr>
        </p15:guide>
        <p15:guide id="8" pos="1595">
          <p15:clr>
            <a:srgbClr val="547EBF"/>
          </p15:clr>
        </p15:guide>
        <p15:guide id="9" pos="2638">
          <p15:clr>
            <a:srgbClr val="547EBF"/>
          </p15:clr>
        </p15:guide>
        <p15:guide id="10" pos="2751">
          <p15:clr>
            <a:srgbClr val="547EBF"/>
          </p15:clr>
        </p15:guide>
        <p15:guide id="11" pos="3772">
          <p15:clr>
            <a:srgbClr val="547EBF"/>
          </p15:clr>
        </p15:guide>
        <p15:guide id="12" pos="3885">
          <p15:clr>
            <a:srgbClr val="547EBF"/>
          </p15:clr>
        </p15:guide>
        <p15:guide id="13" pos="4929">
          <p15:clr>
            <a:srgbClr val="547EBF"/>
          </p15:clr>
        </p15:guide>
        <p15:guide id="14" pos="5029">
          <p15:clr>
            <a:srgbClr val="547EBF"/>
          </p15:clr>
        </p15:guide>
        <p15:guide id="15" pos="6085">
          <p15:clr>
            <a:srgbClr val="547EBF"/>
          </p15:clr>
        </p15:guide>
        <p15:guide id="16" pos="6185">
          <p15:clr>
            <a:srgbClr val="547EBF"/>
          </p15:clr>
        </p15:guide>
        <p15:guide id="17" orient="horz" pos="890" userDrawn="1">
          <p15:clr>
            <a:srgbClr val="F26B43"/>
          </p15:clr>
        </p15:guide>
        <p15:guide id="18" orient="horz" pos="3861" userDrawn="1">
          <p15:clr>
            <a:srgbClr val="F26B43"/>
          </p15:clr>
        </p15:guide>
        <p15:guide id="19" pos="438" userDrawn="1">
          <p15:clr>
            <a:srgbClr val="F26B43"/>
          </p15:clr>
        </p15:guide>
        <p15:guide id="20" pos="71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9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chart" Target="../charts/chart2.xml"/><Relationship Id="rId16" Type="http://schemas.openxmlformats.org/officeDocument/2006/relationships/image" Target="../media/image29.svg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1328-38B7-3594-7FBB-BE5592178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>
                <a:latin typeface="Montserrat SemiBold"/>
              </a:rPr>
              <a:t>valclient</a:t>
            </a:r>
            <a:r>
              <a:rPr lang="en-US" dirty="0">
                <a:latin typeface="Montserrat SemiBold"/>
              </a:rPr>
              <a:t> Value Business Case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8DF38-F73F-09E2-6B8C-286C3751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4B16102-7F03-D98C-5599-59D403A4A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Financials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AC2211-2BF5-0F3E-134E-6D7CA1E5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Presented by OneAdvanced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ABF3CB5-1982-E5EA-D401-E797DAE7CB8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80887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F03CFE-B2DF-8A34-6FA4-EDA86F820F40}"/>
              </a:ext>
            </a:extLst>
          </p:cNvPr>
          <p:cNvGrpSpPr/>
          <p:nvPr/>
        </p:nvGrpSpPr>
        <p:grpSpPr>
          <a:xfrm>
            <a:off x="2773872" y="1552929"/>
            <a:ext cx="1918801" cy="3992216"/>
            <a:chOff x="2757246" y="1552929"/>
            <a:chExt cx="1918801" cy="3992216"/>
          </a:xfrm>
        </p:grpSpPr>
        <p:sp>
          <p:nvSpPr>
            <p:cNvPr id="45" name="Off-page Connector 9">
              <a:extLst>
                <a:ext uri="{FF2B5EF4-FFF2-40B4-BE49-F238E27FC236}">
                  <a16:creationId xmlns:a16="http://schemas.microsoft.com/office/drawing/2014/main" id="{14F02441-381E-E675-0973-5995D3C09337}"/>
                </a:ext>
              </a:extLst>
            </p:cNvPr>
            <p:cNvSpPr/>
            <p:nvPr/>
          </p:nvSpPr>
          <p:spPr>
            <a:xfrm>
              <a:off x="2757246" y="1903894"/>
              <a:ext cx="1918800" cy="2544655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Lack of structured workflows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Time consuming manual entry</a:t>
              </a:r>
            </a:p>
          </p:txBody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9D6AF1DB-D2A2-3A99-8911-3637D8BF1298}"/>
                </a:ext>
              </a:extLst>
            </p:cNvPr>
            <p:cNvSpPr/>
            <p:nvPr/>
          </p:nvSpPr>
          <p:spPr>
            <a:xfrm rot="10800000">
              <a:off x="2757247" y="2096918"/>
              <a:ext cx="1918800" cy="3017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16778 w 4872690"/>
                <a:gd name="connsiteY0" fmla="*/ 9143998 h 9144000"/>
                <a:gd name="connsiteX1" fmla="*/ 4872690 w 4872690"/>
                <a:gd name="connsiteY1" fmla="*/ 9143998 h 9144000"/>
                <a:gd name="connsiteX2" fmla="*/ 4872690 w 4872690"/>
                <a:gd name="connsiteY2" fmla="*/ 9144000 h 9144000"/>
                <a:gd name="connsiteX3" fmla="*/ 16778 w 4872690"/>
                <a:gd name="connsiteY3" fmla="*/ 9144000 h 9144000"/>
                <a:gd name="connsiteX4" fmla="*/ 16778 w 4872690"/>
                <a:gd name="connsiteY4" fmla="*/ 9143998 h 9144000"/>
                <a:gd name="connsiteX5" fmla="*/ 0 w 4872690"/>
                <a:gd name="connsiteY5" fmla="*/ 743364 h 9144000"/>
                <a:gd name="connsiteX6" fmla="*/ 4872690 w 4872690"/>
                <a:gd name="connsiteY6" fmla="*/ 0 h 9144000"/>
                <a:gd name="connsiteX7" fmla="*/ 4872690 w 4872690"/>
                <a:gd name="connsiteY7" fmla="*/ 4215866 h 9144000"/>
                <a:gd name="connsiteX8" fmla="*/ 2444734 w 4872690"/>
                <a:gd name="connsiteY8" fmla="*/ 2983833 h 9144000"/>
                <a:gd name="connsiteX9" fmla="*/ 16778 w 4872690"/>
                <a:gd name="connsiteY9" fmla="*/ 4215866 h 9144000"/>
                <a:gd name="connsiteX10" fmla="*/ 0 w 4872690"/>
                <a:gd name="connsiteY10" fmla="*/ 743364 h 9144000"/>
                <a:gd name="connsiteX0" fmla="*/ 16778 w 4872690"/>
                <a:gd name="connsiteY0" fmla="*/ 8400634 h 8400636"/>
                <a:gd name="connsiteX1" fmla="*/ 4872690 w 4872690"/>
                <a:gd name="connsiteY1" fmla="*/ 8400634 h 8400636"/>
                <a:gd name="connsiteX2" fmla="*/ 4872690 w 4872690"/>
                <a:gd name="connsiteY2" fmla="*/ 8400636 h 8400636"/>
                <a:gd name="connsiteX3" fmla="*/ 16778 w 4872690"/>
                <a:gd name="connsiteY3" fmla="*/ 8400636 h 8400636"/>
                <a:gd name="connsiteX4" fmla="*/ 16778 w 4872690"/>
                <a:gd name="connsiteY4" fmla="*/ 8400634 h 8400636"/>
                <a:gd name="connsiteX5" fmla="*/ 0 w 4872690"/>
                <a:gd name="connsiteY5" fmla="*/ 0 h 8400636"/>
                <a:gd name="connsiteX6" fmla="*/ 4872690 w 4872690"/>
                <a:gd name="connsiteY6" fmla="*/ 33789 h 8400636"/>
                <a:gd name="connsiteX7" fmla="*/ 4872690 w 4872690"/>
                <a:gd name="connsiteY7" fmla="*/ 3472502 h 8400636"/>
                <a:gd name="connsiteX8" fmla="*/ 2444734 w 4872690"/>
                <a:gd name="connsiteY8" fmla="*/ 2240469 h 8400636"/>
                <a:gd name="connsiteX9" fmla="*/ 16778 w 4872690"/>
                <a:gd name="connsiteY9" fmla="*/ 3472502 h 8400636"/>
                <a:gd name="connsiteX10" fmla="*/ 0 w 4872690"/>
                <a:gd name="connsiteY10" fmla="*/ 0 h 8400636"/>
                <a:gd name="connsiteX0" fmla="*/ 16778 w 4906246"/>
                <a:gd name="connsiteY0" fmla="*/ 8400634 h 8400636"/>
                <a:gd name="connsiteX1" fmla="*/ 4872690 w 4906246"/>
                <a:gd name="connsiteY1" fmla="*/ 8400634 h 8400636"/>
                <a:gd name="connsiteX2" fmla="*/ 4872690 w 4906246"/>
                <a:gd name="connsiteY2" fmla="*/ 8400636 h 8400636"/>
                <a:gd name="connsiteX3" fmla="*/ 16778 w 4906246"/>
                <a:gd name="connsiteY3" fmla="*/ 8400636 h 8400636"/>
                <a:gd name="connsiteX4" fmla="*/ 16778 w 4906246"/>
                <a:gd name="connsiteY4" fmla="*/ 8400634 h 8400636"/>
                <a:gd name="connsiteX5" fmla="*/ 0 w 4906246"/>
                <a:gd name="connsiteY5" fmla="*/ 0 h 8400636"/>
                <a:gd name="connsiteX6" fmla="*/ 4906246 w 4906246"/>
                <a:gd name="connsiteY6" fmla="*/ 16895 h 8400636"/>
                <a:gd name="connsiteX7" fmla="*/ 4872690 w 4906246"/>
                <a:gd name="connsiteY7" fmla="*/ 3472502 h 8400636"/>
                <a:gd name="connsiteX8" fmla="*/ 2444734 w 4906246"/>
                <a:gd name="connsiteY8" fmla="*/ 2240469 h 8400636"/>
                <a:gd name="connsiteX9" fmla="*/ 16778 w 4906246"/>
                <a:gd name="connsiteY9" fmla="*/ 3472502 h 8400636"/>
                <a:gd name="connsiteX10" fmla="*/ 0 w 4906246"/>
                <a:gd name="connsiteY10" fmla="*/ 0 h 8400636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06246"/>
                <a:gd name="connsiteY0" fmla="*/ 8451318 h 8451320"/>
                <a:gd name="connsiteX1" fmla="*/ 4872690 w 4906246"/>
                <a:gd name="connsiteY1" fmla="*/ 8451318 h 8451320"/>
                <a:gd name="connsiteX2" fmla="*/ 4872690 w 4906246"/>
                <a:gd name="connsiteY2" fmla="*/ 8451320 h 8451320"/>
                <a:gd name="connsiteX3" fmla="*/ 16778 w 4906246"/>
                <a:gd name="connsiteY3" fmla="*/ 8451320 h 8451320"/>
                <a:gd name="connsiteX4" fmla="*/ 16778 w 4906246"/>
                <a:gd name="connsiteY4" fmla="*/ 8451318 h 8451320"/>
                <a:gd name="connsiteX5" fmla="*/ 0 w 4906246"/>
                <a:gd name="connsiteY5" fmla="*/ 50684 h 8451320"/>
                <a:gd name="connsiteX6" fmla="*/ 4906246 w 4906246"/>
                <a:gd name="connsiteY6" fmla="*/ 0 h 8451320"/>
                <a:gd name="connsiteX7" fmla="*/ 4872690 w 4906246"/>
                <a:gd name="connsiteY7" fmla="*/ 3523186 h 8451320"/>
                <a:gd name="connsiteX8" fmla="*/ 2444734 w 4906246"/>
                <a:gd name="connsiteY8" fmla="*/ 2291153 h 8451320"/>
                <a:gd name="connsiteX9" fmla="*/ 16778 w 4906246"/>
                <a:gd name="connsiteY9" fmla="*/ 3523186 h 8451320"/>
                <a:gd name="connsiteX10" fmla="*/ 0 w 4906246"/>
                <a:gd name="connsiteY10" fmla="*/ 50684 h 8451320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3024" h="8400636">
                  <a:moveTo>
                    <a:pt x="16778" y="8400634"/>
                  </a:moveTo>
                  <a:lnTo>
                    <a:pt x="4872690" y="8400634"/>
                  </a:lnTo>
                  <a:lnTo>
                    <a:pt x="4872690" y="8400636"/>
                  </a:lnTo>
                  <a:lnTo>
                    <a:pt x="16778" y="8400636"/>
                  </a:lnTo>
                  <a:lnTo>
                    <a:pt x="16778" y="8400634"/>
                  </a:lnTo>
                  <a:close/>
                  <a:moveTo>
                    <a:pt x="0" y="0"/>
                  </a:moveTo>
                  <a:lnTo>
                    <a:pt x="4923024" y="0"/>
                  </a:lnTo>
                  <a:lnTo>
                    <a:pt x="4872690" y="3472502"/>
                  </a:lnTo>
                  <a:lnTo>
                    <a:pt x="2444734" y="2240469"/>
                  </a:lnTo>
                  <a:lnTo>
                    <a:pt x="16778" y="3472502"/>
                  </a:lnTo>
                  <a:cubicBezTo>
                    <a:pt x="16778" y="2067213"/>
                    <a:pt x="0" y="1405289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093E2E9-4057-3AFE-50E4-C89A59C82461}"/>
                </a:ext>
              </a:extLst>
            </p:cNvPr>
            <p:cNvSpPr txBox="1"/>
            <p:nvPr/>
          </p:nvSpPr>
          <p:spPr>
            <a:xfrm>
              <a:off x="2781925" y="2094631"/>
              <a:ext cx="1869443" cy="584775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Raising Purchase Order </a:t>
              </a:r>
            </a:p>
          </p:txBody>
        </p:sp>
        <p:sp>
          <p:nvSpPr>
            <p:cNvPr id="47" name="Freeform 1015">
              <a:extLst>
                <a:ext uri="{FF2B5EF4-FFF2-40B4-BE49-F238E27FC236}">
                  <a16:creationId xmlns:a16="http://schemas.microsoft.com/office/drawing/2014/main" id="{16EC12E5-48F2-89E2-C305-C96DCB49C49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3468697" y="1552929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74261D7-47BE-80C9-627F-3124A46B03B6}"/>
                </a:ext>
              </a:extLst>
            </p:cNvPr>
            <p:cNvSpPr/>
            <p:nvPr/>
          </p:nvSpPr>
          <p:spPr>
            <a:xfrm>
              <a:off x="2762646" y="4999173"/>
              <a:ext cx="1908000" cy="545972"/>
            </a:xfrm>
            <a:prstGeom prst="roundRect">
              <a:avLst/>
            </a:prstGeom>
            <a:solidFill>
              <a:schemeClr val="accent1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C09C31-B441-840E-A767-4F86861E1F2E}"/>
                </a:ext>
              </a:extLst>
            </p:cNvPr>
            <p:cNvSpPr txBox="1"/>
            <p:nvPr/>
          </p:nvSpPr>
          <p:spPr>
            <a:xfrm>
              <a:off x="2781801" y="4372605"/>
              <a:ext cx="1869690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accounts processes could be costing you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0EA8CB8-D6F8-2002-811C-82D845F0C462}"/>
                </a:ext>
              </a:extLst>
            </p:cNvPr>
            <p:cNvSpPr txBox="1"/>
            <p:nvPr/>
          </p:nvSpPr>
          <p:spPr>
            <a:xfrm>
              <a:off x="2762646" y="5118504"/>
              <a:ext cx="1908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valrpo</a:t>
              </a:r>
              <a:r>
                <a:rPr lang="en-GB" sz="20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4C48C09-9A97-7C0C-2506-51E356526F18}"/>
              </a:ext>
            </a:extLst>
          </p:cNvPr>
          <p:cNvGrpSpPr/>
          <p:nvPr/>
        </p:nvGrpSpPr>
        <p:grpSpPr>
          <a:xfrm>
            <a:off x="4912803" y="1556836"/>
            <a:ext cx="1918801" cy="3991330"/>
            <a:chOff x="4871238" y="1556836"/>
            <a:chExt cx="1918801" cy="3991330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83145D9-A5D5-4A29-9000-3FD97569E5F5}"/>
                </a:ext>
              </a:extLst>
            </p:cNvPr>
            <p:cNvSpPr/>
            <p:nvPr/>
          </p:nvSpPr>
          <p:spPr>
            <a:xfrm>
              <a:off x="4876638" y="4999173"/>
              <a:ext cx="1908000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Off-page Connector 9">
              <a:extLst>
                <a:ext uri="{FF2B5EF4-FFF2-40B4-BE49-F238E27FC236}">
                  <a16:creationId xmlns:a16="http://schemas.microsoft.com/office/drawing/2014/main" id="{A97AE63F-0C53-AB7A-E6A8-5650E994B32B}"/>
                </a:ext>
              </a:extLst>
            </p:cNvPr>
            <p:cNvSpPr/>
            <p:nvPr/>
          </p:nvSpPr>
          <p:spPr>
            <a:xfrm>
              <a:off x="4871238" y="1903894"/>
              <a:ext cx="1918800" cy="2548563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accounts  payable processes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Poor workflow customisation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8" name="Freeform 50">
              <a:extLst>
                <a:ext uri="{FF2B5EF4-FFF2-40B4-BE49-F238E27FC236}">
                  <a16:creationId xmlns:a16="http://schemas.microsoft.com/office/drawing/2014/main" id="{13C7AA69-72E1-AD20-DD7E-436E6E31F470}"/>
                </a:ext>
              </a:extLst>
            </p:cNvPr>
            <p:cNvSpPr/>
            <p:nvPr/>
          </p:nvSpPr>
          <p:spPr>
            <a:xfrm rot="10800000">
              <a:off x="4871239" y="2139161"/>
              <a:ext cx="1918800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34D05C-D2DC-8FEC-1A30-2541B1BBDE4B}"/>
                </a:ext>
              </a:extLst>
            </p:cNvPr>
            <p:cNvSpPr txBox="1"/>
            <p:nvPr/>
          </p:nvSpPr>
          <p:spPr>
            <a:xfrm>
              <a:off x="4873479" y="1629340"/>
              <a:ext cx="1914319" cy="1077218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  <a:p>
              <a:pPr algn="ctr"/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  <a:p>
              <a:pPr algn="ctr"/>
              <a:r>
                <a: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Purchase Order Approvals</a:t>
              </a:r>
            </a:p>
          </p:txBody>
        </p:sp>
        <p:sp>
          <p:nvSpPr>
            <p:cNvPr id="51" name="Freeform 1015">
              <a:extLst>
                <a:ext uri="{FF2B5EF4-FFF2-40B4-BE49-F238E27FC236}">
                  <a16:creationId xmlns:a16="http://schemas.microsoft.com/office/drawing/2014/main" id="{063F48A3-FD39-6FB1-4A70-698D0FF8C694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582689" y="1556836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CDBA8E2-2E49-D3DC-8F70-3EBC50517161}"/>
                </a:ext>
              </a:extLst>
            </p:cNvPr>
            <p:cNvSpPr txBox="1"/>
            <p:nvPr/>
          </p:nvSpPr>
          <p:spPr>
            <a:xfrm>
              <a:off x="4873479" y="4365181"/>
              <a:ext cx="1914319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accounts processes could be costing you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C634A47-D927-FE8D-6324-130A75E52781}"/>
                </a:ext>
              </a:extLst>
            </p:cNvPr>
            <p:cNvSpPr txBox="1"/>
            <p:nvPr/>
          </p:nvSpPr>
          <p:spPr>
            <a:xfrm>
              <a:off x="4885002" y="5118034"/>
              <a:ext cx="189127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valpoa</a:t>
              </a:r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43735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95326" y="5905124"/>
            <a:ext cx="103727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YOUR CURRENT PROCESS COSTS ARE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£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LY</a:t>
            </a:r>
            <a:endParaRPr lang="en-GB" sz="24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813920C-430B-3234-4CBE-A3267939523E}"/>
              </a:ext>
            </a:extLst>
          </p:cNvPr>
          <p:cNvGrpSpPr/>
          <p:nvPr/>
        </p:nvGrpSpPr>
        <p:grpSpPr>
          <a:xfrm>
            <a:off x="640932" y="1552929"/>
            <a:ext cx="1921713" cy="3992216"/>
            <a:chOff x="640932" y="1552929"/>
            <a:chExt cx="1921713" cy="3992216"/>
          </a:xfrm>
        </p:grpSpPr>
        <p:sp>
          <p:nvSpPr>
            <p:cNvPr id="41" name="Off-page Connector 9">
              <a:extLst>
                <a:ext uri="{FF2B5EF4-FFF2-40B4-BE49-F238E27FC236}">
                  <a16:creationId xmlns:a16="http://schemas.microsoft.com/office/drawing/2014/main" id="{579E8B31-C28B-B9F8-070D-943247388A6B}"/>
                </a:ext>
              </a:extLst>
            </p:cNvPr>
            <p:cNvSpPr/>
            <p:nvPr/>
          </p:nvSpPr>
          <p:spPr>
            <a:xfrm>
              <a:off x="640932" y="1903895"/>
              <a:ext cx="1918800" cy="2544656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Slow systems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data management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775A7557-207F-823B-8E7F-4AA7DB2E6D01}"/>
                </a:ext>
              </a:extLst>
            </p:cNvPr>
            <p:cNvSpPr/>
            <p:nvPr/>
          </p:nvSpPr>
          <p:spPr>
            <a:xfrm rot="10800000">
              <a:off x="643845" y="2130268"/>
              <a:ext cx="1918800" cy="2983678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16778 w 4872690"/>
                <a:gd name="connsiteY0" fmla="*/ 9143998 h 9144000"/>
                <a:gd name="connsiteX1" fmla="*/ 4872690 w 4872690"/>
                <a:gd name="connsiteY1" fmla="*/ 9143998 h 9144000"/>
                <a:gd name="connsiteX2" fmla="*/ 4872690 w 4872690"/>
                <a:gd name="connsiteY2" fmla="*/ 9144000 h 9144000"/>
                <a:gd name="connsiteX3" fmla="*/ 16778 w 4872690"/>
                <a:gd name="connsiteY3" fmla="*/ 9144000 h 9144000"/>
                <a:gd name="connsiteX4" fmla="*/ 16778 w 4872690"/>
                <a:gd name="connsiteY4" fmla="*/ 9143998 h 9144000"/>
                <a:gd name="connsiteX5" fmla="*/ 0 w 4872690"/>
                <a:gd name="connsiteY5" fmla="*/ 726469 h 9144000"/>
                <a:gd name="connsiteX6" fmla="*/ 4872690 w 4872690"/>
                <a:gd name="connsiteY6" fmla="*/ 0 h 9144000"/>
                <a:gd name="connsiteX7" fmla="*/ 4872690 w 4872690"/>
                <a:gd name="connsiteY7" fmla="*/ 4215866 h 9144000"/>
                <a:gd name="connsiteX8" fmla="*/ 2444734 w 4872690"/>
                <a:gd name="connsiteY8" fmla="*/ 2983833 h 9144000"/>
                <a:gd name="connsiteX9" fmla="*/ 16778 w 4872690"/>
                <a:gd name="connsiteY9" fmla="*/ 4215866 h 9144000"/>
                <a:gd name="connsiteX10" fmla="*/ 0 w 4872690"/>
                <a:gd name="connsiteY10" fmla="*/ 726469 h 9144000"/>
                <a:gd name="connsiteX0" fmla="*/ 16778 w 4889468"/>
                <a:gd name="connsiteY0" fmla="*/ 8468213 h 8468215"/>
                <a:gd name="connsiteX1" fmla="*/ 4872690 w 4889468"/>
                <a:gd name="connsiteY1" fmla="*/ 8468213 h 8468215"/>
                <a:gd name="connsiteX2" fmla="*/ 4872690 w 4889468"/>
                <a:gd name="connsiteY2" fmla="*/ 8468215 h 8468215"/>
                <a:gd name="connsiteX3" fmla="*/ 16778 w 4889468"/>
                <a:gd name="connsiteY3" fmla="*/ 8468215 h 8468215"/>
                <a:gd name="connsiteX4" fmla="*/ 16778 w 4889468"/>
                <a:gd name="connsiteY4" fmla="*/ 8468213 h 8468215"/>
                <a:gd name="connsiteX5" fmla="*/ 0 w 4889468"/>
                <a:gd name="connsiteY5" fmla="*/ 50684 h 8468215"/>
                <a:gd name="connsiteX6" fmla="*/ 4889468 w 4889468"/>
                <a:gd name="connsiteY6" fmla="*/ 0 h 8468215"/>
                <a:gd name="connsiteX7" fmla="*/ 4872690 w 4889468"/>
                <a:gd name="connsiteY7" fmla="*/ 3540081 h 8468215"/>
                <a:gd name="connsiteX8" fmla="*/ 2444734 w 4889468"/>
                <a:gd name="connsiteY8" fmla="*/ 2308048 h 8468215"/>
                <a:gd name="connsiteX9" fmla="*/ 16778 w 4889468"/>
                <a:gd name="connsiteY9" fmla="*/ 3540081 h 8468215"/>
                <a:gd name="connsiteX10" fmla="*/ 0 w 4889468"/>
                <a:gd name="connsiteY10" fmla="*/ 50684 h 8468215"/>
                <a:gd name="connsiteX0" fmla="*/ 16778 w 4889468"/>
                <a:gd name="connsiteY0" fmla="*/ 8417529 h 8417531"/>
                <a:gd name="connsiteX1" fmla="*/ 4872690 w 4889468"/>
                <a:gd name="connsiteY1" fmla="*/ 8417529 h 8417531"/>
                <a:gd name="connsiteX2" fmla="*/ 4872690 w 4889468"/>
                <a:gd name="connsiteY2" fmla="*/ 8417531 h 8417531"/>
                <a:gd name="connsiteX3" fmla="*/ 16778 w 4889468"/>
                <a:gd name="connsiteY3" fmla="*/ 8417531 h 8417531"/>
                <a:gd name="connsiteX4" fmla="*/ 16778 w 4889468"/>
                <a:gd name="connsiteY4" fmla="*/ 8417529 h 8417531"/>
                <a:gd name="connsiteX5" fmla="*/ 0 w 4889468"/>
                <a:gd name="connsiteY5" fmla="*/ 0 h 8417531"/>
                <a:gd name="connsiteX6" fmla="*/ 4889468 w 4889468"/>
                <a:gd name="connsiteY6" fmla="*/ 0 h 8417531"/>
                <a:gd name="connsiteX7" fmla="*/ 4872690 w 4889468"/>
                <a:gd name="connsiteY7" fmla="*/ 3489397 h 8417531"/>
                <a:gd name="connsiteX8" fmla="*/ 2444734 w 4889468"/>
                <a:gd name="connsiteY8" fmla="*/ 2257364 h 8417531"/>
                <a:gd name="connsiteX9" fmla="*/ 16778 w 4889468"/>
                <a:gd name="connsiteY9" fmla="*/ 3489397 h 8417531"/>
                <a:gd name="connsiteX10" fmla="*/ 0 w 4889468"/>
                <a:gd name="connsiteY10" fmla="*/ 0 h 841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89468" h="8417531">
                  <a:moveTo>
                    <a:pt x="16778" y="8417529"/>
                  </a:moveTo>
                  <a:lnTo>
                    <a:pt x="4872690" y="8417529"/>
                  </a:lnTo>
                  <a:lnTo>
                    <a:pt x="4872690" y="8417531"/>
                  </a:lnTo>
                  <a:lnTo>
                    <a:pt x="16778" y="8417531"/>
                  </a:lnTo>
                  <a:lnTo>
                    <a:pt x="16778" y="8417529"/>
                  </a:lnTo>
                  <a:close/>
                  <a:moveTo>
                    <a:pt x="0" y="0"/>
                  </a:moveTo>
                  <a:lnTo>
                    <a:pt x="4889468" y="0"/>
                  </a:lnTo>
                  <a:cubicBezTo>
                    <a:pt x="4883875" y="1180027"/>
                    <a:pt x="4878283" y="2309370"/>
                    <a:pt x="4872690" y="3489397"/>
                  </a:cubicBezTo>
                  <a:lnTo>
                    <a:pt x="2444734" y="2257364"/>
                  </a:lnTo>
                  <a:lnTo>
                    <a:pt x="16778" y="3489397"/>
                  </a:lnTo>
                  <a:cubicBezTo>
                    <a:pt x="16778" y="2084108"/>
                    <a:pt x="0" y="1405289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1E455A-2DE5-AA6B-952A-5F99CA73916D}"/>
                </a:ext>
              </a:extLst>
            </p:cNvPr>
            <p:cNvSpPr txBox="1"/>
            <p:nvPr/>
          </p:nvSpPr>
          <p:spPr>
            <a:xfrm>
              <a:off x="666366" y="2082991"/>
              <a:ext cx="1873758" cy="584775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IT finance systems </a:t>
              </a:r>
            </a:p>
          </p:txBody>
        </p:sp>
        <p:sp>
          <p:nvSpPr>
            <p:cNvPr id="43" name="Freeform 1015">
              <a:extLst>
                <a:ext uri="{FF2B5EF4-FFF2-40B4-BE49-F238E27FC236}">
                  <a16:creationId xmlns:a16="http://schemas.microsoft.com/office/drawing/2014/main" id="{5222BCAB-8DAE-9ECC-55ED-CAF94FD73E96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355296" y="1552929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39ED94A-B4FD-84A0-6CF0-1C23682FB399}"/>
                </a:ext>
              </a:extLst>
            </p:cNvPr>
            <p:cNvSpPr/>
            <p:nvPr/>
          </p:nvSpPr>
          <p:spPr>
            <a:xfrm>
              <a:off x="644952" y="4986527"/>
              <a:ext cx="1908000" cy="558618"/>
            </a:xfrm>
            <a:prstGeom prst="roundRect">
              <a:avLst/>
            </a:prstGeom>
            <a:solidFill>
              <a:schemeClr val="tx2">
                <a:alpha val="26000"/>
              </a:schemeClr>
            </a:solidFill>
            <a:ln>
              <a:solidFill>
                <a:srgbClr val="F15D2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9DF4247-E50B-19D8-DDEA-15B91EFA84A9}"/>
                </a:ext>
              </a:extLst>
            </p:cNvPr>
            <p:cNvSpPr txBox="1"/>
            <p:nvPr/>
          </p:nvSpPr>
          <p:spPr>
            <a:xfrm>
              <a:off x="666366" y="4383297"/>
              <a:ext cx="1873758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Outdated IT infrastructure costs could be costing you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8369866-8BC6-33CD-42B1-8C4AEA93FDD2}"/>
                </a:ext>
              </a:extLst>
            </p:cNvPr>
            <p:cNvSpPr txBox="1"/>
            <p:nvPr/>
          </p:nvSpPr>
          <p:spPr>
            <a:xfrm>
              <a:off x="649245" y="5123653"/>
              <a:ext cx="1908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itfinance</a:t>
              </a:r>
              <a:r>
                <a:rPr lang="en-GB" sz="200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F0A8551-1260-BA00-CEB9-2F1DFA3AC89D}"/>
              </a:ext>
            </a:extLst>
          </p:cNvPr>
          <p:cNvGrpSpPr/>
          <p:nvPr/>
        </p:nvGrpSpPr>
        <p:grpSpPr>
          <a:xfrm>
            <a:off x="7031443" y="1582040"/>
            <a:ext cx="1921948" cy="3969254"/>
            <a:chOff x="6973253" y="1582040"/>
            <a:chExt cx="1921948" cy="3969254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3A6339-EE20-5ED6-6696-7763D8C68FB0}"/>
                </a:ext>
              </a:extLst>
            </p:cNvPr>
            <p:cNvSpPr/>
            <p:nvPr/>
          </p:nvSpPr>
          <p:spPr>
            <a:xfrm>
              <a:off x="6980227" y="5002301"/>
              <a:ext cx="1908000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Off-page Connector 9">
              <a:extLst>
                <a:ext uri="{FF2B5EF4-FFF2-40B4-BE49-F238E27FC236}">
                  <a16:creationId xmlns:a16="http://schemas.microsoft.com/office/drawing/2014/main" id="{A01973A7-1FA4-0C98-249C-23CD8984ED1A}"/>
                </a:ext>
              </a:extLst>
            </p:cNvPr>
            <p:cNvSpPr/>
            <p:nvPr/>
          </p:nvSpPr>
          <p:spPr>
            <a:xfrm>
              <a:off x="6974827" y="1903894"/>
              <a:ext cx="1918800" cy="2544658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Time consuming processes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High risk of errors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9CD4A24-0FC5-F6C8-0A71-820A70E43CB1}"/>
                </a:ext>
              </a:extLst>
            </p:cNvPr>
            <p:cNvSpPr txBox="1"/>
            <p:nvPr/>
          </p:nvSpPr>
          <p:spPr>
            <a:xfrm>
              <a:off x="6974314" y="2130171"/>
              <a:ext cx="1919827" cy="584775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Coding invoice processes</a:t>
              </a:r>
            </a:p>
          </p:txBody>
        </p:sp>
        <p:sp>
          <p:nvSpPr>
            <p:cNvPr id="55" name="Freeform 1015">
              <a:extLst>
                <a:ext uri="{FF2B5EF4-FFF2-40B4-BE49-F238E27FC236}">
                  <a16:creationId xmlns:a16="http://schemas.microsoft.com/office/drawing/2014/main" id="{49379704-A7E9-6EF1-10D5-4FD212A90D8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7686278" y="1582040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4" name="Freeform 50">
              <a:extLst>
                <a:ext uri="{FF2B5EF4-FFF2-40B4-BE49-F238E27FC236}">
                  <a16:creationId xmlns:a16="http://schemas.microsoft.com/office/drawing/2014/main" id="{9F9B2520-FD51-DC24-704C-0BB7BDAC0376}"/>
                </a:ext>
              </a:extLst>
            </p:cNvPr>
            <p:cNvSpPr/>
            <p:nvPr/>
          </p:nvSpPr>
          <p:spPr>
            <a:xfrm rot="10800000">
              <a:off x="6974827" y="2135924"/>
              <a:ext cx="1918800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2B73898-242B-B542-A13B-5A46CF540B50}"/>
                </a:ext>
              </a:extLst>
            </p:cNvPr>
            <p:cNvSpPr txBox="1"/>
            <p:nvPr/>
          </p:nvSpPr>
          <p:spPr>
            <a:xfrm>
              <a:off x="6977068" y="4381097"/>
              <a:ext cx="1914319" cy="477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Coding processes could be costing you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7F0DF48-C88F-66C2-241D-A456E4C5498F}"/>
                </a:ext>
              </a:extLst>
            </p:cNvPr>
            <p:cNvSpPr txBox="1"/>
            <p:nvPr/>
          </p:nvSpPr>
          <p:spPr>
            <a:xfrm>
              <a:off x="6973253" y="5113482"/>
              <a:ext cx="19219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valcip</a:t>
              </a:r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EFFE14-7335-325C-3227-F53DD0F4C1A8}"/>
              </a:ext>
            </a:extLst>
          </p:cNvPr>
          <p:cNvGrpSpPr/>
          <p:nvPr/>
        </p:nvGrpSpPr>
        <p:grpSpPr>
          <a:xfrm>
            <a:off x="9080384" y="1567792"/>
            <a:ext cx="2094684" cy="3985399"/>
            <a:chOff x="9097010" y="1567792"/>
            <a:chExt cx="2094684" cy="3985399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1805B4A-2C0D-368E-E75D-FC2CDC15A66B}"/>
                </a:ext>
              </a:extLst>
            </p:cNvPr>
            <p:cNvSpPr/>
            <p:nvPr/>
          </p:nvSpPr>
          <p:spPr>
            <a:xfrm>
              <a:off x="9189787" y="5004198"/>
              <a:ext cx="1908000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Off-page Connector 9">
              <a:extLst>
                <a:ext uri="{FF2B5EF4-FFF2-40B4-BE49-F238E27FC236}">
                  <a16:creationId xmlns:a16="http://schemas.microsoft.com/office/drawing/2014/main" id="{CF4D6202-C07E-1976-8619-E66844709A39}"/>
                </a:ext>
              </a:extLst>
            </p:cNvPr>
            <p:cNvSpPr/>
            <p:nvPr/>
          </p:nvSpPr>
          <p:spPr>
            <a:xfrm>
              <a:off x="9184952" y="1886908"/>
              <a:ext cx="1918800" cy="2544658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Limited self-service capabilities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Lack of automation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466DEC-9423-B95B-0DAB-B91A852EC795}"/>
                </a:ext>
              </a:extLst>
            </p:cNvPr>
            <p:cNvSpPr txBox="1"/>
            <p:nvPr/>
          </p:nvSpPr>
          <p:spPr>
            <a:xfrm>
              <a:off x="9097010" y="2089349"/>
              <a:ext cx="2094684" cy="830997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Management of supplier and purchase invoices</a:t>
              </a:r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3" name="Freeform 1015">
              <a:extLst>
                <a:ext uri="{FF2B5EF4-FFF2-40B4-BE49-F238E27FC236}">
                  <a16:creationId xmlns:a16="http://schemas.microsoft.com/office/drawing/2014/main" id="{2DFBB6BE-A3C1-C95A-4287-54102AC9E82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9896403" y="1567792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14" name="Freeform 50">
              <a:extLst>
                <a:ext uri="{FF2B5EF4-FFF2-40B4-BE49-F238E27FC236}">
                  <a16:creationId xmlns:a16="http://schemas.microsoft.com/office/drawing/2014/main" id="{37A97CCD-C015-E1E9-40B7-A97B59A03B2B}"/>
                </a:ext>
              </a:extLst>
            </p:cNvPr>
            <p:cNvSpPr/>
            <p:nvPr/>
          </p:nvSpPr>
          <p:spPr>
            <a:xfrm rot="10800000">
              <a:off x="9184952" y="2134927"/>
              <a:ext cx="1918800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8087AEC-86F9-E8B2-C10B-A49DA1E431AE}"/>
                </a:ext>
              </a:extLst>
            </p:cNvPr>
            <p:cNvSpPr txBox="1"/>
            <p:nvPr/>
          </p:nvSpPr>
          <p:spPr>
            <a:xfrm>
              <a:off x="9187193" y="4351351"/>
              <a:ext cx="1914319" cy="477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Supplier management could be costing you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58C2988-077F-715B-4765-2E7B0D4C1F34}"/>
                </a:ext>
              </a:extLst>
            </p:cNvPr>
            <p:cNvSpPr txBox="1"/>
            <p:nvPr/>
          </p:nvSpPr>
          <p:spPr>
            <a:xfrm>
              <a:off x="9197865" y="5114320"/>
              <a:ext cx="189297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mspi</a:t>
              </a:r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3669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/>
              <a:t>DOING NOTHING IS NOT AN OPTION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CD4A24-0FC5-F6C8-0A71-820A70E43CB1}"/>
              </a:ext>
            </a:extLst>
          </p:cNvPr>
          <p:cNvSpPr txBox="1"/>
          <p:nvPr/>
        </p:nvSpPr>
        <p:spPr>
          <a:xfrm>
            <a:off x="6855314" y="2075256"/>
            <a:ext cx="2231324" cy="830997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GB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Customer Invoicing &amp; Finance Workflow</a:t>
            </a:r>
            <a:endParaRPr lang="en-US" sz="1600" b="1" dirty="0"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DB37B9-37E7-B851-DABF-B428C6026ADB}"/>
              </a:ext>
            </a:extLst>
          </p:cNvPr>
          <p:cNvSpPr txBox="1"/>
          <p:nvPr/>
        </p:nvSpPr>
        <p:spPr>
          <a:xfrm>
            <a:off x="6952097" y="4521222"/>
            <a:ext cx="2424554" cy="47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GB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Lack of self-service and poor reporting could be costing you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9F0A832-F1F3-1479-819D-E11524CF6375}"/>
              </a:ext>
            </a:extLst>
          </p:cNvPr>
          <p:cNvGrpSpPr/>
          <p:nvPr/>
        </p:nvGrpSpPr>
        <p:grpSpPr>
          <a:xfrm>
            <a:off x="2773130" y="1552929"/>
            <a:ext cx="1918801" cy="3992216"/>
            <a:chOff x="2756504" y="1552929"/>
            <a:chExt cx="1918801" cy="3992216"/>
          </a:xfrm>
        </p:grpSpPr>
        <p:sp>
          <p:nvSpPr>
            <p:cNvPr id="45" name="Off-page Connector 9">
              <a:extLst>
                <a:ext uri="{FF2B5EF4-FFF2-40B4-BE49-F238E27FC236}">
                  <a16:creationId xmlns:a16="http://schemas.microsoft.com/office/drawing/2014/main" id="{14F02441-381E-E675-0973-5995D3C09337}"/>
                </a:ext>
              </a:extLst>
            </p:cNvPr>
            <p:cNvSpPr/>
            <p:nvPr/>
          </p:nvSpPr>
          <p:spPr>
            <a:xfrm>
              <a:off x="2756504" y="1903894"/>
              <a:ext cx="1918800" cy="2544655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Standardised dashboard and reporting functionality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Poor formatting and drill down ability </a:t>
              </a:r>
            </a:p>
          </p:txBody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9D6AF1DB-D2A2-3A99-8911-3637D8BF1298}"/>
                </a:ext>
              </a:extLst>
            </p:cNvPr>
            <p:cNvSpPr/>
            <p:nvPr/>
          </p:nvSpPr>
          <p:spPr>
            <a:xfrm rot="10800000">
              <a:off x="2756505" y="2025496"/>
              <a:ext cx="1918800" cy="3096761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16778 w 4872690"/>
                <a:gd name="connsiteY0" fmla="*/ 9143998 h 9144000"/>
                <a:gd name="connsiteX1" fmla="*/ 4872690 w 4872690"/>
                <a:gd name="connsiteY1" fmla="*/ 9143998 h 9144000"/>
                <a:gd name="connsiteX2" fmla="*/ 4872690 w 4872690"/>
                <a:gd name="connsiteY2" fmla="*/ 9144000 h 9144000"/>
                <a:gd name="connsiteX3" fmla="*/ 16778 w 4872690"/>
                <a:gd name="connsiteY3" fmla="*/ 9144000 h 9144000"/>
                <a:gd name="connsiteX4" fmla="*/ 16778 w 4872690"/>
                <a:gd name="connsiteY4" fmla="*/ 9143998 h 9144000"/>
                <a:gd name="connsiteX5" fmla="*/ 0 w 4872690"/>
                <a:gd name="connsiteY5" fmla="*/ 743364 h 9144000"/>
                <a:gd name="connsiteX6" fmla="*/ 4872690 w 4872690"/>
                <a:gd name="connsiteY6" fmla="*/ 0 h 9144000"/>
                <a:gd name="connsiteX7" fmla="*/ 4872690 w 4872690"/>
                <a:gd name="connsiteY7" fmla="*/ 4215866 h 9144000"/>
                <a:gd name="connsiteX8" fmla="*/ 2444734 w 4872690"/>
                <a:gd name="connsiteY8" fmla="*/ 2983833 h 9144000"/>
                <a:gd name="connsiteX9" fmla="*/ 16778 w 4872690"/>
                <a:gd name="connsiteY9" fmla="*/ 4215866 h 9144000"/>
                <a:gd name="connsiteX10" fmla="*/ 0 w 4872690"/>
                <a:gd name="connsiteY10" fmla="*/ 743364 h 9144000"/>
                <a:gd name="connsiteX0" fmla="*/ 16778 w 4872690"/>
                <a:gd name="connsiteY0" fmla="*/ 8400634 h 8400636"/>
                <a:gd name="connsiteX1" fmla="*/ 4872690 w 4872690"/>
                <a:gd name="connsiteY1" fmla="*/ 8400634 h 8400636"/>
                <a:gd name="connsiteX2" fmla="*/ 4872690 w 4872690"/>
                <a:gd name="connsiteY2" fmla="*/ 8400636 h 8400636"/>
                <a:gd name="connsiteX3" fmla="*/ 16778 w 4872690"/>
                <a:gd name="connsiteY3" fmla="*/ 8400636 h 8400636"/>
                <a:gd name="connsiteX4" fmla="*/ 16778 w 4872690"/>
                <a:gd name="connsiteY4" fmla="*/ 8400634 h 8400636"/>
                <a:gd name="connsiteX5" fmla="*/ 0 w 4872690"/>
                <a:gd name="connsiteY5" fmla="*/ 0 h 8400636"/>
                <a:gd name="connsiteX6" fmla="*/ 4872690 w 4872690"/>
                <a:gd name="connsiteY6" fmla="*/ 33789 h 8400636"/>
                <a:gd name="connsiteX7" fmla="*/ 4872690 w 4872690"/>
                <a:gd name="connsiteY7" fmla="*/ 3472502 h 8400636"/>
                <a:gd name="connsiteX8" fmla="*/ 2444734 w 4872690"/>
                <a:gd name="connsiteY8" fmla="*/ 2240469 h 8400636"/>
                <a:gd name="connsiteX9" fmla="*/ 16778 w 4872690"/>
                <a:gd name="connsiteY9" fmla="*/ 3472502 h 8400636"/>
                <a:gd name="connsiteX10" fmla="*/ 0 w 4872690"/>
                <a:gd name="connsiteY10" fmla="*/ 0 h 8400636"/>
                <a:gd name="connsiteX0" fmla="*/ 16778 w 4906246"/>
                <a:gd name="connsiteY0" fmla="*/ 8400634 h 8400636"/>
                <a:gd name="connsiteX1" fmla="*/ 4872690 w 4906246"/>
                <a:gd name="connsiteY1" fmla="*/ 8400634 h 8400636"/>
                <a:gd name="connsiteX2" fmla="*/ 4872690 w 4906246"/>
                <a:gd name="connsiteY2" fmla="*/ 8400636 h 8400636"/>
                <a:gd name="connsiteX3" fmla="*/ 16778 w 4906246"/>
                <a:gd name="connsiteY3" fmla="*/ 8400636 h 8400636"/>
                <a:gd name="connsiteX4" fmla="*/ 16778 w 4906246"/>
                <a:gd name="connsiteY4" fmla="*/ 8400634 h 8400636"/>
                <a:gd name="connsiteX5" fmla="*/ 0 w 4906246"/>
                <a:gd name="connsiteY5" fmla="*/ 0 h 8400636"/>
                <a:gd name="connsiteX6" fmla="*/ 4906246 w 4906246"/>
                <a:gd name="connsiteY6" fmla="*/ 16895 h 8400636"/>
                <a:gd name="connsiteX7" fmla="*/ 4872690 w 4906246"/>
                <a:gd name="connsiteY7" fmla="*/ 3472502 h 8400636"/>
                <a:gd name="connsiteX8" fmla="*/ 2444734 w 4906246"/>
                <a:gd name="connsiteY8" fmla="*/ 2240469 h 8400636"/>
                <a:gd name="connsiteX9" fmla="*/ 16778 w 4906246"/>
                <a:gd name="connsiteY9" fmla="*/ 3472502 h 8400636"/>
                <a:gd name="connsiteX10" fmla="*/ 0 w 4906246"/>
                <a:gd name="connsiteY10" fmla="*/ 0 h 8400636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06246"/>
                <a:gd name="connsiteY0" fmla="*/ 8451318 h 8451320"/>
                <a:gd name="connsiteX1" fmla="*/ 4872690 w 4906246"/>
                <a:gd name="connsiteY1" fmla="*/ 8451318 h 8451320"/>
                <a:gd name="connsiteX2" fmla="*/ 4872690 w 4906246"/>
                <a:gd name="connsiteY2" fmla="*/ 8451320 h 8451320"/>
                <a:gd name="connsiteX3" fmla="*/ 16778 w 4906246"/>
                <a:gd name="connsiteY3" fmla="*/ 8451320 h 8451320"/>
                <a:gd name="connsiteX4" fmla="*/ 16778 w 4906246"/>
                <a:gd name="connsiteY4" fmla="*/ 8451318 h 8451320"/>
                <a:gd name="connsiteX5" fmla="*/ 0 w 4906246"/>
                <a:gd name="connsiteY5" fmla="*/ 50684 h 8451320"/>
                <a:gd name="connsiteX6" fmla="*/ 4906246 w 4906246"/>
                <a:gd name="connsiteY6" fmla="*/ 0 h 8451320"/>
                <a:gd name="connsiteX7" fmla="*/ 4872690 w 4906246"/>
                <a:gd name="connsiteY7" fmla="*/ 3523186 h 8451320"/>
                <a:gd name="connsiteX8" fmla="*/ 2444734 w 4906246"/>
                <a:gd name="connsiteY8" fmla="*/ 2291153 h 8451320"/>
                <a:gd name="connsiteX9" fmla="*/ 16778 w 4906246"/>
                <a:gd name="connsiteY9" fmla="*/ 3523186 h 8451320"/>
                <a:gd name="connsiteX10" fmla="*/ 0 w 4906246"/>
                <a:gd name="connsiteY10" fmla="*/ 50684 h 8451320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3024" h="8400636">
                  <a:moveTo>
                    <a:pt x="16778" y="8400634"/>
                  </a:moveTo>
                  <a:lnTo>
                    <a:pt x="4872690" y="8400634"/>
                  </a:lnTo>
                  <a:lnTo>
                    <a:pt x="4872690" y="8400636"/>
                  </a:lnTo>
                  <a:lnTo>
                    <a:pt x="16778" y="8400636"/>
                  </a:lnTo>
                  <a:lnTo>
                    <a:pt x="16778" y="8400634"/>
                  </a:lnTo>
                  <a:close/>
                  <a:moveTo>
                    <a:pt x="0" y="0"/>
                  </a:moveTo>
                  <a:lnTo>
                    <a:pt x="4923024" y="0"/>
                  </a:lnTo>
                  <a:lnTo>
                    <a:pt x="4872690" y="3472502"/>
                  </a:lnTo>
                  <a:lnTo>
                    <a:pt x="2444734" y="2240469"/>
                  </a:lnTo>
                  <a:lnTo>
                    <a:pt x="16778" y="3472502"/>
                  </a:lnTo>
                  <a:cubicBezTo>
                    <a:pt x="16778" y="2067213"/>
                    <a:pt x="0" y="1405289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093E2E9-4057-3AFE-50E4-C89A59C82461}"/>
                </a:ext>
              </a:extLst>
            </p:cNvPr>
            <p:cNvSpPr txBox="1"/>
            <p:nvPr/>
          </p:nvSpPr>
          <p:spPr>
            <a:xfrm>
              <a:off x="2781183" y="2082013"/>
              <a:ext cx="1869443" cy="830997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Finance query management &amp; reporting</a:t>
              </a:r>
            </a:p>
          </p:txBody>
        </p:sp>
        <p:sp>
          <p:nvSpPr>
            <p:cNvPr id="47" name="Freeform 1015">
              <a:extLst>
                <a:ext uri="{FF2B5EF4-FFF2-40B4-BE49-F238E27FC236}">
                  <a16:creationId xmlns:a16="http://schemas.microsoft.com/office/drawing/2014/main" id="{16EC12E5-48F2-89E2-C305-C96DCB49C49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3467955" y="1552929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74261D7-47BE-80C9-627F-3124A46B03B6}"/>
                </a:ext>
              </a:extLst>
            </p:cNvPr>
            <p:cNvSpPr/>
            <p:nvPr/>
          </p:nvSpPr>
          <p:spPr>
            <a:xfrm>
              <a:off x="2761904" y="4999173"/>
              <a:ext cx="1908000" cy="545972"/>
            </a:xfrm>
            <a:prstGeom prst="roundRect">
              <a:avLst/>
            </a:prstGeom>
            <a:solidFill>
              <a:schemeClr val="accent1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C09C31-B441-840E-A767-4F86861E1F2E}"/>
                </a:ext>
              </a:extLst>
            </p:cNvPr>
            <p:cNvSpPr txBox="1"/>
            <p:nvPr/>
          </p:nvSpPr>
          <p:spPr>
            <a:xfrm>
              <a:off x="2781059" y="4372605"/>
              <a:ext cx="1869690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finance reporting could be costing you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0EA8CB8-D6F8-2002-811C-82D845F0C462}"/>
                </a:ext>
              </a:extLst>
            </p:cNvPr>
            <p:cNvSpPr txBox="1"/>
            <p:nvPr/>
          </p:nvSpPr>
          <p:spPr>
            <a:xfrm>
              <a:off x="2763363" y="5143443"/>
              <a:ext cx="19050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valfqmr</a:t>
              </a:r>
              <a:r>
                <a:rPr lang="en-GB" sz="20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36B47D-43D9-185A-98CD-D65837B25AAE}"/>
              </a:ext>
            </a:extLst>
          </p:cNvPr>
          <p:cNvGrpSpPr/>
          <p:nvPr/>
        </p:nvGrpSpPr>
        <p:grpSpPr>
          <a:xfrm>
            <a:off x="4912447" y="1556836"/>
            <a:ext cx="1918801" cy="3991330"/>
            <a:chOff x="4870882" y="1556836"/>
            <a:chExt cx="1918801" cy="3991330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83145D9-A5D5-4A29-9000-3FD97569E5F5}"/>
                </a:ext>
              </a:extLst>
            </p:cNvPr>
            <p:cNvSpPr/>
            <p:nvPr/>
          </p:nvSpPr>
          <p:spPr>
            <a:xfrm>
              <a:off x="4876282" y="4999173"/>
              <a:ext cx="1908000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Off-page Connector 9">
              <a:extLst>
                <a:ext uri="{FF2B5EF4-FFF2-40B4-BE49-F238E27FC236}">
                  <a16:creationId xmlns:a16="http://schemas.microsoft.com/office/drawing/2014/main" id="{A97AE63F-0C53-AB7A-E6A8-5650E994B32B}"/>
                </a:ext>
              </a:extLst>
            </p:cNvPr>
            <p:cNvSpPr/>
            <p:nvPr/>
          </p:nvSpPr>
          <p:spPr>
            <a:xfrm>
              <a:off x="4870882" y="1903894"/>
              <a:ext cx="1918800" cy="2548563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processes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Lack of self-serve solutions</a:t>
              </a:r>
            </a:p>
          </p:txBody>
        </p:sp>
        <p:sp>
          <p:nvSpPr>
            <p:cNvPr id="48" name="Freeform 50">
              <a:extLst>
                <a:ext uri="{FF2B5EF4-FFF2-40B4-BE49-F238E27FC236}">
                  <a16:creationId xmlns:a16="http://schemas.microsoft.com/office/drawing/2014/main" id="{13C7AA69-72E1-AD20-DD7E-436E6E31F470}"/>
                </a:ext>
              </a:extLst>
            </p:cNvPr>
            <p:cNvSpPr/>
            <p:nvPr/>
          </p:nvSpPr>
          <p:spPr>
            <a:xfrm rot="10800000">
              <a:off x="4870883" y="2122536"/>
              <a:ext cx="1918800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34D05C-D2DC-8FEC-1A30-2541B1BBDE4B}"/>
                </a:ext>
              </a:extLst>
            </p:cNvPr>
            <p:cNvSpPr txBox="1"/>
            <p:nvPr/>
          </p:nvSpPr>
          <p:spPr>
            <a:xfrm>
              <a:off x="4873123" y="1590252"/>
              <a:ext cx="1914319" cy="1323439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  <a:p>
              <a:pPr algn="ctr"/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  <a:p>
              <a:pPr algn="ctr"/>
              <a:r>
                <a: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Debt collection administration processes</a:t>
              </a:r>
            </a:p>
          </p:txBody>
        </p:sp>
        <p:sp>
          <p:nvSpPr>
            <p:cNvPr id="51" name="Freeform 1015">
              <a:extLst>
                <a:ext uri="{FF2B5EF4-FFF2-40B4-BE49-F238E27FC236}">
                  <a16:creationId xmlns:a16="http://schemas.microsoft.com/office/drawing/2014/main" id="{063F48A3-FD39-6FB1-4A70-698D0FF8C694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582333" y="1556836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CDBA8E2-2E49-D3DC-8F70-3EBC50517161}"/>
                </a:ext>
              </a:extLst>
            </p:cNvPr>
            <p:cNvSpPr txBox="1"/>
            <p:nvPr/>
          </p:nvSpPr>
          <p:spPr>
            <a:xfrm>
              <a:off x="4873123" y="4365181"/>
              <a:ext cx="1914319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Debt collection processes could be costing you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C634A47-D927-FE8D-6324-130A75E52781}"/>
                </a:ext>
              </a:extLst>
            </p:cNvPr>
            <p:cNvSpPr txBox="1"/>
            <p:nvPr/>
          </p:nvSpPr>
          <p:spPr>
            <a:xfrm>
              <a:off x="4884646" y="5118034"/>
              <a:ext cx="189127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valdcap</a:t>
              </a:r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44265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78699" y="5904972"/>
            <a:ext cx="10411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YOUR CURRENT PROCESS COSTS ARE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£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LY</a:t>
            </a:r>
            <a:endParaRPr lang="en-GB" sz="24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F786152-FEAF-A170-B663-448B52CE968F}"/>
              </a:ext>
            </a:extLst>
          </p:cNvPr>
          <p:cNvGrpSpPr/>
          <p:nvPr/>
        </p:nvGrpSpPr>
        <p:grpSpPr>
          <a:xfrm>
            <a:off x="644200" y="1552929"/>
            <a:ext cx="1918800" cy="3992216"/>
            <a:chOff x="644200" y="1552929"/>
            <a:chExt cx="1918800" cy="3992216"/>
          </a:xfrm>
        </p:grpSpPr>
        <p:sp>
          <p:nvSpPr>
            <p:cNvPr id="41" name="Off-page Connector 9">
              <a:extLst>
                <a:ext uri="{FF2B5EF4-FFF2-40B4-BE49-F238E27FC236}">
                  <a16:creationId xmlns:a16="http://schemas.microsoft.com/office/drawing/2014/main" id="{579E8B31-C28B-B9F8-070D-943247388A6B}"/>
                </a:ext>
              </a:extLst>
            </p:cNvPr>
            <p:cNvSpPr/>
            <p:nvPr/>
          </p:nvSpPr>
          <p:spPr>
            <a:xfrm>
              <a:off x="644200" y="1903895"/>
              <a:ext cx="1918800" cy="2544656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Ineffective authorisation processes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Uncontrolled spend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775A7557-207F-823B-8E7F-4AA7DB2E6D01}"/>
                </a:ext>
              </a:extLst>
            </p:cNvPr>
            <p:cNvSpPr/>
            <p:nvPr/>
          </p:nvSpPr>
          <p:spPr>
            <a:xfrm rot="10800000">
              <a:off x="644200" y="2072848"/>
              <a:ext cx="1918800" cy="3041098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16778 w 4872690"/>
                <a:gd name="connsiteY0" fmla="*/ 9143998 h 9144000"/>
                <a:gd name="connsiteX1" fmla="*/ 4872690 w 4872690"/>
                <a:gd name="connsiteY1" fmla="*/ 9143998 h 9144000"/>
                <a:gd name="connsiteX2" fmla="*/ 4872690 w 4872690"/>
                <a:gd name="connsiteY2" fmla="*/ 9144000 h 9144000"/>
                <a:gd name="connsiteX3" fmla="*/ 16778 w 4872690"/>
                <a:gd name="connsiteY3" fmla="*/ 9144000 h 9144000"/>
                <a:gd name="connsiteX4" fmla="*/ 16778 w 4872690"/>
                <a:gd name="connsiteY4" fmla="*/ 9143998 h 9144000"/>
                <a:gd name="connsiteX5" fmla="*/ 0 w 4872690"/>
                <a:gd name="connsiteY5" fmla="*/ 726469 h 9144000"/>
                <a:gd name="connsiteX6" fmla="*/ 4872690 w 4872690"/>
                <a:gd name="connsiteY6" fmla="*/ 0 h 9144000"/>
                <a:gd name="connsiteX7" fmla="*/ 4872690 w 4872690"/>
                <a:gd name="connsiteY7" fmla="*/ 4215866 h 9144000"/>
                <a:gd name="connsiteX8" fmla="*/ 2444734 w 4872690"/>
                <a:gd name="connsiteY8" fmla="*/ 2983833 h 9144000"/>
                <a:gd name="connsiteX9" fmla="*/ 16778 w 4872690"/>
                <a:gd name="connsiteY9" fmla="*/ 4215866 h 9144000"/>
                <a:gd name="connsiteX10" fmla="*/ 0 w 4872690"/>
                <a:gd name="connsiteY10" fmla="*/ 726469 h 9144000"/>
                <a:gd name="connsiteX0" fmla="*/ 16778 w 4889468"/>
                <a:gd name="connsiteY0" fmla="*/ 8468213 h 8468215"/>
                <a:gd name="connsiteX1" fmla="*/ 4872690 w 4889468"/>
                <a:gd name="connsiteY1" fmla="*/ 8468213 h 8468215"/>
                <a:gd name="connsiteX2" fmla="*/ 4872690 w 4889468"/>
                <a:gd name="connsiteY2" fmla="*/ 8468215 h 8468215"/>
                <a:gd name="connsiteX3" fmla="*/ 16778 w 4889468"/>
                <a:gd name="connsiteY3" fmla="*/ 8468215 h 8468215"/>
                <a:gd name="connsiteX4" fmla="*/ 16778 w 4889468"/>
                <a:gd name="connsiteY4" fmla="*/ 8468213 h 8468215"/>
                <a:gd name="connsiteX5" fmla="*/ 0 w 4889468"/>
                <a:gd name="connsiteY5" fmla="*/ 50684 h 8468215"/>
                <a:gd name="connsiteX6" fmla="*/ 4889468 w 4889468"/>
                <a:gd name="connsiteY6" fmla="*/ 0 h 8468215"/>
                <a:gd name="connsiteX7" fmla="*/ 4872690 w 4889468"/>
                <a:gd name="connsiteY7" fmla="*/ 3540081 h 8468215"/>
                <a:gd name="connsiteX8" fmla="*/ 2444734 w 4889468"/>
                <a:gd name="connsiteY8" fmla="*/ 2308048 h 8468215"/>
                <a:gd name="connsiteX9" fmla="*/ 16778 w 4889468"/>
                <a:gd name="connsiteY9" fmla="*/ 3540081 h 8468215"/>
                <a:gd name="connsiteX10" fmla="*/ 0 w 4889468"/>
                <a:gd name="connsiteY10" fmla="*/ 50684 h 8468215"/>
                <a:gd name="connsiteX0" fmla="*/ 16778 w 4889468"/>
                <a:gd name="connsiteY0" fmla="*/ 8417529 h 8417531"/>
                <a:gd name="connsiteX1" fmla="*/ 4872690 w 4889468"/>
                <a:gd name="connsiteY1" fmla="*/ 8417529 h 8417531"/>
                <a:gd name="connsiteX2" fmla="*/ 4872690 w 4889468"/>
                <a:gd name="connsiteY2" fmla="*/ 8417531 h 8417531"/>
                <a:gd name="connsiteX3" fmla="*/ 16778 w 4889468"/>
                <a:gd name="connsiteY3" fmla="*/ 8417531 h 8417531"/>
                <a:gd name="connsiteX4" fmla="*/ 16778 w 4889468"/>
                <a:gd name="connsiteY4" fmla="*/ 8417529 h 8417531"/>
                <a:gd name="connsiteX5" fmla="*/ 0 w 4889468"/>
                <a:gd name="connsiteY5" fmla="*/ 0 h 8417531"/>
                <a:gd name="connsiteX6" fmla="*/ 4889468 w 4889468"/>
                <a:gd name="connsiteY6" fmla="*/ 0 h 8417531"/>
                <a:gd name="connsiteX7" fmla="*/ 4872690 w 4889468"/>
                <a:gd name="connsiteY7" fmla="*/ 3489397 h 8417531"/>
                <a:gd name="connsiteX8" fmla="*/ 2444734 w 4889468"/>
                <a:gd name="connsiteY8" fmla="*/ 2257364 h 8417531"/>
                <a:gd name="connsiteX9" fmla="*/ 16778 w 4889468"/>
                <a:gd name="connsiteY9" fmla="*/ 3489397 h 8417531"/>
                <a:gd name="connsiteX10" fmla="*/ 0 w 4889468"/>
                <a:gd name="connsiteY10" fmla="*/ 0 h 841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89468" h="8417531">
                  <a:moveTo>
                    <a:pt x="16778" y="8417529"/>
                  </a:moveTo>
                  <a:lnTo>
                    <a:pt x="4872690" y="8417529"/>
                  </a:lnTo>
                  <a:lnTo>
                    <a:pt x="4872690" y="8417531"/>
                  </a:lnTo>
                  <a:lnTo>
                    <a:pt x="16778" y="8417531"/>
                  </a:lnTo>
                  <a:lnTo>
                    <a:pt x="16778" y="8417529"/>
                  </a:lnTo>
                  <a:close/>
                  <a:moveTo>
                    <a:pt x="0" y="0"/>
                  </a:moveTo>
                  <a:lnTo>
                    <a:pt x="4889468" y="0"/>
                  </a:lnTo>
                  <a:cubicBezTo>
                    <a:pt x="4883875" y="1180027"/>
                    <a:pt x="4878283" y="2309370"/>
                    <a:pt x="4872690" y="3489397"/>
                  </a:cubicBezTo>
                  <a:lnTo>
                    <a:pt x="2444734" y="2257364"/>
                  </a:lnTo>
                  <a:lnTo>
                    <a:pt x="16778" y="3489397"/>
                  </a:lnTo>
                  <a:cubicBezTo>
                    <a:pt x="16778" y="2084108"/>
                    <a:pt x="0" y="1405289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1E455A-2DE5-AA6B-952A-5F99CA73916D}"/>
                </a:ext>
              </a:extLst>
            </p:cNvPr>
            <p:cNvSpPr txBox="1"/>
            <p:nvPr/>
          </p:nvSpPr>
          <p:spPr>
            <a:xfrm>
              <a:off x="666721" y="2082991"/>
              <a:ext cx="1873758" cy="584775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Managing spend leakage </a:t>
              </a:r>
            </a:p>
          </p:txBody>
        </p:sp>
        <p:sp>
          <p:nvSpPr>
            <p:cNvPr id="43" name="Freeform 1015">
              <a:extLst>
                <a:ext uri="{FF2B5EF4-FFF2-40B4-BE49-F238E27FC236}">
                  <a16:creationId xmlns:a16="http://schemas.microsoft.com/office/drawing/2014/main" id="{5222BCAB-8DAE-9ECC-55ED-CAF94FD73E96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355651" y="1552929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39ED94A-B4FD-84A0-6CF0-1C23682FB399}"/>
                </a:ext>
              </a:extLst>
            </p:cNvPr>
            <p:cNvSpPr/>
            <p:nvPr/>
          </p:nvSpPr>
          <p:spPr>
            <a:xfrm>
              <a:off x="649600" y="4986527"/>
              <a:ext cx="1908000" cy="558618"/>
            </a:xfrm>
            <a:prstGeom prst="roundRect">
              <a:avLst/>
            </a:prstGeom>
            <a:solidFill>
              <a:schemeClr val="tx2">
                <a:alpha val="26000"/>
              </a:schemeClr>
            </a:solidFill>
            <a:ln>
              <a:solidFill>
                <a:srgbClr val="F15D2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9DF4247-E50B-19D8-DDEA-15B91EFA84A9}"/>
                </a:ext>
              </a:extLst>
            </p:cNvPr>
            <p:cNvSpPr txBox="1"/>
            <p:nvPr/>
          </p:nvSpPr>
          <p:spPr>
            <a:xfrm>
              <a:off x="666721" y="4383297"/>
              <a:ext cx="1873758" cy="477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Spend leakage could be costing you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8369866-8BC6-33CD-42B1-8C4AEA93FDD2}"/>
                </a:ext>
              </a:extLst>
            </p:cNvPr>
            <p:cNvSpPr txBox="1"/>
            <p:nvPr/>
          </p:nvSpPr>
          <p:spPr>
            <a:xfrm>
              <a:off x="651059" y="5140279"/>
              <a:ext cx="19050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valmsl</a:t>
              </a:r>
              <a:r>
                <a:rPr lang="en-GB" sz="200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ED103D-2B59-253D-574C-3CF94ADF0C56}"/>
              </a:ext>
            </a:extLst>
          </p:cNvPr>
          <p:cNvGrpSpPr/>
          <p:nvPr/>
        </p:nvGrpSpPr>
        <p:grpSpPr>
          <a:xfrm>
            <a:off x="7043253" y="1573727"/>
            <a:ext cx="1921948" cy="3981503"/>
            <a:chOff x="6973186" y="1582040"/>
            <a:chExt cx="1921948" cy="3981503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3A6339-EE20-5ED6-6696-7763D8C68FB0}"/>
                </a:ext>
              </a:extLst>
            </p:cNvPr>
            <p:cNvSpPr/>
            <p:nvPr/>
          </p:nvSpPr>
          <p:spPr>
            <a:xfrm>
              <a:off x="6980160" y="5014550"/>
              <a:ext cx="1908000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Off-page Connector 9">
              <a:extLst>
                <a:ext uri="{FF2B5EF4-FFF2-40B4-BE49-F238E27FC236}">
                  <a16:creationId xmlns:a16="http://schemas.microsoft.com/office/drawing/2014/main" id="{A01973A7-1FA4-0C98-249C-23CD8984ED1A}"/>
                </a:ext>
              </a:extLst>
            </p:cNvPr>
            <p:cNvSpPr/>
            <p:nvPr/>
          </p:nvSpPr>
          <p:spPr>
            <a:xfrm>
              <a:off x="6974760" y="1903894"/>
              <a:ext cx="1918800" cy="2544658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Slow processes due to poorly configured workflows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automation</a:t>
              </a:r>
            </a:p>
          </p:txBody>
        </p:sp>
        <p:sp>
          <p:nvSpPr>
            <p:cNvPr id="55" name="Freeform 1015">
              <a:extLst>
                <a:ext uri="{FF2B5EF4-FFF2-40B4-BE49-F238E27FC236}">
                  <a16:creationId xmlns:a16="http://schemas.microsoft.com/office/drawing/2014/main" id="{49379704-A7E9-6EF1-10D5-4FD212A90D8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7686211" y="1582040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4" name="Freeform 50">
              <a:extLst>
                <a:ext uri="{FF2B5EF4-FFF2-40B4-BE49-F238E27FC236}">
                  <a16:creationId xmlns:a16="http://schemas.microsoft.com/office/drawing/2014/main" id="{9F9B2520-FD51-DC24-704C-0BB7BDAC0376}"/>
                </a:ext>
              </a:extLst>
            </p:cNvPr>
            <p:cNvSpPr/>
            <p:nvPr/>
          </p:nvSpPr>
          <p:spPr>
            <a:xfrm rot="10800000">
              <a:off x="6974760" y="2133070"/>
              <a:ext cx="1918800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2B73898-242B-B542-A13B-5A46CF540B50}"/>
                </a:ext>
              </a:extLst>
            </p:cNvPr>
            <p:cNvSpPr txBox="1"/>
            <p:nvPr/>
          </p:nvSpPr>
          <p:spPr>
            <a:xfrm>
              <a:off x="6977001" y="4381097"/>
              <a:ext cx="1914319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Invoicing and finance workflows could be costing you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7F0DF48-C88F-66C2-241D-A456E4C5498F}"/>
                </a:ext>
              </a:extLst>
            </p:cNvPr>
            <p:cNvSpPr txBox="1"/>
            <p:nvPr/>
          </p:nvSpPr>
          <p:spPr>
            <a:xfrm>
              <a:off x="6973186" y="5136881"/>
              <a:ext cx="19219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valcifw</a:t>
              </a:r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0CEE381-477C-8434-1941-80B81EAE7B48}"/>
              </a:ext>
            </a:extLst>
          </p:cNvPr>
          <p:cNvGrpSpPr/>
          <p:nvPr/>
        </p:nvGrpSpPr>
        <p:grpSpPr>
          <a:xfrm>
            <a:off x="9078326" y="1559479"/>
            <a:ext cx="2094684" cy="3981503"/>
            <a:chOff x="9011822" y="1567792"/>
            <a:chExt cx="2094684" cy="3981503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1805B4A-2C0D-368E-E75D-FC2CDC15A66B}"/>
                </a:ext>
              </a:extLst>
            </p:cNvPr>
            <p:cNvSpPr/>
            <p:nvPr/>
          </p:nvSpPr>
          <p:spPr>
            <a:xfrm>
              <a:off x="9105164" y="5000302"/>
              <a:ext cx="1908000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Off-page Connector 9">
              <a:extLst>
                <a:ext uri="{FF2B5EF4-FFF2-40B4-BE49-F238E27FC236}">
                  <a16:creationId xmlns:a16="http://schemas.microsoft.com/office/drawing/2014/main" id="{CF4D6202-C07E-1976-8619-E66844709A39}"/>
                </a:ext>
              </a:extLst>
            </p:cNvPr>
            <p:cNvSpPr/>
            <p:nvPr/>
          </p:nvSpPr>
          <p:spPr>
            <a:xfrm>
              <a:off x="9099764" y="1889646"/>
              <a:ext cx="1918800" cy="2544658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Lack of self-serve solutions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High risk of errors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466DEC-9423-B95B-0DAB-B91A852EC795}"/>
                </a:ext>
              </a:extLst>
            </p:cNvPr>
            <p:cNvSpPr txBox="1"/>
            <p:nvPr/>
          </p:nvSpPr>
          <p:spPr>
            <a:xfrm>
              <a:off x="9011822" y="2082316"/>
              <a:ext cx="2094684" cy="584775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Online expense management</a:t>
              </a:r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3" name="Freeform 1015">
              <a:extLst>
                <a:ext uri="{FF2B5EF4-FFF2-40B4-BE49-F238E27FC236}">
                  <a16:creationId xmlns:a16="http://schemas.microsoft.com/office/drawing/2014/main" id="{2DFBB6BE-A3C1-C95A-4287-54102AC9E82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9811215" y="1567792"/>
              <a:ext cx="495898" cy="495898"/>
            </a:xfrm>
            <a:custGeom>
              <a:avLst/>
              <a:gdLst>
                <a:gd name="T0" fmla="*/ 7726423 w 293329"/>
                <a:gd name="T1" fmla="*/ 9850932 h 293332"/>
                <a:gd name="T2" fmla="*/ 2935958 w 293329"/>
                <a:gd name="T3" fmla="*/ 9676341 h 293332"/>
                <a:gd name="T4" fmla="*/ 8633732 w 293329"/>
                <a:gd name="T5" fmla="*/ 8887648 h 293332"/>
                <a:gd name="T6" fmla="*/ 8503163 w 293329"/>
                <a:gd name="T7" fmla="*/ 10333017 h 293332"/>
                <a:gd name="T8" fmla="*/ 10187033 w 293329"/>
                <a:gd name="T9" fmla="*/ 9107071 h 293332"/>
                <a:gd name="T10" fmla="*/ 10656909 w 293329"/>
                <a:gd name="T11" fmla="*/ 9507104 h 293332"/>
                <a:gd name="T12" fmla="*/ 8346597 w 293329"/>
                <a:gd name="T13" fmla="*/ 10655613 h 293332"/>
                <a:gd name="T14" fmla="*/ 8398777 w 293329"/>
                <a:gd name="T15" fmla="*/ 8900613 h 293332"/>
                <a:gd name="T16" fmla="*/ 456778 w 293329"/>
                <a:gd name="T17" fmla="*/ 9107071 h 293332"/>
                <a:gd name="T18" fmla="*/ 2153785 w 293329"/>
                <a:gd name="T19" fmla="*/ 10333017 h 293332"/>
                <a:gd name="T20" fmla="*/ 2023134 w 293329"/>
                <a:gd name="T21" fmla="*/ 8887648 h 293332"/>
                <a:gd name="T22" fmla="*/ 2466970 w 293329"/>
                <a:gd name="T23" fmla="*/ 10500789 h 293332"/>
                <a:gd name="T24" fmla="*/ 0 w 293329"/>
                <a:gd name="T25" fmla="*/ 10500789 h 293332"/>
                <a:gd name="T26" fmla="*/ 443780 w 293329"/>
                <a:gd name="T27" fmla="*/ 8887648 h 293332"/>
                <a:gd name="T28" fmla="*/ 9388267 w 293329"/>
                <a:gd name="T29" fmla="*/ 8605304 h 293332"/>
                <a:gd name="T30" fmla="*/ 1198367 w 293329"/>
                <a:gd name="T31" fmla="*/ 7874844 h 293332"/>
                <a:gd name="T32" fmla="*/ 1570072 w 293329"/>
                <a:gd name="T33" fmla="*/ 8233637 h 293332"/>
                <a:gd name="T34" fmla="*/ 10080391 w 293329"/>
                <a:gd name="T35" fmla="*/ 8233637 h 293332"/>
                <a:gd name="T36" fmla="*/ 9388267 w 293329"/>
                <a:gd name="T37" fmla="*/ 7554479 h 293332"/>
                <a:gd name="T38" fmla="*/ 1198367 w 293329"/>
                <a:gd name="T39" fmla="*/ 8925645 h 293332"/>
                <a:gd name="T40" fmla="*/ 5130248 w 293329"/>
                <a:gd name="T41" fmla="*/ 6689459 h 293332"/>
                <a:gd name="T42" fmla="*/ 6635580 w 293329"/>
                <a:gd name="T43" fmla="*/ 7022186 h 293332"/>
                <a:gd name="T44" fmla="*/ 5130248 w 293329"/>
                <a:gd name="T45" fmla="*/ 6689459 h 293332"/>
                <a:gd name="T46" fmla="*/ 6792622 w 293329"/>
                <a:gd name="T47" fmla="*/ 5753460 h 293332"/>
                <a:gd name="T48" fmla="*/ 4960060 w 293329"/>
                <a:gd name="T49" fmla="*/ 5753460 h 293332"/>
                <a:gd name="T50" fmla="*/ 4394049 w 293329"/>
                <a:gd name="T51" fmla="*/ 8425350 h 293332"/>
                <a:gd name="T52" fmla="*/ 4394049 w 293329"/>
                <a:gd name="T53" fmla="*/ 4434924 h 293332"/>
                <a:gd name="T54" fmla="*/ 3801866 w 293329"/>
                <a:gd name="T55" fmla="*/ 8425350 h 293332"/>
                <a:gd name="T56" fmla="*/ 3801866 w 293329"/>
                <a:gd name="T57" fmla="*/ 4434924 h 293332"/>
                <a:gd name="T58" fmla="*/ 10173087 w 293329"/>
                <a:gd name="T59" fmla="*/ 3648251 h 293332"/>
                <a:gd name="T60" fmla="*/ 9880272 w 293329"/>
                <a:gd name="T61" fmla="*/ 7355373 h 293332"/>
                <a:gd name="T62" fmla="*/ 9960128 w 293329"/>
                <a:gd name="T63" fmla="*/ 3543768 h 293332"/>
                <a:gd name="T64" fmla="*/ 882485 w 293329"/>
                <a:gd name="T65" fmla="*/ 7043025 h 293332"/>
                <a:gd name="T66" fmla="*/ 572838 w 293329"/>
                <a:gd name="T67" fmla="*/ 7161164 h 293332"/>
                <a:gd name="T68" fmla="*/ 3801866 w 293329"/>
                <a:gd name="T69" fmla="*/ 3139719 h 293332"/>
                <a:gd name="T70" fmla="*/ 6999706 w 293329"/>
                <a:gd name="T71" fmla="*/ 4120936 h 293332"/>
                <a:gd name="T72" fmla="*/ 3801866 w 293329"/>
                <a:gd name="T73" fmla="*/ 2825664 h 293332"/>
                <a:gd name="T74" fmla="*/ 7486601 w 293329"/>
                <a:gd name="T75" fmla="*/ 3139719 h 293332"/>
                <a:gd name="T76" fmla="*/ 7486601 w 293329"/>
                <a:gd name="T77" fmla="*/ 4120936 h 293332"/>
                <a:gd name="T78" fmla="*/ 7486601 w 293329"/>
                <a:gd name="T79" fmla="*/ 8752426 h 293332"/>
                <a:gd name="T80" fmla="*/ 2999112 w 293329"/>
                <a:gd name="T81" fmla="*/ 3623786 h 293332"/>
                <a:gd name="T82" fmla="*/ 8646767 w 293329"/>
                <a:gd name="T83" fmla="*/ 1554601 h 293332"/>
                <a:gd name="T84" fmla="*/ 10330586 w 293329"/>
                <a:gd name="T85" fmla="*/ 2789136 h 293332"/>
                <a:gd name="T86" fmla="*/ 10213098 w 293329"/>
                <a:gd name="T87" fmla="*/ 1333651 h 293332"/>
                <a:gd name="T88" fmla="*/ 10656909 w 293329"/>
                <a:gd name="T89" fmla="*/ 2945074 h 293332"/>
                <a:gd name="T90" fmla="*/ 8189923 w 293329"/>
                <a:gd name="T91" fmla="*/ 2945074 h 293332"/>
                <a:gd name="T92" fmla="*/ 8633732 w 293329"/>
                <a:gd name="T93" fmla="*/ 1333651 h 293332"/>
                <a:gd name="T94" fmla="*/ 313320 w 293329"/>
                <a:gd name="T95" fmla="*/ 1957394 h 293332"/>
                <a:gd name="T96" fmla="*/ 2153785 w 293329"/>
                <a:gd name="T97" fmla="*/ 1957394 h 293332"/>
                <a:gd name="T98" fmla="*/ 2245154 w 293329"/>
                <a:gd name="T99" fmla="*/ 1346649 h 293332"/>
                <a:gd name="T100" fmla="*/ 2310348 w 293329"/>
                <a:gd name="T101" fmla="*/ 3101058 h 293332"/>
                <a:gd name="T102" fmla="*/ 0 w 293329"/>
                <a:gd name="T103" fmla="*/ 1957394 h 293332"/>
                <a:gd name="T104" fmla="*/ 9388267 w 293329"/>
                <a:gd name="T105" fmla="*/ 307485 h 293332"/>
                <a:gd name="T106" fmla="*/ 9759991 w 293329"/>
                <a:gd name="T107" fmla="*/ 679246 h 293332"/>
                <a:gd name="T108" fmla="*/ 826690 w 293329"/>
                <a:gd name="T109" fmla="*/ 679246 h 293332"/>
                <a:gd name="T110" fmla="*/ 1198367 w 293329"/>
                <a:gd name="T111" fmla="*/ 307485 h 293332"/>
                <a:gd name="T112" fmla="*/ 8022361 w 293329"/>
                <a:gd name="T113" fmla="*/ 1208071 h 293332"/>
                <a:gd name="T114" fmla="*/ 2720558 w 293329"/>
                <a:gd name="T115" fmla="*/ 1286932 h 293332"/>
                <a:gd name="T116" fmla="*/ 5293109 w 293329"/>
                <a:gd name="T117" fmla="*/ 246183 h 293332"/>
                <a:gd name="T118" fmla="*/ 9388267 w 293329"/>
                <a:gd name="T119" fmla="*/ 1371250 h 293332"/>
                <a:gd name="T120" fmla="*/ 1198367 w 293329"/>
                <a:gd name="T121" fmla="*/ 0 h 293332"/>
                <a:gd name="T122" fmla="*/ 519153 w 293329"/>
                <a:gd name="T123" fmla="*/ 679246 h 29333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93329" h="293332">
                  <a:moveTo>
                    <a:pt x="208355" y="263416"/>
                  </a:moveTo>
                  <a:cubicBezTo>
                    <a:pt x="210511" y="261937"/>
                    <a:pt x="213385" y="262677"/>
                    <a:pt x="214822" y="264895"/>
                  </a:cubicBezTo>
                  <a:cubicBezTo>
                    <a:pt x="215541" y="267483"/>
                    <a:pt x="214822" y="270071"/>
                    <a:pt x="212667" y="271180"/>
                  </a:cubicBezTo>
                  <a:cubicBezTo>
                    <a:pt x="192188" y="282640"/>
                    <a:pt x="169194" y="288556"/>
                    <a:pt x="146201" y="288556"/>
                  </a:cubicBezTo>
                  <a:cubicBezTo>
                    <a:pt x="124284" y="288556"/>
                    <a:pt x="102728" y="283010"/>
                    <a:pt x="82608" y="272659"/>
                  </a:cubicBezTo>
                  <a:cubicBezTo>
                    <a:pt x="80093" y="271549"/>
                    <a:pt x="79375" y="268592"/>
                    <a:pt x="80812" y="266374"/>
                  </a:cubicBezTo>
                  <a:cubicBezTo>
                    <a:pt x="81530" y="264155"/>
                    <a:pt x="84405" y="263416"/>
                    <a:pt x="86560" y="264525"/>
                  </a:cubicBezTo>
                  <a:cubicBezTo>
                    <a:pt x="125003" y="284859"/>
                    <a:pt x="170631" y="284119"/>
                    <a:pt x="208355" y="263416"/>
                  </a:cubicBezTo>
                  <a:close/>
                  <a:moveTo>
                    <a:pt x="237641" y="244663"/>
                  </a:moveTo>
                  <a:cubicBezTo>
                    <a:pt x="239437" y="246084"/>
                    <a:pt x="239796" y="248926"/>
                    <a:pt x="238000" y="250703"/>
                  </a:cubicBezTo>
                  <a:cubicBezTo>
                    <a:pt x="235485" y="253900"/>
                    <a:pt x="234048" y="257808"/>
                    <a:pt x="234048" y="261715"/>
                  </a:cubicBezTo>
                  <a:lnTo>
                    <a:pt x="234048" y="284451"/>
                  </a:lnTo>
                  <a:lnTo>
                    <a:pt x="284347" y="284451"/>
                  </a:lnTo>
                  <a:lnTo>
                    <a:pt x="284347" y="261715"/>
                  </a:lnTo>
                  <a:cubicBezTo>
                    <a:pt x="284347" y="257808"/>
                    <a:pt x="283269" y="253900"/>
                    <a:pt x="280395" y="250703"/>
                  </a:cubicBezTo>
                  <a:cubicBezTo>
                    <a:pt x="278958" y="248926"/>
                    <a:pt x="278958" y="246084"/>
                    <a:pt x="281113" y="244663"/>
                  </a:cubicBezTo>
                  <a:cubicBezTo>
                    <a:pt x="282910" y="242887"/>
                    <a:pt x="285784" y="243242"/>
                    <a:pt x="287221" y="245019"/>
                  </a:cubicBezTo>
                  <a:cubicBezTo>
                    <a:pt x="291173" y="249992"/>
                    <a:pt x="293329" y="255676"/>
                    <a:pt x="293329" y="261715"/>
                  </a:cubicBezTo>
                  <a:lnTo>
                    <a:pt x="293329" y="289069"/>
                  </a:lnTo>
                  <a:cubicBezTo>
                    <a:pt x="293329" y="291201"/>
                    <a:pt x="291533" y="293332"/>
                    <a:pt x="288658" y="293332"/>
                  </a:cubicBezTo>
                  <a:lnTo>
                    <a:pt x="229737" y="293332"/>
                  </a:lnTo>
                  <a:cubicBezTo>
                    <a:pt x="227222" y="293332"/>
                    <a:pt x="225425" y="291201"/>
                    <a:pt x="225425" y="289069"/>
                  </a:cubicBezTo>
                  <a:lnTo>
                    <a:pt x="225425" y="261715"/>
                  </a:lnTo>
                  <a:cubicBezTo>
                    <a:pt x="225425" y="255676"/>
                    <a:pt x="227222" y="249992"/>
                    <a:pt x="231174" y="245019"/>
                  </a:cubicBezTo>
                  <a:cubicBezTo>
                    <a:pt x="232611" y="243242"/>
                    <a:pt x="235844" y="242887"/>
                    <a:pt x="237641" y="244663"/>
                  </a:cubicBezTo>
                  <a:close/>
                  <a:moveTo>
                    <a:pt x="12215" y="244663"/>
                  </a:moveTo>
                  <a:cubicBezTo>
                    <a:pt x="14012" y="246084"/>
                    <a:pt x="14371" y="248926"/>
                    <a:pt x="12575" y="250703"/>
                  </a:cubicBezTo>
                  <a:cubicBezTo>
                    <a:pt x="10419" y="253900"/>
                    <a:pt x="8622" y="257808"/>
                    <a:pt x="8622" y="261715"/>
                  </a:cubicBezTo>
                  <a:lnTo>
                    <a:pt x="8622" y="284451"/>
                  </a:lnTo>
                  <a:lnTo>
                    <a:pt x="59281" y="284451"/>
                  </a:lnTo>
                  <a:lnTo>
                    <a:pt x="59281" y="261715"/>
                  </a:lnTo>
                  <a:cubicBezTo>
                    <a:pt x="59281" y="257808"/>
                    <a:pt x="57844" y="253900"/>
                    <a:pt x="54969" y="250703"/>
                  </a:cubicBezTo>
                  <a:cubicBezTo>
                    <a:pt x="53532" y="248926"/>
                    <a:pt x="53892" y="246084"/>
                    <a:pt x="55688" y="244663"/>
                  </a:cubicBezTo>
                  <a:cubicBezTo>
                    <a:pt x="57844" y="242887"/>
                    <a:pt x="60359" y="243242"/>
                    <a:pt x="61796" y="245019"/>
                  </a:cubicBezTo>
                  <a:cubicBezTo>
                    <a:pt x="65748" y="249992"/>
                    <a:pt x="67903" y="255676"/>
                    <a:pt x="67903" y="261715"/>
                  </a:cubicBezTo>
                  <a:lnTo>
                    <a:pt x="67903" y="289069"/>
                  </a:lnTo>
                  <a:cubicBezTo>
                    <a:pt x="67903" y="291201"/>
                    <a:pt x="65748" y="293332"/>
                    <a:pt x="63592" y="293332"/>
                  </a:cubicBezTo>
                  <a:lnTo>
                    <a:pt x="4311" y="293332"/>
                  </a:lnTo>
                  <a:cubicBezTo>
                    <a:pt x="1796" y="293332"/>
                    <a:pt x="0" y="291201"/>
                    <a:pt x="0" y="289069"/>
                  </a:cubicBezTo>
                  <a:lnTo>
                    <a:pt x="0" y="261715"/>
                  </a:lnTo>
                  <a:cubicBezTo>
                    <a:pt x="0" y="255676"/>
                    <a:pt x="1796" y="249992"/>
                    <a:pt x="6107" y="245019"/>
                  </a:cubicBezTo>
                  <a:cubicBezTo>
                    <a:pt x="7545" y="243242"/>
                    <a:pt x="10419" y="242887"/>
                    <a:pt x="12215" y="244663"/>
                  </a:cubicBezTo>
                  <a:close/>
                  <a:moveTo>
                    <a:pt x="258410" y="216782"/>
                  </a:moveTo>
                  <a:cubicBezTo>
                    <a:pt x="252766" y="216782"/>
                    <a:pt x="248180" y="221368"/>
                    <a:pt x="248180" y="226659"/>
                  </a:cubicBezTo>
                  <a:cubicBezTo>
                    <a:pt x="248180" y="232304"/>
                    <a:pt x="252766" y="236890"/>
                    <a:pt x="258410" y="236890"/>
                  </a:cubicBezTo>
                  <a:cubicBezTo>
                    <a:pt x="264055" y="236890"/>
                    <a:pt x="268641" y="232304"/>
                    <a:pt x="268641" y="226659"/>
                  </a:cubicBezTo>
                  <a:cubicBezTo>
                    <a:pt x="268641" y="221368"/>
                    <a:pt x="264055" y="216782"/>
                    <a:pt x="258410" y="216782"/>
                  </a:cubicBezTo>
                  <a:close/>
                  <a:moveTo>
                    <a:pt x="32985" y="216782"/>
                  </a:moveTo>
                  <a:cubicBezTo>
                    <a:pt x="27341" y="216782"/>
                    <a:pt x="22754" y="221368"/>
                    <a:pt x="22754" y="226659"/>
                  </a:cubicBezTo>
                  <a:cubicBezTo>
                    <a:pt x="22754" y="232304"/>
                    <a:pt x="27341" y="236890"/>
                    <a:pt x="32985" y="236890"/>
                  </a:cubicBezTo>
                  <a:cubicBezTo>
                    <a:pt x="38629" y="236890"/>
                    <a:pt x="43216" y="232304"/>
                    <a:pt x="43216" y="226659"/>
                  </a:cubicBezTo>
                  <a:cubicBezTo>
                    <a:pt x="43216" y="221368"/>
                    <a:pt x="38629" y="216782"/>
                    <a:pt x="32985" y="216782"/>
                  </a:cubicBezTo>
                  <a:close/>
                  <a:moveTo>
                    <a:pt x="258410" y="207962"/>
                  </a:moveTo>
                  <a:cubicBezTo>
                    <a:pt x="268994" y="207962"/>
                    <a:pt x="277460" y="216429"/>
                    <a:pt x="277460" y="226659"/>
                  </a:cubicBezTo>
                  <a:cubicBezTo>
                    <a:pt x="277460" y="237243"/>
                    <a:pt x="268994" y="245709"/>
                    <a:pt x="258410" y="245709"/>
                  </a:cubicBezTo>
                  <a:cubicBezTo>
                    <a:pt x="248180" y="245709"/>
                    <a:pt x="239713" y="237243"/>
                    <a:pt x="239713" y="226659"/>
                  </a:cubicBezTo>
                  <a:cubicBezTo>
                    <a:pt x="239713" y="216429"/>
                    <a:pt x="248180" y="207962"/>
                    <a:pt x="258410" y="207962"/>
                  </a:cubicBezTo>
                  <a:close/>
                  <a:moveTo>
                    <a:pt x="32985" y="207962"/>
                  </a:moveTo>
                  <a:cubicBezTo>
                    <a:pt x="43568" y="207962"/>
                    <a:pt x="52035" y="216429"/>
                    <a:pt x="52035" y="226659"/>
                  </a:cubicBezTo>
                  <a:cubicBezTo>
                    <a:pt x="52035" y="237243"/>
                    <a:pt x="43568" y="245709"/>
                    <a:pt x="32985" y="245709"/>
                  </a:cubicBezTo>
                  <a:cubicBezTo>
                    <a:pt x="22754" y="245709"/>
                    <a:pt x="14288" y="237243"/>
                    <a:pt x="14288" y="226659"/>
                  </a:cubicBezTo>
                  <a:cubicBezTo>
                    <a:pt x="14288" y="216429"/>
                    <a:pt x="22754" y="207962"/>
                    <a:pt x="32985" y="207962"/>
                  </a:cubicBezTo>
                  <a:close/>
                  <a:moveTo>
                    <a:pt x="141209" y="184150"/>
                  </a:moveTo>
                  <a:lnTo>
                    <a:pt x="182642" y="184150"/>
                  </a:lnTo>
                  <a:cubicBezTo>
                    <a:pt x="185164" y="184150"/>
                    <a:pt x="186965" y="186348"/>
                    <a:pt x="186965" y="188913"/>
                  </a:cubicBezTo>
                  <a:cubicBezTo>
                    <a:pt x="186965" y="191477"/>
                    <a:pt x="185164" y="193309"/>
                    <a:pt x="182642" y="193309"/>
                  </a:cubicBezTo>
                  <a:lnTo>
                    <a:pt x="141209" y="193309"/>
                  </a:lnTo>
                  <a:cubicBezTo>
                    <a:pt x="138687" y="193309"/>
                    <a:pt x="136525" y="191477"/>
                    <a:pt x="136525" y="188913"/>
                  </a:cubicBezTo>
                  <a:cubicBezTo>
                    <a:pt x="136525" y="186348"/>
                    <a:pt x="138687" y="184150"/>
                    <a:pt x="141209" y="184150"/>
                  </a:cubicBezTo>
                  <a:close/>
                  <a:moveTo>
                    <a:pt x="141209" y="153987"/>
                  </a:moveTo>
                  <a:lnTo>
                    <a:pt x="182642" y="153987"/>
                  </a:lnTo>
                  <a:cubicBezTo>
                    <a:pt x="185164" y="153987"/>
                    <a:pt x="186965" y="155818"/>
                    <a:pt x="186965" y="158383"/>
                  </a:cubicBezTo>
                  <a:cubicBezTo>
                    <a:pt x="186965" y="160947"/>
                    <a:pt x="185164" y="163145"/>
                    <a:pt x="182642" y="163145"/>
                  </a:cubicBezTo>
                  <a:lnTo>
                    <a:pt x="141209" y="163145"/>
                  </a:lnTo>
                  <a:cubicBezTo>
                    <a:pt x="138687" y="163145"/>
                    <a:pt x="136525" y="160947"/>
                    <a:pt x="136525" y="158383"/>
                  </a:cubicBezTo>
                  <a:cubicBezTo>
                    <a:pt x="136525" y="155818"/>
                    <a:pt x="138687" y="153987"/>
                    <a:pt x="141209" y="153987"/>
                  </a:cubicBezTo>
                  <a:close/>
                  <a:moveTo>
                    <a:pt x="120945" y="122087"/>
                  </a:moveTo>
                  <a:lnTo>
                    <a:pt x="120945" y="231936"/>
                  </a:lnTo>
                  <a:lnTo>
                    <a:pt x="201721" y="231936"/>
                  </a:lnTo>
                  <a:lnTo>
                    <a:pt x="201721" y="122087"/>
                  </a:lnTo>
                  <a:lnTo>
                    <a:pt x="120945" y="122087"/>
                  </a:lnTo>
                  <a:close/>
                  <a:moveTo>
                    <a:pt x="91243" y="117765"/>
                  </a:moveTo>
                  <a:lnTo>
                    <a:pt x="91243" y="218610"/>
                  </a:lnTo>
                  <a:cubicBezTo>
                    <a:pt x="91243" y="225813"/>
                    <a:pt x="97401" y="231936"/>
                    <a:pt x="104645" y="231936"/>
                  </a:cubicBezTo>
                  <a:lnTo>
                    <a:pt x="112252" y="231936"/>
                  </a:lnTo>
                  <a:lnTo>
                    <a:pt x="112252" y="122087"/>
                  </a:lnTo>
                  <a:lnTo>
                    <a:pt x="104645" y="122087"/>
                  </a:lnTo>
                  <a:cubicBezTo>
                    <a:pt x="99574" y="122087"/>
                    <a:pt x="94865" y="120286"/>
                    <a:pt x="91243" y="117765"/>
                  </a:cubicBezTo>
                  <a:close/>
                  <a:moveTo>
                    <a:pt x="274150" y="97555"/>
                  </a:moveTo>
                  <a:cubicBezTo>
                    <a:pt x="276714" y="96837"/>
                    <a:pt x="279278" y="98274"/>
                    <a:pt x="280011" y="100430"/>
                  </a:cubicBezTo>
                  <a:cubicBezTo>
                    <a:pt x="291734" y="132770"/>
                    <a:pt x="291001" y="168344"/>
                    <a:pt x="277813" y="199966"/>
                  </a:cubicBezTo>
                  <a:cubicBezTo>
                    <a:pt x="277080" y="201763"/>
                    <a:pt x="275249" y="202841"/>
                    <a:pt x="273783" y="202841"/>
                  </a:cubicBezTo>
                  <a:cubicBezTo>
                    <a:pt x="273051" y="202841"/>
                    <a:pt x="272684" y="202841"/>
                    <a:pt x="271952" y="202482"/>
                  </a:cubicBezTo>
                  <a:cubicBezTo>
                    <a:pt x="269387" y="201404"/>
                    <a:pt x="268288" y="198888"/>
                    <a:pt x="269387" y="196732"/>
                  </a:cubicBezTo>
                  <a:cubicBezTo>
                    <a:pt x="281843" y="166907"/>
                    <a:pt x="282209" y="133848"/>
                    <a:pt x="271585" y="103305"/>
                  </a:cubicBezTo>
                  <a:cubicBezTo>
                    <a:pt x="270853" y="101149"/>
                    <a:pt x="271952" y="98633"/>
                    <a:pt x="274150" y="97555"/>
                  </a:cubicBezTo>
                  <a:close/>
                  <a:moveTo>
                    <a:pt x="20584" y="95972"/>
                  </a:moveTo>
                  <a:cubicBezTo>
                    <a:pt x="22807" y="96695"/>
                    <a:pt x="24289" y="99224"/>
                    <a:pt x="23177" y="101753"/>
                  </a:cubicBezTo>
                  <a:cubicBezTo>
                    <a:pt x="12435" y="131379"/>
                    <a:pt x="12806" y="164257"/>
                    <a:pt x="24289" y="193883"/>
                  </a:cubicBezTo>
                  <a:cubicBezTo>
                    <a:pt x="25029" y="196051"/>
                    <a:pt x="23918" y="198580"/>
                    <a:pt x="21696" y="199664"/>
                  </a:cubicBezTo>
                  <a:cubicBezTo>
                    <a:pt x="20955" y="199664"/>
                    <a:pt x="20584" y="199664"/>
                    <a:pt x="19844" y="199664"/>
                  </a:cubicBezTo>
                  <a:cubicBezTo>
                    <a:pt x="17991" y="199664"/>
                    <a:pt x="16510" y="198580"/>
                    <a:pt x="15769" y="197135"/>
                  </a:cubicBezTo>
                  <a:cubicBezTo>
                    <a:pt x="3545" y="165341"/>
                    <a:pt x="3175" y="130656"/>
                    <a:pt x="14658" y="98863"/>
                  </a:cubicBezTo>
                  <a:cubicBezTo>
                    <a:pt x="15399" y="96334"/>
                    <a:pt x="17991" y="95250"/>
                    <a:pt x="20584" y="95972"/>
                  </a:cubicBezTo>
                  <a:close/>
                  <a:moveTo>
                    <a:pt x="104645" y="86431"/>
                  </a:moveTo>
                  <a:cubicBezTo>
                    <a:pt x="97401" y="86431"/>
                    <a:pt x="91243" y="92553"/>
                    <a:pt x="91243" y="99757"/>
                  </a:cubicBezTo>
                  <a:cubicBezTo>
                    <a:pt x="91243" y="107320"/>
                    <a:pt x="97401" y="113443"/>
                    <a:pt x="104645" y="113443"/>
                  </a:cubicBezTo>
                  <a:lnTo>
                    <a:pt x="192665" y="113443"/>
                  </a:lnTo>
                  <a:cubicBezTo>
                    <a:pt x="189405" y="104799"/>
                    <a:pt x="189405" y="95435"/>
                    <a:pt x="192665" y="86431"/>
                  </a:cubicBezTo>
                  <a:lnTo>
                    <a:pt x="104645" y="86431"/>
                  </a:lnTo>
                  <a:close/>
                  <a:moveTo>
                    <a:pt x="104645" y="77787"/>
                  </a:moveTo>
                  <a:lnTo>
                    <a:pt x="206067" y="77787"/>
                  </a:lnTo>
                  <a:cubicBezTo>
                    <a:pt x="208603" y="77787"/>
                    <a:pt x="210776" y="79948"/>
                    <a:pt x="210776" y="82109"/>
                  </a:cubicBezTo>
                  <a:cubicBezTo>
                    <a:pt x="210776" y="84630"/>
                    <a:pt x="208603" y="86431"/>
                    <a:pt x="206067" y="86431"/>
                  </a:cubicBezTo>
                  <a:lnTo>
                    <a:pt x="202807" y="86431"/>
                  </a:lnTo>
                  <a:cubicBezTo>
                    <a:pt x="198098" y="95074"/>
                    <a:pt x="198098" y="104799"/>
                    <a:pt x="202807" y="113443"/>
                  </a:cubicBezTo>
                  <a:lnTo>
                    <a:pt x="206067" y="113443"/>
                  </a:lnTo>
                  <a:cubicBezTo>
                    <a:pt x="208603" y="113443"/>
                    <a:pt x="210776" y="115243"/>
                    <a:pt x="210776" y="117765"/>
                  </a:cubicBezTo>
                  <a:lnTo>
                    <a:pt x="210776" y="236258"/>
                  </a:lnTo>
                  <a:cubicBezTo>
                    <a:pt x="210776" y="238779"/>
                    <a:pt x="208603" y="240940"/>
                    <a:pt x="206067" y="240940"/>
                  </a:cubicBezTo>
                  <a:lnTo>
                    <a:pt x="104645" y="240940"/>
                  </a:lnTo>
                  <a:cubicBezTo>
                    <a:pt x="92330" y="240940"/>
                    <a:pt x="82550" y="230856"/>
                    <a:pt x="82550" y="218610"/>
                  </a:cubicBezTo>
                  <a:lnTo>
                    <a:pt x="82550" y="99757"/>
                  </a:lnTo>
                  <a:cubicBezTo>
                    <a:pt x="82550" y="87511"/>
                    <a:pt x="92330" y="77787"/>
                    <a:pt x="104645" y="77787"/>
                  </a:cubicBezTo>
                  <a:close/>
                  <a:moveTo>
                    <a:pt x="237641" y="36713"/>
                  </a:moveTo>
                  <a:cubicBezTo>
                    <a:pt x="239437" y="37787"/>
                    <a:pt x="239796" y="40649"/>
                    <a:pt x="238000" y="42795"/>
                  </a:cubicBezTo>
                  <a:cubicBezTo>
                    <a:pt x="235485" y="45657"/>
                    <a:pt x="234048" y="49950"/>
                    <a:pt x="234048" y="53885"/>
                  </a:cubicBezTo>
                  <a:lnTo>
                    <a:pt x="234048" y="76781"/>
                  </a:lnTo>
                  <a:lnTo>
                    <a:pt x="284347" y="76781"/>
                  </a:lnTo>
                  <a:lnTo>
                    <a:pt x="284347" y="53885"/>
                  </a:lnTo>
                  <a:cubicBezTo>
                    <a:pt x="284347" y="49950"/>
                    <a:pt x="282910" y="45657"/>
                    <a:pt x="280395" y="42795"/>
                  </a:cubicBezTo>
                  <a:cubicBezTo>
                    <a:pt x="278958" y="40649"/>
                    <a:pt x="278958" y="37787"/>
                    <a:pt x="281113" y="36713"/>
                  </a:cubicBezTo>
                  <a:cubicBezTo>
                    <a:pt x="282910" y="34925"/>
                    <a:pt x="285784" y="35282"/>
                    <a:pt x="287221" y="37071"/>
                  </a:cubicBezTo>
                  <a:cubicBezTo>
                    <a:pt x="291173" y="41722"/>
                    <a:pt x="293329" y="47804"/>
                    <a:pt x="293329" y="53885"/>
                  </a:cubicBezTo>
                  <a:lnTo>
                    <a:pt x="293329" y="81074"/>
                  </a:lnTo>
                  <a:cubicBezTo>
                    <a:pt x="293329" y="83578"/>
                    <a:pt x="291533" y="85367"/>
                    <a:pt x="288658" y="85367"/>
                  </a:cubicBezTo>
                  <a:lnTo>
                    <a:pt x="229737" y="85367"/>
                  </a:lnTo>
                  <a:cubicBezTo>
                    <a:pt x="227222" y="85367"/>
                    <a:pt x="225425" y="83578"/>
                    <a:pt x="225425" y="81074"/>
                  </a:cubicBezTo>
                  <a:lnTo>
                    <a:pt x="225425" y="53885"/>
                  </a:lnTo>
                  <a:cubicBezTo>
                    <a:pt x="225425" y="47804"/>
                    <a:pt x="227222" y="41722"/>
                    <a:pt x="231174" y="37071"/>
                  </a:cubicBezTo>
                  <a:cubicBezTo>
                    <a:pt x="232970" y="35282"/>
                    <a:pt x="235844" y="34925"/>
                    <a:pt x="237641" y="36713"/>
                  </a:cubicBezTo>
                  <a:close/>
                  <a:moveTo>
                    <a:pt x="12215" y="36713"/>
                  </a:moveTo>
                  <a:cubicBezTo>
                    <a:pt x="14012" y="37787"/>
                    <a:pt x="14371" y="40649"/>
                    <a:pt x="12575" y="42795"/>
                  </a:cubicBezTo>
                  <a:cubicBezTo>
                    <a:pt x="10419" y="45657"/>
                    <a:pt x="8622" y="49950"/>
                    <a:pt x="8622" y="53885"/>
                  </a:cubicBezTo>
                  <a:lnTo>
                    <a:pt x="8622" y="76781"/>
                  </a:lnTo>
                  <a:lnTo>
                    <a:pt x="59281" y="76781"/>
                  </a:lnTo>
                  <a:lnTo>
                    <a:pt x="59281" y="53885"/>
                  </a:lnTo>
                  <a:cubicBezTo>
                    <a:pt x="59281" y="49950"/>
                    <a:pt x="57844" y="45657"/>
                    <a:pt x="54969" y="42795"/>
                  </a:cubicBezTo>
                  <a:cubicBezTo>
                    <a:pt x="53532" y="40649"/>
                    <a:pt x="53892" y="37787"/>
                    <a:pt x="55688" y="36713"/>
                  </a:cubicBezTo>
                  <a:cubicBezTo>
                    <a:pt x="57844" y="34925"/>
                    <a:pt x="60359" y="35282"/>
                    <a:pt x="61796" y="37071"/>
                  </a:cubicBezTo>
                  <a:cubicBezTo>
                    <a:pt x="65748" y="41722"/>
                    <a:pt x="67903" y="47804"/>
                    <a:pt x="67903" y="53885"/>
                  </a:cubicBezTo>
                  <a:lnTo>
                    <a:pt x="67903" y="81074"/>
                  </a:lnTo>
                  <a:cubicBezTo>
                    <a:pt x="67903" y="83578"/>
                    <a:pt x="65748" y="85367"/>
                    <a:pt x="63592" y="85367"/>
                  </a:cubicBezTo>
                  <a:lnTo>
                    <a:pt x="4311" y="85367"/>
                  </a:lnTo>
                  <a:cubicBezTo>
                    <a:pt x="1796" y="85367"/>
                    <a:pt x="0" y="83578"/>
                    <a:pt x="0" y="81074"/>
                  </a:cubicBezTo>
                  <a:lnTo>
                    <a:pt x="0" y="53885"/>
                  </a:lnTo>
                  <a:cubicBezTo>
                    <a:pt x="0" y="47804"/>
                    <a:pt x="1796" y="41722"/>
                    <a:pt x="6107" y="37071"/>
                  </a:cubicBezTo>
                  <a:cubicBezTo>
                    <a:pt x="7545" y="35282"/>
                    <a:pt x="10419" y="34925"/>
                    <a:pt x="12215" y="36713"/>
                  </a:cubicBezTo>
                  <a:close/>
                  <a:moveTo>
                    <a:pt x="258410" y="8466"/>
                  </a:moveTo>
                  <a:cubicBezTo>
                    <a:pt x="252766" y="8466"/>
                    <a:pt x="248180" y="13405"/>
                    <a:pt x="248180" y="18697"/>
                  </a:cubicBezTo>
                  <a:cubicBezTo>
                    <a:pt x="248180" y="24341"/>
                    <a:pt x="252766" y="28928"/>
                    <a:pt x="258410" y="28928"/>
                  </a:cubicBezTo>
                  <a:cubicBezTo>
                    <a:pt x="264055" y="28928"/>
                    <a:pt x="268641" y="24341"/>
                    <a:pt x="268641" y="18697"/>
                  </a:cubicBezTo>
                  <a:cubicBezTo>
                    <a:pt x="268641" y="13405"/>
                    <a:pt x="264055" y="8466"/>
                    <a:pt x="258410" y="8466"/>
                  </a:cubicBezTo>
                  <a:close/>
                  <a:moveTo>
                    <a:pt x="32985" y="8466"/>
                  </a:moveTo>
                  <a:cubicBezTo>
                    <a:pt x="27341" y="8466"/>
                    <a:pt x="22754" y="13405"/>
                    <a:pt x="22754" y="18697"/>
                  </a:cubicBezTo>
                  <a:cubicBezTo>
                    <a:pt x="22754" y="24341"/>
                    <a:pt x="27341" y="28928"/>
                    <a:pt x="32985" y="28928"/>
                  </a:cubicBezTo>
                  <a:cubicBezTo>
                    <a:pt x="38629" y="28928"/>
                    <a:pt x="43216" y="24341"/>
                    <a:pt x="43216" y="18697"/>
                  </a:cubicBezTo>
                  <a:cubicBezTo>
                    <a:pt x="43216" y="13405"/>
                    <a:pt x="38629" y="8466"/>
                    <a:pt x="32985" y="8466"/>
                  </a:cubicBezTo>
                  <a:close/>
                  <a:moveTo>
                    <a:pt x="145691" y="6778"/>
                  </a:moveTo>
                  <a:cubicBezTo>
                    <a:pt x="171211" y="6778"/>
                    <a:pt x="196731" y="13556"/>
                    <a:pt x="219015" y="27113"/>
                  </a:cubicBezTo>
                  <a:cubicBezTo>
                    <a:pt x="221531" y="28559"/>
                    <a:pt x="221891" y="31089"/>
                    <a:pt x="220813" y="33258"/>
                  </a:cubicBezTo>
                  <a:cubicBezTo>
                    <a:pt x="219015" y="35427"/>
                    <a:pt x="216499" y="36150"/>
                    <a:pt x="214702" y="34704"/>
                  </a:cubicBezTo>
                  <a:cubicBezTo>
                    <a:pt x="172648" y="9037"/>
                    <a:pt x="118733" y="9037"/>
                    <a:pt x="77038" y="34704"/>
                  </a:cubicBezTo>
                  <a:cubicBezTo>
                    <a:pt x="76320" y="35427"/>
                    <a:pt x="75601" y="35427"/>
                    <a:pt x="74882" y="35427"/>
                  </a:cubicBezTo>
                  <a:cubicBezTo>
                    <a:pt x="73444" y="35427"/>
                    <a:pt x="72006" y="34704"/>
                    <a:pt x="70928" y="33258"/>
                  </a:cubicBezTo>
                  <a:cubicBezTo>
                    <a:pt x="69850" y="31089"/>
                    <a:pt x="70209" y="28559"/>
                    <a:pt x="72366" y="27113"/>
                  </a:cubicBezTo>
                  <a:cubicBezTo>
                    <a:pt x="94651" y="13556"/>
                    <a:pt x="120171" y="6778"/>
                    <a:pt x="145691" y="6778"/>
                  </a:cubicBezTo>
                  <a:close/>
                  <a:moveTo>
                    <a:pt x="258410" y="0"/>
                  </a:moveTo>
                  <a:cubicBezTo>
                    <a:pt x="268994" y="0"/>
                    <a:pt x="277460" y="8466"/>
                    <a:pt x="277460" y="18697"/>
                  </a:cubicBezTo>
                  <a:cubicBezTo>
                    <a:pt x="277460" y="29280"/>
                    <a:pt x="268994" y="37747"/>
                    <a:pt x="258410" y="37747"/>
                  </a:cubicBezTo>
                  <a:cubicBezTo>
                    <a:pt x="248180" y="37747"/>
                    <a:pt x="239713" y="29280"/>
                    <a:pt x="239713" y="18697"/>
                  </a:cubicBezTo>
                  <a:cubicBezTo>
                    <a:pt x="239713" y="8466"/>
                    <a:pt x="248180" y="0"/>
                    <a:pt x="258410" y="0"/>
                  </a:cubicBezTo>
                  <a:close/>
                  <a:moveTo>
                    <a:pt x="32985" y="0"/>
                  </a:moveTo>
                  <a:cubicBezTo>
                    <a:pt x="43568" y="0"/>
                    <a:pt x="52035" y="8466"/>
                    <a:pt x="52035" y="18697"/>
                  </a:cubicBezTo>
                  <a:cubicBezTo>
                    <a:pt x="52035" y="29280"/>
                    <a:pt x="43568" y="37747"/>
                    <a:pt x="32985" y="37747"/>
                  </a:cubicBezTo>
                  <a:cubicBezTo>
                    <a:pt x="22754" y="37747"/>
                    <a:pt x="14288" y="29280"/>
                    <a:pt x="14288" y="18697"/>
                  </a:cubicBezTo>
                  <a:cubicBezTo>
                    <a:pt x="14288" y="8466"/>
                    <a:pt x="22754" y="0"/>
                    <a:pt x="32985" y="0"/>
                  </a:cubicBezTo>
                  <a:close/>
                </a:path>
              </a:pathLst>
            </a:custGeom>
            <a:solidFill>
              <a:srgbClr val="ED8B00"/>
            </a:solidFill>
            <a:ln>
              <a:noFill/>
            </a:ln>
          </p:spPr>
          <p:txBody>
            <a:bodyPr anchor="ctr"/>
            <a:lstStyle/>
            <a:p>
              <a:endParaRPr lang="en-US" sz="900"/>
            </a:p>
          </p:txBody>
        </p:sp>
        <p:sp>
          <p:nvSpPr>
            <p:cNvPr id="14" name="Freeform 50">
              <a:extLst>
                <a:ext uri="{FF2B5EF4-FFF2-40B4-BE49-F238E27FC236}">
                  <a16:creationId xmlns:a16="http://schemas.microsoft.com/office/drawing/2014/main" id="{37A97CCD-C015-E1E9-40B7-A97B59A03B2B}"/>
                </a:ext>
              </a:extLst>
            </p:cNvPr>
            <p:cNvSpPr/>
            <p:nvPr/>
          </p:nvSpPr>
          <p:spPr>
            <a:xfrm rot="10800000">
              <a:off x="9099764" y="2127135"/>
              <a:ext cx="1918800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8087AEC-86F9-E8B2-C10B-A49DA1E431AE}"/>
                </a:ext>
              </a:extLst>
            </p:cNvPr>
            <p:cNvSpPr txBox="1"/>
            <p:nvPr/>
          </p:nvSpPr>
          <p:spPr>
            <a:xfrm>
              <a:off x="9102005" y="4351351"/>
              <a:ext cx="1914319" cy="477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Expense management could be costing you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58C2988-077F-715B-4765-2E7B0D4C1F34}"/>
                </a:ext>
              </a:extLst>
            </p:cNvPr>
            <p:cNvSpPr txBox="1"/>
            <p:nvPr/>
          </p:nvSpPr>
          <p:spPr>
            <a:xfrm>
              <a:off x="9112677" y="5122633"/>
              <a:ext cx="189297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sz="2000" dirty="0" err="1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valoem</a:t>
              </a:r>
              <a:r>
                <a:rPr lang="en-GB" sz="20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800" dirty="0">
                  <a:solidFill>
                    <a:schemeClr val="accent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3904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TOTAL COST OF DELAY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A587991-B968-87C5-E911-A82B2A2883D5}"/>
              </a:ext>
            </a:extLst>
          </p:cNvPr>
          <p:cNvSpPr txBox="1">
            <a:spLocks/>
          </p:cNvSpPr>
          <p:nvPr/>
        </p:nvSpPr>
        <p:spPr>
          <a:xfrm>
            <a:off x="6180613" y="1183834"/>
            <a:ext cx="4638088" cy="28984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dirty="0">
                <a:latin typeface="Open Sans"/>
                <a:ea typeface="Open Sans"/>
                <a:cs typeface="Open Sans"/>
              </a:rPr>
              <a:t>PAIN POINTS</a:t>
            </a:r>
          </a:p>
        </p:txBody>
      </p:sp>
      <p:graphicFrame>
        <p:nvGraphicFramePr>
          <p:cNvPr id="4" name="Chart 9">
            <a:extLst>
              <a:ext uri="{FF2B5EF4-FFF2-40B4-BE49-F238E27FC236}">
                <a16:creationId xmlns:a16="http://schemas.microsoft.com/office/drawing/2014/main" id="{CD436F27-8966-C7E4-5898-31625C628D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33631171"/>
              </p:ext>
            </p:extLst>
          </p:nvPr>
        </p:nvGraphicFramePr>
        <p:xfrm>
          <a:off x="695325" y="865136"/>
          <a:ext cx="5015009" cy="5540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7F81EBE2-7AFB-D001-79A4-902951872C31}"/>
              </a:ext>
            </a:extLst>
          </p:cNvPr>
          <p:cNvSpPr txBox="1">
            <a:spLocks/>
          </p:cNvSpPr>
          <p:nvPr/>
        </p:nvSpPr>
        <p:spPr>
          <a:xfrm>
            <a:off x="1411876" y="3494873"/>
            <a:ext cx="3544235" cy="31257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 algn="ctr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tr-TR" dirty="0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£ </a:t>
            </a:r>
            <a:r>
              <a:rPr lang="tr-TR" dirty="0" err="1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totalcostval</a:t>
            </a:r>
            <a:r>
              <a:rPr lang="tr-TR" dirty="0">
                <a:solidFill>
                  <a:srgbClr val="FF5A1F"/>
                </a:solidFill>
                <a:latin typeface="Montserrat SemiBold" panose="00000700000000000000" pitchFamily="2" charset="0"/>
                <a:ea typeface="Open Sans"/>
                <a:cs typeface="Open Sans"/>
              </a:rPr>
              <a:t> </a:t>
            </a:r>
            <a:endParaRPr lang="en-GB" dirty="0">
              <a:solidFill>
                <a:srgbClr val="FF5A1F"/>
              </a:solidFill>
              <a:latin typeface="Montserrat SemiBold" panose="00000700000000000000" pitchFamily="2" charset="0"/>
              <a:ea typeface="Open Sans"/>
              <a:cs typeface="Open Sans"/>
            </a:endParaRPr>
          </a:p>
        </p:txBody>
      </p:sp>
      <p:grpSp>
        <p:nvGrpSpPr>
          <p:cNvPr id="6" name="Grup 5">
            <a:extLst>
              <a:ext uri="{FF2B5EF4-FFF2-40B4-BE49-F238E27FC236}">
                <a16:creationId xmlns:a16="http://schemas.microsoft.com/office/drawing/2014/main" id="{8D4348BB-F96D-5635-CB00-3C861C330F48}"/>
              </a:ext>
            </a:extLst>
          </p:cNvPr>
          <p:cNvGrpSpPr/>
          <p:nvPr/>
        </p:nvGrpSpPr>
        <p:grpSpPr>
          <a:xfrm>
            <a:off x="8821682" y="5463229"/>
            <a:ext cx="2644839" cy="417662"/>
            <a:chOff x="6172590" y="1840342"/>
            <a:chExt cx="2644839" cy="417662"/>
          </a:xfrm>
        </p:grpSpPr>
        <p:sp>
          <p:nvSpPr>
            <p:cNvPr id="7" name="Metin kutusu 6">
              <a:extLst>
                <a:ext uri="{FF2B5EF4-FFF2-40B4-BE49-F238E27FC236}">
                  <a16:creationId xmlns:a16="http://schemas.microsoft.com/office/drawing/2014/main" id="{430EFD69-CEE9-E9D9-71E0-1615D0723927}"/>
                </a:ext>
              </a:extLst>
            </p:cNvPr>
            <p:cNvSpPr txBox="1"/>
            <p:nvPr/>
          </p:nvSpPr>
          <p:spPr>
            <a:xfrm>
              <a:off x="6172590" y="1840342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A4A4B2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per1x</a:t>
              </a:r>
              <a:r>
                <a:rPr lang="tr-TR" sz="1400" b="1" i="0" dirty="0">
                  <a:solidFill>
                    <a:srgbClr val="A4A4B2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latin typeface="Montserrat SemiBold" panose="00000700000000000000" pitchFamily="2" charset="0"/>
              </a:endParaRPr>
            </a:p>
          </p:txBody>
        </p:sp>
        <p:sp>
          <p:nvSpPr>
            <p:cNvPr id="10" name="Metin kutusu 9">
              <a:extLst>
                <a:ext uri="{FF2B5EF4-FFF2-40B4-BE49-F238E27FC236}">
                  <a16:creationId xmlns:a16="http://schemas.microsoft.com/office/drawing/2014/main" id="{46522F1D-EAED-03B8-D2A2-C4A737BA8E96}"/>
                </a:ext>
              </a:extLst>
            </p:cNvPr>
            <p:cNvSpPr txBox="1"/>
            <p:nvPr/>
          </p:nvSpPr>
          <p:spPr>
            <a:xfrm>
              <a:off x="6846728" y="1870822"/>
              <a:ext cx="197070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IT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fInance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systems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4" name="Düz Bağlayıcı 13">
              <a:extLst>
                <a:ext uri="{FF2B5EF4-FFF2-40B4-BE49-F238E27FC236}">
                  <a16:creationId xmlns:a16="http://schemas.microsoft.com/office/drawing/2014/main" id="{3B8F86E5-511F-1BC5-9156-20EA2EE75EB8}"/>
                </a:ext>
              </a:extLst>
            </p:cNvPr>
            <p:cNvCxnSpPr>
              <a:cxnSpLocks/>
            </p:cNvCxnSpPr>
            <p:nvPr/>
          </p:nvCxnSpPr>
          <p:spPr>
            <a:xfrm>
              <a:off x="6279502" y="2258004"/>
              <a:ext cx="230466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up 7">
            <a:extLst>
              <a:ext uri="{FF2B5EF4-FFF2-40B4-BE49-F238E27FC236}">
                <a16:creationId xmlns:a16="http://schemas.microsoft.com/office/drawing/2014/main" id="{0C803E05-53C2-12CE-F497-0354F05F2166}"/>
              </a:ext>
            </a:extLst>
          </p:cNvPr>
          <p:cNvGrpSpPr/>
          <p:nvPr/>
        </p:nvGrpSpPr>
        <p:grpSpPr>
          <a:xfrm>
            <a:off x="6172590" y="1994549"/>
            <a:ext cx="2644839" cy="538965"/>
            <a:chOff x="6172590" y="2470186"/>
            <a:chExt cx="2644839" cy="538965"/>
          </a:xfrm>
        </p:grpSpPr>
        <p:sp>
          <p:nvSpPr>
            <p:cNvPr id="80" name="Metin kutusu 79">
              <a:extLst>
                <a:ext uri="{FF2B5EF4-FFF2-40B4-BE49-F238E27FC236}">
                  <a16:creationId xmlns:a16="http://schemas.microsoft.com/office/drawing/2014/main" id="{68CDE79D-95BF-0EB6-60D9-AF04B6549CB3}"/>
                </a:ext>
              </a:extLst>
            </p:cNvPr>
            <p:cNvSpPr txBox="1"/>
            <p:nvPr/>
          </p:nvSpPr>
          <p:spPr>
            <a:xfrm>
              <a:off x="6172590" y="2561626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F15D23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per2x</a:t>
              </a:r>
              <a:r>
                <a:rPr lang="tr-TR" sz="1400" b="1" i="0" dirty="0">
                  <a:solidFill>
                    <a:srgbClr val="F15D23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F15D23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81" name="Metin kutusu 80">
              <a:extLst>
                <a:ext uri="{FF2B5EF4-FFF2-40B4-BE49-F238E27FC236}">
                  <a16:creationId xmlns:a16="http://schemas.microsoft.com/office/drawing/2014/main" id="{B02C7387-F34D-6E3D-47CB-850336305775}"/>
                </a:ext>
              </a:extLst>
            </p:cNvPr>
            <p:cNvSpPr txBox="1"/>
            <p:nvPr/>
          </p:nvSpPr>
          <p:spPr>
            <a:xfrm>
              <a:off x="6846728" y="2470186"/>
              <a:ext cx="197070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RaIsIng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Purchase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Orders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82" name="Düz Bağlayıcı 81">
              <a:extLst>
                <a:ext uri="{FF2B5EF4-FFF2-40B4-BE49-F238E27FC236}">
                  <a16:creationId xmlns:a16="http://schemas.microsoft.com/office/drawing/2014/main" id="{F867A425-2630-F877-4DD8-31BFC2A9B67F}"/>
                </a:ext>
              </a:extLst>
            </p:cNvPr>
            <p:cNvCxnSpPr>
              <a:cxnSpLocks/>
            </p:cNvCxnSpPr>
            <p:nvPr/>
          </p:nvCxnSpPr>
          <p:spPr>
            <a:xfrm>
              <a:off x="6279501" y="3009151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up 8">
            <a:extLst>
              <a:ext uri="{FF2B5EF4-FFF2-40B4-BE49-F238E27FC236}">
                <a16:creationId xmlns:a16="http://schemas.microsoft.com/office/drawing/2014/main" id="{496E04BD-90D6-CA08-FD18-862E4800796B}"/>
              </a:ext>
            </a:extLst>
          </p:cNvPr>
          <p:cNvGrpSpPr/>
          <p:nvPr/>
        </p:nvGrpSpPr>
        <p:grpSpPr>
          <a:xfrm>
            <a:off x="8813352" y="2007131"/>
            <a:ext cx="2644839" cy="529631"/>
            <a:chOff x="6172590" y="3329543"/>
            <a:chExt cx="2644839" cy="529631"/>
          </a:xfrm>
        </p:grpSpPr>
        <p:sp>
          <p:nvSpPr>
            <p:cNvPr id="84" name="Metin kutusu 83">
              <a:extLst>
                <a:ext uri="{FF2B5EF4-FFF2-40B4-BE49-F238E27FC236}">
                  <a16:creationId xmlns:a16="http://schemas.microsoft.com/office/drawing/2014/main" id="{278DB918-1A97-DC06-4F94-A617F35652C6}"/>
                </a:ext>
              </a:extLst>
            </p:cNvPr>
            <p:cNvSpPr txBox="1"/>
            <p:nvPr/>
          </p:nvSpPr>
          <p:spPr>
            <a:xfrm>
              <a:off x="6172590" y="3420983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dirty="0">
                  <a:solidFill>
                    <a:srgbClr val="F6911E"/>
                  </a:solidFill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per3x</a:t>
              </a:r>
              <a:r>
                <a:rPr lang="tr-TR" sz="1400" b="1" i="0" dirty="0">
                  <a:solidFill>
                    <a:srgbClr val="F6911E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F6911E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85" name="Metin kutusu 84">
              <a:extLst>
                <a:ext uri="{FF2B5EF4-FFF2-40B4-BE49-F238E27FC236}">
                  <a16:creationId xmlns:a16="http://schemas.microsoft.com/office/drawing/2014/main" id="{9DF16FC7-4A23-94C8-A50C-134D96320123}"/>
                </a:ext>
              </a:extLst>
            </p:cNvPr>
            <p:cNvSpPr txBox="1"/>
            <p:nvPr/>
          </p:nvSpPr>
          <p:spPr>
            <a:xfrm>
              <a:off x="6846728" y="3329543"/>
              <a:ext cx="197070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Purchase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Order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approvals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86" name="Düz Bağlayıcı 85">
              <a:extLst>
                <a:ext uri="{FF2B5EF4-FFF2-40B4-BE49-F238E27FC236}">
                  <a16:creationId xmlns:a16="http://schemas.microsoft.com/office/drawing/2014/main" id="{5C05B148-EA34-BD35-D0F3-71C8B9F4F205}"/>
                </a:ext>
              </a:extLst>
            </p:cNvPr>
            <p:cNvCxnSpPr>
              <a:cxnSpLocks/>
            </p:cNvCxnSpPr>
            <p:nvPr/>
          </p:nvCxnSpPr>
          <p:spPr>
            <a:xfrm>
              <a:off x="6279502" y="3859174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up 10">
            <a:extLst>
              <a:ext uri="{FF2B5EF4-FFF2-40B4-BE49-F238E27FC236}">
                <a16:creationId xmlns:a16="http://schemas.microsoft.com/office/drawing/2014/main" id="{B95D10E0-88BF-5D21-4657-0A35465732AF}"/>
              </a:ext>
            </a:extLst>
          </p:cNvPr>
          <p:cNvGrpSpPr/>
          <p:nvPr/>
        </p:nvGrpSpPr>
        <p:grpSpPr>
          <a:xfrm>
            <a:off x="6176843" y="5463229"/>
            <a:ext cx="2644839" cy="734900"/>
            <a:chOff x="6180613" y="4056396"/>
            <a:chExt cx="2644839" cy="734900"/>
          </a:xfrm>
        </p:grpSpPr>
        <p:sp>
          <p:nvSpPr>
            <p:cNvPr id="88" name="Metin kutusu 87">
              <a:extLst>
                <a:ext uri="{FF2B5EF4-FFF2-40B4-BE49-F238E27FC236}">
                  <a16:creationId xmlns:a16="http://schemas.microsoft.com/office/drawing/2014/main" id="{653BBD85-B2E2-226C-949E-3DC7E109DC41}"/>
                </a:ext>
              </a:extLst>
            </p:cNvPr>
            <p:cNvSpPr txBox="1"/>
            <p:nvPr/>
          </p:nvSpPr>
          <p:spPr>
            <a:xfrm>
              <a:off x="6180613" y="4208796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dirty="0">
                  <a:solidFill>
                    <a:srgbClr val="2D4FB2"/>
                  </a:solidFill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per4x</a:t>
              </a:r>
              <a:r>
                <a:rPr lang="tr-TR" sz="1400" b="1" i="0" dirty="0">
                  <a:solidFill>
                    <a:srgbClr val="2D4FB2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2D4FB2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89" name="Metin kutusu 88">
              <a:extLst>
                <a:ext uri="{FF2B5EF4-FFF2-40B4-BE49-F238E27FC236}">
                  <a16:creationId xmlns:a16="http://schemas.microsoft.com/office/drawing/2014/main" id="{859A4E2B-C213-824B-34CE-8F02C1237BEC}"/>
                </a:ext>
              </a:extLst>
            </p:cNvPr>
            <p:cNvSpPr txBox="1"/>
            <p:nvPr/>
          </p:nvSpPr>
          <p:spPr>
            <a:xfrm>
              <a:off x="6854751" y="4056396"/>
              <a:ext cx="19707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Debt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collectIon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admInIstratIon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processes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90" name="Düz Bağlayıcı 89">
              <a:extLst>
                <a:ext uri="{FF2B5EF4-FFF2-40B4-BE49-F238E27FC236}">
                  <a16:creationId xmlns:a16="http://schemas.microsoft.com/office/drawing/2014/main" id="{736BD238-3225-F4E7-5477-79A5C3B32112}"/>
                </a:ext>
              </a:extLst>
            </p:cNvPr>
            <p:cNvCxnSpPr>
              <a:cxnSpLocks/>
            </p:cNvCxnSpPr>
            <p:nvPr/>
          </p:nvCxnSpPr>
          <p:spPr>
            <a:xfrm>
              <a:off x="6287525" y="4791296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" name="Grup 11">
            <a:extLst>
              <a:ext uri="{FF2B5EF4-FFF2-40B4-BE49-F238E27FC236}">
                <a16:creationId xmlns:a16="http://schemas.microsoft.com/office/drawing/2014/main" id="{20AC2C88-CC4F-B11A-EB34-E04D7FA22B0F}"/>
              </a:ext>
            </a:extLst>
          </p:cNvPr>
          <p:cNvGrpSpPr/>
          <p:nvPr/>
        </p:nvGrpSpPr>
        <p:grpSpPr>
          <a:xfrm>
            <a:off x="6168513" y="4696932"/>
            <a:ext cx="2644839" cy="557625"/>
            <a:chOff x="6172590" y="4943043"/>
            <a:chExt cx="2644839" cy="557625"/>
          </a:xfrm>
        </p:grpSpPr>
        <p:sp>
          <p:nvSpPr>
            <p:cNvPr id="92" name="Metin kutusu 91">
              <a:extLst>
                <a:ext uri="{FF2B5EF4-FFF2-40B4-BE49-F238E27FC236}">
                  <a16:creationId xmlns:a16="http://schemas.microsoft.com/office/drawing/2014/main" id="{558F4771-8C04-217B-32FF-6C357ED3235A}"/>
                </a:ext>
              </a:extLst>
            </p:cNvPr>
            <p:cNvSpPr txBox="1"/>
            <p:nvPr/>
          </p:nvSpPr>
          <p:spPr>
            <a:xfrm>
              <a:off x="6172590" y="5034483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dirty="0">
                  <a:solidFill>
                    <a:srgbClr val="F37721"/>
                  </a:solidFill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per5x</a:t>
              </a:r>
              <a:r>
                <a:rPr lang="tr-TR" sz="1400" b="1" i="0" dirty="0">
                  <a:solidFill>
                    <a:srgbClr val="F37721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F37721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93" name="Metin kutusu 92">
              <a:extLst>
                <a:ext uri="{FF2B5EF4-FFF2-40B4-BE49-F238E27FC236}">
                  <a16:creationId xmlns:a16="http://schemas.microsoft.com/office/drawing/2014/main" id="{CE555165-C8F9-95E8-F188-CF8507B7FBD1}"/>
                </a:ext>
              </a:extLst>
            </p:cNvPr>
            <p:cNvSpPr txBox="1"/>
            <p:nvPr/>
          </p:nvSpPr>
          <p:spPr>
            <a:xfrm>
              <a:off x="6846728" y="4943043"/>
              <a:ext cx="197070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CodIng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InvoIce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processes</a:t>
              </a:r>
              <a:endParaRPr lang="tr-TR" sz="1200" b="0" i="0" cap="all" dirty="0">
                <a:solidFill>
                  <a:srgbClr val="25252C"/>
                </a:solidFill>
                <a:effectLst/>
                <a:highlight>
                  <a:srgbClr val="FFFFFF"/>
                </a:highlight>
                <a:latin typeface="+mj-lt"/>
              </a:endParaRPr>
            </a:p>
          </p:txBody>
        </p:sp>
        <p:cxnSp>
          <p:nvCxnSpPr>
            <p:cNvPr id="94" name="Düz Bağlayıcı 93">
              <a:extLst>
                <a:ext uri="{FF2B5EF4-FFF2-40B4-BE49-F238E27FC236}">
                  <a16:creationId xmlns:a16="http://schemas.microsoft.com/office/drawing/2014/main" id="{AD13DE8B-792D-A507-5270-94A87326C8B6}"/>
                </a:ext>
              </a:extLst>
            </p:cNvPr>
            <p:cNvCxnSpPr>
              <a:cxnSpLocks/>
            </p:cNvCxnSpPr>
            <p:nvPr/>
          </p:nvCxnSpPr>
          <p:spPr>
            <a:xfrm>
              <a:off x="6279502" y="5500668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Grup 12">
            <a:extLst>
              <a:ext uri="{FF2B5EF4-FFF2-40B4-BE49-F238E27FC236}">
                <a16:creationId xmlns:a16="http://schemas.microsoft.com/office/drawing/2014/main" id="{391FA04C-B207-6A3F-3AAC-B63E820BA5E4}"/>
              </a:ext>
            </a:extLst>
          </p:cNvPr>
          <p:cNvGrpSpPr/>
          <p:nvPr/>
        </p:nvGrpSpPr>
        <p:grpSpPr>
          <a:xfrm>
            <a:off x="6168513" y="2764506"/>
            <a:ext cx="2644839" cy="697587"/>
            <a:chOff x="8817429" y="1840342"/>
            <a:chExt cx="2644839" cy="697587"/>
          </a:xfrm>
        </p:grpSpPr>
        <p:sp>
          <p:nvSpPr>
            <p:cNvPr id="96" name="Metin kutusu 95">
              <a:extLst>
                <a:ext uri="{FF2B5EF4-FFF2-40B4-BE49-F238E27FC236}">
                  <a16:creationId xmlns:a16="http://schemas.microsoft.com/office/drawing/2014/main" id="{E371E906-4791-D4FB-13CB-98044AC4EE8F}"/>
                </a:ext>
              </a:extLst>
            </p:cNvPr>
            <p:cNvSpPr txBox="1"/>
            <p:nvPr/>
          </p:nvSpPr>
          <p:spPr>
            <a:xfrm>
              <a:off x="8817429" y="1982582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616173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per6x</a:t>
              </a:r>
              <a:r>
                <a:rPr lang="tr-TR" sz="1400" b="1" i="0" dirty="0">
                  <a:solidFill>
                    <a:srgbClr val="616173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616173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97" name="Metin kutusu 96">
              <a:extLst>
                <a:ext uri="{FF2B5EF4-FFF2-40B4-BE49-F238E27FC236}">
                  <a16:creationId xmlns:a16="http://schemas.microsoft.com/office/drawing/2014/main" id="{8BACD38B-61AC-8EA5-183D-C2E4348F4DFD}"/>
                </a:ext>
              </a:extLst>
            </p:cNvPr>
            <p:cNvSpPr txBox="1"/>
            <p:nvPr/>
          </p:nvSpPr>
          <p:spPr>
            <a:xfrm>
              <a:off x="9491567" y="1840342"/>
              <a:ext cx="19707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Management of supplier and purchase invoices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98" name="Düz Bağlayıcı 97">
              <a:extLst>
                <a:ext uri="{FF2B5EF4-FFF2-40B4-BE49-F238E27FC236}">
                  <a16:creationId xmlns:a16="http://schemas.microsoft.com/office/drawing/2014/main" id="{19580D41-4D79-F44C-DAAE-CEC8B5FA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2537929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 14">
            <a:extLst>
              <a:ext uri="{FF2B5EF4-FFF2-40B4-BE49-F238E27FC236}">
                <a16:creationId xmlns:a16="http://schemas.microsoft.com/office/drawing/2014/main" id="{E3815792-34AE-34EA-A4E6-D8697FD0659D}"/>
              </a:ext>
            </a:extLst>
          </p:cNvPr>
          <p:cNvGrpSpPr/>
          <p:nvPr/>
        </p:nvGrpSpPr>
        <p:grpSpPr>
          <a:xfrm>
            <a:off x="8813352" y="2741473"/>
            <a:ext cx="2644839" cy="716239"/>
            <a:chOff x="8817429" y="2741189"/>
            <a:chExt cx="2644839" cy="716239"/>
          </a:xfrm>
        </p:grpSpPr>
        <p:sp>
          <p:nvSpPr>
            <p:cNvPr id="100" name="Metin kutusu 99">
              <a:extLst>
                <a:ext uri="{FF2B5EF4-FFF2-40B4-BE49-F238E27FC236}">
                  <a16:creationId xmlns:a16="http://schemas.microsoft.com/office/drawing/2014/main" id="{FD7CAE49-F18D-367E-752C-761C39CE6C9E}"/>
                </a:ext>
              </a:extLst>
            </p:cNvPr>
            <p:cNvSpPr txBox="1"/>
            <p:nvPr/>
          </p:nvSpPr>
          <p:spPr>
            <a:xfrm>
              <a:off x="8817429" y="2893589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1078CF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per7x</a:t>
              </a:r>
              <a:r>
                <a:rPr lang="tr-TR" sz="1400" b="1" i="0" dirty="0">
                  <a:solidFill>
                    <a:srgbClr val="1078CF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1078C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1" name="Metin kutusu 100">
              <a:extLst>
                <a:ext uri="{FF2B5EF4-FFF2-40B4-BE49-F238E27FC236}">
                  <a16:creationId xmlns:a16="http://schemas.microsoft.com/office/drawing/2014/main" id="{4E8335D8-ABCA-7E95-E77E-A9A9B1E4C505}"/>
                </a:ext>
              </a:extLst>
            </p:cNvPr>
            <p:cNvSpPr txBox="1"/>
            <p:nvPr/>
          </p:nvSpPr>
          <p:spPr>
            <a:xfrm>
              <a:off x="9491567" y="2741189"/>
              <a:ext cx="19707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Managing Maverick spend &amp; Spend leakage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02" name="Düz Bağlayıcı 101">
              <a:extLst>
                <a:ext uri="{FF2B5EF4-FFF2-40B4-BE49-F238E27FC236}">
                  <a16:creationId xmlns:a16="http://schemas.microsoft.com/office/drawing/2014/main" id="{87409FF8-8F43-CBCD-E45F-A1465170BB84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3457428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" name="Grup 15">
            <a:extLst>
              <a:ext uri="{FF2B5EF4-FFF2-40B4-BE49-F238E27FC236}">
                <a16:creationId xmlns:a16="http://schemas.microsoft.com/office/drawing/2014/main" id="{4FDF228D-4A53-C066-5082-528D3F1606C2}"/>
              </a:ext>
            </a:extLst>
          </p:cNvPr>
          <p:cNvGrpSpPr/>
          <p:nvPr/>
        </p:nvGrpSpPr>
        <p:grpSpPr>
          <a:xfrm>
            <a:off x="8813352" y="3635833"/>
            <a:ext cx="2644839" cy="921514"/>
            <a:chOff x="8817429" y="3656286"/>
            <a:chExt cx="2644839" cy="921514"/>
          </a:xfrm>
        </p:grpSpPr>
        <p:sp>
          <p:nvSpPr>
            <p:cNvPr id="104" name="Metin kutusu 103">
              <a:extLst>
                <a:ext uri="{FF2B5EF4-FFF2-40B4-BE49-F238E27FC236}">
                  <a16:creationId xmlns:a16="http://schemas.microsoft.com/office/drawing/2014/main" id="{E388BB5C-C9EF-9DC1-19B5-AD8823F87CA9}"/>
                </a:ext>
              </a:extLst>
            </p:cNvPr>
            <p:cNvSpPr txBox="1"/>
            <p:nvPr/>
          </p:nvSpPr>
          <p:spPr>
            <a:xfrm>
              <a:off x="8817429" y="3930606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FCB415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per8x</a:t>
              </a:r>
              <a:r>
                <a:rPr lang="tr-TR" sz="1400" b="1" i="0" dirty="0">
                  <a:solidFill>
                    <a:srgbClr val="FCB415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FCB41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5" name="Metin kutusu 104">
              <a:extLst>
                <a:ext uri="{FF2B5EF4-FFF2-40B4-BE49-F238E27FC236}">
                  <a16:creationId xmlns:a16="http://schemas.microsoft.com/office/drawing/2014/main" id="{A984B308-B2DC-7D51-BE88-33E4DB0B9ABD}"/>
                </a:ext>
              </a:extLst>
            </p:cNvPr>
            <p:cNvSpPr txBox="1"/>
            <p:nvPr/>
          </p:nvSpPr>
          <p:spPr>
            <a:xfrm>
              <a:off x="9491567" y="3656286"/>
              <a:ext cx="197070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Finance query management and dashboard reporting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06" name="Düz Bağlayıcı 105">
              <a:extLst>
                <a:ext uri="{FF2B5EF4-FFF2-40B4-BE49-F238E27FC236}">
                  <a16:creationId xmlns:a16="http://schemas.microsoft.com/office/drawing/2014/main" id="{781FEE8A-8B62-E95E-11A3-56EF1D6C1FF9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4577800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up 16">
            <a:extLst>
              <a:ext uri="{FF2B5EF4-FFF2-40B4-BE49-F238E27FC236}">
                <a16:creationId xmlns:a16="http://schemas.microsoft.com/office/drawing/2014/main" id="{A447F7FB-0EA7-79A6-407C-2A20A3E89138}"/>
              </a:ext>
            </a:extLst>
          </p:cNvPr>
          <p:cNvGrpSpPr/>
          <p:nvPr/>
        </p:nvGrpSpPr>
        <p:grpSpPr>
          <a:xfrm>
            <a:off x="6168513" y="3688439"/>
            <a:ext cx="2644839" cy="896633"/>
            <a:chOff x="8817429" y="4788821"/>
            <a:chExt cx="2644839" cy="896633"/>
          </a:xfrm>
        </p:grpSpPr>
        <p:sp>
          <p:nvSpPr>
            <p:cNvPr id="108" name="Metin kutusu 107">
              <a:extLst>
                <a:ext uri="{FF2B5EF4-FFF2-40B4-BE49-F238E27FC236}">
                  <a16:creationId xmlns:a16="http://schemas.microsoft.com/office/drawing/2014/main" id="{B82BF7D9-C6A6-18BC-7236-5DAFEE7CB7E6}"/>
                </a:ext>
              </a:extLst>
            </p:cNvPr>
            <p:cNvSpPr txBox="1"/>
            <p:nvPr/>
          </p:nvSpPr>
          <p:spPr>
            <a:xfrm>
              <a:off x="8817429" y="5002181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40404C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per9x</a:t>
              </a:r>
              <a:r>
                <a:rPr lang="tr-TR" sz="1400" b="1" i="0" dirty="0">
                  <a:solidFill>
                    <a:srgbClr val="40404C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40404C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9" name="Metin kutusu 108">
              <a:extLst>
                <a:ext uri="{FF2B5EF4-FFF2-40B4-BE49-F238E27FC236}">
                  <a16:creationId xmlns:a16="http://schemas.microsoft.com/office/drawing/2014/main" id="{CAC382F4-FB39-6FC5-0D34-17B558A73657}"/>
                </a:ext>
              </a:extLst>
            </p:cNvPr>
            <p:cNvSpPr txBox="1"/>
            <p:nvPr/>
          </p:nvSpPr>
          <p:spPr>
            <a:xfrm>
              <a:off x="9491567" y="4788821"/>
              <a:ext cx="197070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Customer Invoicing &amp; Finance Workflow Management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10" name="Düz Bağlayıcı 109">
              <a:extLst>
                <a:ext uri="{FF2B5EF4-FFF2-40B4-BE49-F238E27FC236}">
                  <a16:creationId xmlns:a16="http://schemas.microsoft.com/office/drawing/2014/main" id="{A4347154-C127-FFC1-08D3-FB0EF51C4824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5685454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up 17">
            <a:extLst>
              <a:ext uri="{FF2B5EF4-FFF2-40B4-BE49-F238E27FC236}">
                <a16:creationId xmlns:a16="http://schemas.microsoft.com/office/drawing/2014/main" id="{8AF031B6-445D-051F-E70B-9B3120E69AB5}"/>
              </a:ext>
            </a:extLst>
          </p:cNvPr>
          <p:cNvGrpSpPr/>
          <p:nvPr/>
        </p:nvGrpSpPr>
        <p:grpSpPr>
          <a:xfrm>
            <a:off x="8821682" y="4700582"/>
            <a:ext cx="2644839" cy="588934"/>
            <a:chOff x="8817429" y="5816406"/>
            <a:chExt cx="2644839" cy="588934"/>
          </a:xfrm>
        </p:grpSpPr>
        <p:sp>
          <p:nvSpPr>
            <p:cNvPr id="112" name="Metin kutusu 111">
              <a:extLst>
                <a:ext uri="{FF2B5EF4-FFF2-40B4-BE49-F238E27FC236}">
                  <a16:creationId xmlns:a16="http://schemas.microsoft.com/office/drawing/2014/main" id="{CC84724E-414F-4032-7E50-6A3377C93D5B}"/>
                </a:ext>
              </a:extLst>
            </p:cNvPr>
            <p:cNvSpPr txBox="1"/>
            <p:nvPr/>
          </p:nvSpPr>
          <p:spPr>
            <a:xfrm>
              <a:off x="8817429" y="5938326"/>
              <a:ext cx="9913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1" i="0" dirty="0">
                  <a:solidFill>
                    <a:srgbClr val="4C9ADB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per10x</a:t>
              </a:r>
              <a:r>
                <a:rPr lang="tr-TR" sz="1400" b="1" i="0" dirty="0">
                  <a:solidFill>
                    <a:srgbClr val="4C9ADB"/>
                  </a:solidFill>
                  <a:effectLst/>
                  <a:highlight>
                    <a:srgbClr val="FFFFFF"/>
                  </a:highlight>
                  <a:latin typeface="Montserrat SemiBold" panose="00000700000000000000" pitchFamily="2" charset="0"/>
                </a:rPr>
                <a:t>%</a:t>
              </a:r>
              <a:endParaRPr lang="tr-TR" sz="1400" dirty="0">
                <a:solidFill>
                  <a:srgbClr val="4C9ADB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13" name="Metin kutusu 112">
              <a:extLst>
                <a:ext uri="{FF2B5EF4-FFF2-40B4-BE49-F238E27FC236}">
                  <a16:creationId xmlns:a16="http://schemas.microsoft.com/office/drawing/2014/main" id="{8ECA3C71-B90C-5C79-92BE-D4A43231630C}"/>
                </a:ext>
              </a:extLst>
            </p:cNvPr>
            <p:cNvSpPr txBox="1"/>
            <p:nvPr/>
          </p:nvSpPr>
          <p:spPr>
            <a:xfrm>
              <a:off x="9491567" y="5816406"/>
              <a:ext cx="197070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OnlIne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expense</a:t>
              </a:r>
              <a:r>
                <a:rPr lang="tr-TR" sz="1200" b="0" i="0" cap="all" dirty="0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 </a:t>
              </a:r>
              <a:r>
                <a:rPr lang="tr-TR" sz="1200" b="0" i="0" cap="all" dirty="0" err="1">
                  <a:solidFill>
                    <a:srgbClr val="25252C"/>
                  </a:solidFill>
                  <a:effectLst/>
                  <a:highlight>
                    <a:srgbClr val="FFFFFF"/>
                  </a:highlight>
                  <a:latin typeface="+mj-lt"/>
                </a:rPr>
                <a:t>management</a:t>
              </a:r>
              <a:endParaRPr lang="tr-TR" sz="1200" dirty="0">
                <a:latin typeface="+mj-lt"/>
              </a:endParaRPr>
            </a:p>
          </p:txBody>
        </p:sp>
        <p:cxnSp>
          <p:nvCxnSpPr>
            <p:cNvPr id="114" name="Düz Bağlayıcı 113">
              <a:extLst>
                <a:ext uri="{FF2B5EF4-FFF2-40B4-BE49-F238E27FC236}">
                  <a16:creationId xmlns:a16="http://schemas.microsoft.com/office/drawing/2014/main" id="{18380BCB-3B68-498E-6E7C-C5B6B59EDEE3}"/>
                </a:ext>
              </a:extLst>
            </p:cNvPr>
            <p:cNvCxnSpPr>
              <a:cxnSpLocks/>
            </p:cNvCxnSpPr>
            <p:nvPr/>
          </p:nvCxnSpPr>
          <p:spPr>
            <a:xfrm>
              <a:off x="8924341" y="6405340"/>
              <a:ext cx="2304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57890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Numarası Yer Tutucusu 1">
            <a:extLst>
              <a:ext uri="{FF2B5EF4-FFF2-40B4-BE49-F238E27FC236}">
                <a16:creationId xmlns:a16="http://schemas.microsoft.com/office/drawing/2014/main" id="{4799F497-A7B6-4959-CA18-E04457955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5</a:t>
            </a:fld>
            <a:endParaRPr lang="en-US"/>
          </a:p>
        </p:txBody>
      </p:sp>
      <p:grpSp>
        <p:nvGrpSpPr>
          <p:cNvPr id="8" name="Grup 7">
            <a:extLst>
              <a:ext uri="{FF2B5EF4-FFF2-40B4-BE49-F238E27FC236}">
                <a16:creationId xmlns:a16="http://schemas.microsoft.com/office/drawing/2014/main" id="{D652DCD0-C009-2081-FA82-3662C7BF1E7B}"/>
              </a:ext>
            </a:extLst>
          </p:cNvPr>
          <p:cNvGrpSpPr/>
          <p:nvPr/>
        </p:nvGrpSpPr>
        <p:grpSpPr>
          <a:xfrm>
            <a:off x="528545" y="1098305"/>
            <a:ext cx="2738027" cy="1134010"/>
            <a:chOff x="323184" y="683777"/>
            <a:chExt cx="3395944" cy="1201040"/>
          </a:xfrm>
        </p:grpSpPr>
        <p:sp>
          <p:nvSpPr>
            <p:cNvPr id="3" name="TextBox 41">
              <a:extLst>
                <a:ext uri="{FF2B5EF4-FFF2-40B4-BE49-F238E27FC236}">
                  <a16:creationId xmlns:a16="http://schemas.microsoft.com/office/drawing/2014/main" id="{22F32B97-3F00-B750-6AA5-DA551F12C778}"/>
                </a:ext>
              </a:extLst>
            </p:cNvPr>
            <p:cNvSpPr txBox="1"/>
            <p:nvPr/>
          </p:nvSpPr>
          <p:spPr>
            <a:xfrm>
              <a:off x="356496" y="683777"/>
              <a:ext cx="2612846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15D23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15D23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15D23"/>
                  </a:solidFill>
                  <a:latin typeface="Montserrat SemiBold" panose="00000700000000000000" pitchFamily="2" charset="0"/>
                </a:rPr>
                <a:t>prpoval</a:t>
              </a:r>
              <a:endParaRPr lang="en-US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5" name="Metin kutusu 4">
              <a:extLst>
                <a:ext uri="{FF2B5EF4-FFF2-40B4-BE49-F238E27FC236}">
                  <a16:creationId xmlns:a16="http://schemas.microsoft.com/office/drawing/2014/main" id="{11C0659B-B953-2BD7-B07D-1642C2DDDF68}"/>
                </a:ext>
              </a:extLst>
            </p:cNvPr>
            <p:cNvSpPr txBox="1"/>
            <p:nvPr/>
          </p:nvSpPr>
          <p:spPr>
            <a:xfrm>
              <a:off x="356496" y="1098031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RaIsIng</a:t>
              </a:r>
              <a:r>
                <a:rPr lang="tr-TR" sz="1100" b="1" i="0" cap="all" dirty="0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Purchase</a:t>
              </a:r>
              <a:r>
                <a:rPr lang="tr-TR" sz="1100" b="1" i="0" cap="all" dirty="0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Orders</a:t>
              </a:r>
              <a:endParaRPr lang="tr-TR" sz="1100" b="1" i="0" cap="all" dirty="0">
                <a:solidFill>
                  <a:srgbClr val="555555"/>
                </a:solidFill>
                <a:effectLst/>
                <a:latin typeface="Montserrat SemiBold" panose="00000700000000000000" pitchFamily="2" charset="0"/>
              </a:endParaRPr>
            </a:p>
          </p:txBody>
        </p:sp>
        <p:sp>
          <p:nvSpPr>
            <p:cNvPr id="7" name="Metin kutusu 6">
              <a:extLst>
                <a:ext uri="{FF2B5EF4-FFF2-40B4-BE49-F238E27FC236}">
                  <a16:creationId xmlns:a16="http://schemas.microsoft.com/office/drawing/2014/main" id="{CE5DD493-8C8B-7B2F-C609-120E02BD117D}"/>
                </a:ext>
              </a:extLst>
            </p:cNvPr>
            <p:cNvSpPr txBox="1"/>
            <p:nvPr/>
          </p:nvSpPr>
          <p:spPr>
            <a:xfrm>
              <a:off x="323184" y="1477355"/>
              <a:ext cx="3261775" cy="4074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b="0" i="0" dirty="0" err="1">
                  <a:solidFill>
                    <a:srgbClr val="555555"/>
                  </a:solidFill>
                  <a:effectLst/>
                  <a:latin typeface="Open Sans" panose="020B0606030504020204" pitchFamily="34" charset="0"/>
                </a:rPr>
                <a:t>Optimise</a:t>
              </a:r>
              <a:r>
                <a:rPr lang="en-US" sz="950" b="0" i="0" dirty="0">
                  <a:solidFill>
                    <a:srgbClr val="555555"/>
                  </a:solidFill>
                  <a:effectLst/>
                  <a:latin typeface="Open Sans" panose="020B0606030504020204" pitchFamily="34" charset="0"/>
                </a:rPr>
                <a:t> purchasing processes, </a:t>
              </a:r>
              <a:r>
                <a:rPr lang="en-US" sz="950" b="0" i="0" dirty="0" err="1">
                  <a:solidFill>
                    <a:srgbClr val="555555"/>
                  </a:solidFill>
                  <a:effectLst/>
                  <a:latin typeface="Open Sans" panose="020B0606030504020204" pitchFamily="34" charset="0"/>
                </a:rPr>
                <a:t>minimise</a:t>
              </a:r>
              <a:r>
                <a:rPr lang="en-US" sz="950" b="0" i="0" dirty="0">
                  <a:solidFill>
                    <a:srgbClr val="555555"/>
                  </a:solidFill>
                  <a:effectLst/>
                  <a:latin typeface="Open Sans" panose="020B0606030504020204" pitchFamily="34" charset="0"/>
                </a:rPr>
                <a:t> errors, and ensure timely procurement</a:t>
              </a:r>
              <a:endParaRPr lang="tr-TR" sz="950" dirty="0"/>
            </a:p>
          </p:txBody>
        </p:sp>
      </p:grpSp>
      <p:grpSp>
        <p:nvGrpSpPr>
          <p:cNvPr id="57" name="Grup 56">
            <a:extLst>
              <a:ext uri="{FF2B5EF4-FFF2-40B4-BE49-F238E27FC236}">
                <a16:creationId xmlns:a16="http://schemas.microsoft.com/office/drawing/2014/main" id="{F98E25A5-05E0-0F5A-B0CE-8A07D9D5A161}"/>
              </a:ext>
            </a:extLst>
          </p:cNvPr>
          <p:cNvGrpSpPr/>
          <p:nvPr/>
        </p:nvGrpSpPr>
        <p:grpSpPr>
          <a:xfrm>
            <a:off x="3199846" y="1098305"/>
            <a:ext cx="2711169" cy="1254544"/>
            <a:chOff x="356496" y="683777"/>
            <a:chExt cx="3362632" cy="1328701"/>
          </a:xfrm>
        </p:grpSpPr>
        <p:sp>
          <p:nvSpPr>
            <p:cNvPr id="58" name="TextBox 41">
              <a:extLst>
                <a:ext uri="{FF2B5EF4-FFF2-40B4-BE49-F238E27FC236}">
                  <a16:creationId xmlns:a16="http://schemas.microsoft.com/office/drawing/2014/main" id="{4F8C3667-588B-01E3-6ABC-422A96BD3866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6911E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6911E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6911E"/>
                  </a:solidFill>
                  <a:latin typeface="Montserrat SemiBold" panose="00000700000000000000" pitchFamily="2" charset="0"/>
                </a:rPr>
                <a:t>ppoaval</a:t>
              </a:r>
              <a:endParaRPr lang="en-US" b="1" dirty="0">
                <a:solidFill>
                  <a:srgbClr val="F6911E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59" name="Metin kutusu 58">
              <a:extLst>
                <a:ext uri="{FF2B5EF4-FFF2-40B4-BE49-F238E27FC236}">
                  <a16:creationId xmlns:a16="http://schemas.microsoft.com/office/drawing/2014/main" id="{52EF5415-BE16-643E-44C5-4FB74BB57C6B}"/>
                </a:ext>
              </a:extLst>
            </p:cNvPr>
            <p:cNvSpPr txBox="1"/>
            <p:nvPr/>
          </p:nvSpPr>
          <p:spPr>
            <a:xfrm>
              <a:off x="356496" y="1098031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Purchase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Order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approvals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60" name="Metin kutusu 59">
              <a:extLst>
                <a:ext uri="{FF2B5EF4-FFF2-40B4-BE49-F238E27FC236}">
                  <a16:creationId xmlns:a16="http://schemas.microsoft.com/office/drawing/2014/main" id="{89890676-43BD-C906-5D2A-09FAB0D2B707}"/>
                </a:ext>
              </a:extLst>
            </p:cNvPr>
            <p:cNvSpPr txBox="1"/>
            <p:nvPr/>
          </p:nvSpPr>
          <p:spPr>
            <a:xfrm>
              <a:off x="356496" y="1450180"/>
              <a:ext cx="3261775" cy="5622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Improve precision and ensure timely purchase order processes, ultimately enhancing operational efficiency.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61" name="Grup 60">
            <a:extLst>
              <a:ext uri="{FF2B5EF4-FFF2-40B4-BE49-F238E27FC236}">
                <a16:creationId xmlns:a16="http://schemas.microsoft.com/office/drawing/2014/main" id="{6348A403-BBD3-7C03-63D8-71DB33FCEC60}"/>
              </a:ext>
            </a:extLst>
          </p:cNvPr>
          <p:cNvGrpSpPr/>
          <p:nvPr/>
        </p:nvGrpSpPr>
        <p:grpSpPr>
          <a:xfrm>
            <a:off x="5844289" y="1098306"/>
            <a:ext cx="2711169" cy="1236422"/>
            <a:chOff x="356496" y="683777"/>
            <a:chExt cx="3362632" cy="1309506"/>
          </a:xfrm>
        </p:grpSpPr>
        <p:sp>
          <p:nvSpPr>
            <p:cNvPr id="62" name="TextBox 41">
              <a:extLst>
                <a:ext uri="{FF2B5EF4-FFF2-40B4-BE49-F238E27FC236}">
                  <a16:creationId xmlns:a16="http://schemas.microsoft.com/office/drawing/2014/main" id="{76824EF2-887D-D375-D8A5-111DB55811D2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37721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37721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37721"/>
                  </a:solidFill>
                  <a:latin typeface="Montserrat SemiBold" panose="00000700000000000000" pitchFamily="2" charset="0"/>
                </a:rPr>
                <a:t>pcipval</a:t>
              </a:r>
              <a:endParaRPr lang="en-US" b="1" dirty="0">
                <a:solidFill>
                  <a:srgbClr val="F37721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63" name="Metin kutusu 62">
              <a:extLst>
                <a:ext uri="{FF2B5EF4-FFF2-40B4-BE49-F238E27FC236}">
                  <a16:creationId xmlns:a16="http://schemas.microsoft.com/office/drawing/2014/main" id="{01DB5729-5F76-DD4E-DECD-00DBA4631227}"/>
                </a:ext>
              </a:extLst>
            </p:cNvPr>
            <p:cNvSpPr txBox="1"/>
            <p:nvPr/>
          </p:nvSpPr>
          <p:spPr>
            <a:xfrm>
              <a:off x="356496" y="1063999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Cod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ng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nvo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ce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processes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64" name="Metin kutusu 63">
              <a:extLst>
                <a:ext uri="{FF2B5EF4-FFF2-40B4-BE49-F238E27FC236}">
                  <a16:creationId xmlns:a16="http://schemas.microsoft.com/office/drawing/2014/main" id="{70B7DF68-A6B1-A7D1-1FE0-C4BC70BD0EDD}"/>
                </a:ext>
              </a:extLst>
            </p:cNvPr>
            <p:cNvSpPr txBox="1"/>
            <p:nvPr/>
          </p:nvSpPr>
          <p:spPr>
            <a:xfrm>
              <a:off x="356496" y="1430986"/>
              <a:ext cx="3261775" cy="5622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 err="1">
                  <a:solidFill>
                    <a:srgbClr val="555555"/>
                  </a:solidFill>
                  <a:latin typeface="Open Sans" panose="020B0606030504020204" pitchFamily="34" charset="0"/>
                </a:rPr>
                <a:t>Minimise</a:t>
              </a:r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 errors and boost customer satisfaction by ensuring invoices are accurate and timely.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65" name="Grup 64">
            <a:extLst>
              <a:ext uri="{FF2B5EF4-FFF2-40B4-BE49-F238E27FC236}">
                <a16:creationId xmlns:a16="http://schemas.microsoft.com/office/drawing/2014/main" id="{7470ADB2-C72B-CAF1-540B-C342E3A40EE7}"/>
              </a:ext>
            </a:extLst>
          </p:cNvPr>
          <p:cNvGrpSpPr/>
          <p:nvPr/>
        </p:nvGrpSpPr>
        <p:grpSpPr>
          <a:xfrm>
            <a:off x="8488733" y="1098305"/>
            <a:ext cx="2817024" cy="1236422"/>
            <a:chOff x="356496" y="683777"/>
            <a:chExt cx="3362632" cy="1309507"/>
          </a:xfrm>
        </p:grpSpPr>
        <p:sp>
          <p:nvSpPr>
            <p:cNvPr id="66" name="TextBox 41">
              <a:extLst>
                <a:ext uri="{FF2B5EF4-FFF2-40B4-BE49-F238E27FC236}">
                  <a16:creationId xmlns:a16="http://schemas.microsoft.com/office/drawing/2014/main" id="{1EB35EE1-4666-4F9B-E86F-8E125084A501}"/>
                </a:ext>
              </a:extLst>
            </p:cNvPr>
            <p:cNvSpPr txBox="1"/>
            <p:nvPr/>
          </p:nvSpPr>
          <p:spPr>
            <a:xfrm>
              <a:off x="356496" y="683777"/>
              <a:ext cx="2612845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616173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616173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616173"/>
                  </a:solidFill>
                  <a:latin typeface="Montserrat SemiBold" panose="00000700000000000000" pitchFamily="2" charset="0"/>
                </a:rPr>
                <a:t>pmspival</a:t>
              </a:r>
              <a:endParaRPr lang="en-US" b="1" dirty="0">
                <a:solidFill>
                  <a:srgbClr val="61617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67" name="Metin kutusu 66">
              <a:extLst>
                <a:ext uri="{FF2B5EF4-FFF2-40B4-BE49-F238E27FC236}">
                  <a16:creationId xmlns:a16="http://schemas.microsoft.com/office/drawing/2014/main" id="{B4C366F9-7CA7-D5CB-D168-B331177566FD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Management of supplier and purchase invoices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68" name="Metin kutusu 67">
              <a:extLst>
                <a:ext uri="{FF2B5EF4-FFF2-40B4-BE49-F238E27FC236}">
                  <a16:creationId xmlns:a16="http://schemas.microsoft.com/office/drawing/2014/main" id="{A513D85B-78B3-DBE2-BD9A-ABE5F9E43C18}"/>
                </a:ext>
              </a:extLst>
            </p:cNvPr>
            <p:cNvSpPr txBox="1"/>
            <p:nvPr/>
          </p:nvSpPr>
          <p:spPr>
            <a:xfrm>
              <a:off x="356496" y="1430987"/>
              <a:ext cx="3261775" cy="5622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Ensure timely payments, maintain good supplier relationships, and contribute to efficient financial operations.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101" name="Grup 100">
            <a:extLst>
              <a:ext uri="{FF2B5EF4-FFF2-40B4-BE49-F238E27FC236}">
                <a16:creationId xmlns:a16="http://schemas.microsoft.com/office/drawing/2014/main" id="{63970938-07D4-7FBB-C212-E5A391FCEEBA}"/>
              </a:ext>
            </a:extLst>
          </p:cNvPr>
          <p:cNvGrpSpPr/>
          <p:nvPr/>
        </p:nvGrpSpPr>
        <p:grpSpPr>
          <a:xfrm>
            <a:off x="555403" y="2981907"/>
            <a:ext cx="2711169" cy="1370981"/>
            <a:chOff x="356496" y="683777"/>
            <a:chExt cx="3362632" cy="1452020"/>
          </a:xfrm>
        </p:grpSpPr>
        <p:sp>
          <p:nvSpPr>
            <p:cNvPr id="102" name="TextBox 41">
              <a:extLst>
                <a:ext uri="{FF2B5EF4-FFF2-40B4-BE49-F238E27FC236}">
                  <a16:creationId xmlns:a16="http://schemas.microsoft.com/office/drawing/2014/main" id="{8405EFC9-E102-49D6-6EF0-82763702D37E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1078CF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1078CF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1078CF"/>
                  </a:solidFill>
                  <a:latin typeface="Montserrat SemiBold" panose="00000700000000000000" pitchFamily="2" charset="0"/>
                </a:rPr>
                <a:t>pmslval</a:t>
              </a:r>
              <a:endParaRPr lang="en-US" b="1" dirty="0">
                <a:solidFill>
                  <a:srgbClr val="1078CF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03" name="Metin kutusu 102">
              <a:extLst>
                <a:ext uri="{FF2B5EF4-FFF2-40B4-BE49-F238E27FC236}">
                  <a16:creationId xmlns:a16="http://schemas.microsoft.com/office/drawing/2014/main" id="{EE4731C8-E691-F24C-1264-5D180A9D9577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Managing Maverick spend &amp; Spend leakage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4" name="Metin kutusu 103">
              <a:extLst>
                <a:ext uri="{FF2B5EF4-FFF2-40B4-BE49-F238E27FC236}">
                  <a16:creationId xmlns:a16="http://schemas.microsoft.com/office/drawing/2014/main" id="{FDEF0E98-0A9F-48CE-8429-19F6641A7B0A}"/>
                </a:ext>
              </a:extLst>
            </p:cNvPr>
            <p:cNvSpPr txBox="1"/>
            <p:nvPr/>
          </p:nvSpPr>
          <p:spPr>
            <a:xfrm>
              <a:off x="356496" y="1418665"/>
              <a:ext cx="3261775" cy="7171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Enable significant cost savings, empowering your business to allocate resources more effectively and achieve greater financial stability.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105" name="Grup 104">
            <a:extLst>
              <a:ext uri="{FF2B5EF4-FFF2-40B4-BE49-F238E27FC236}">
                <a16:creationId xmlns:a16="http://schemas.microsoft.com/office/drawing/2014/main" id="{6EA10EF7-BBCF-88E8-5286-57CF48AA033D}"/>
              </a:ext>
            </a:extLst>
          </p:cNvPr>
          <p:cNvGrpSpPr/>
          <p:nvPr/>
        </p:nvGrpSpPr>
        <p:grpSpPr>
          <a:xfrm>
            <a:off x="3199846" y="2981906"/>
            <a:ext cx="2711169" cy="1392109"/>
            <a:chOff x="356496" y="683777"/>
            <a:chExt cx="3362632" cy="1474396"/>
          </a:xfrm>
        </p:grpSpPr>
        <p:sp>
          <p:nvSpPr>
            <p:cNvPr id="106" name="TextBox 41">
              <a:extLst>
                <a:ext uri="{FF2B5EF4-FFF2-40B4-BE49-F238E27FC236}">
                  <a16:creationId xmlns:a16="http://schemas.microsoft.com/office/drawing/2014/main" id="{110710D0-F844-4CED-6400-E571D0E48B28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FCB415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FCB415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FCB415"/>
                  </a:solidFill>
                  <a:latin typeface="Montserrat SemiBold" panose="00000700000000000000" pitchFamily="2" charset="0"/>
                </a:rPr>
                <a:t>pfqmrval</a:t>
              </a:r>
              <a:endParaRPr lang="en-US" b="1" dirty="0">
                <a:solidFill>
                  <a:srgbClr val="FCB415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07" name="Metin kutusu 106">
              <a:extLst>
                <a:ext uri="{FF2B5EF4-FFF2-40B4-BE49-F238E27FC236}">
                  <a16:creationId xmlns:a16="http://schemas.microsoft.com/office/drawing/2014/main" id="{D2E86102-1E86-EC74-3C17-D2762C0A5B9B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Finance query management and dashboard reporting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8" name="Metin kutusu 107">
              <a:extLst>
                <a:ext uri="{FF2B5EF4-FFF2-40B4-BE49-F238E27FC236}">
                  <a16:creationId xmlns:a16="http://schemas.microsoft.com/office/drawing/2014/main" id="{B52508D1-3082-1BBA-EA36-0DCADDB47EDB}"/>
                </a:ext>
              </a:extLst>
            </p:cNvPr>
            <p:cNvSpPr txBox="1"/>
            <p:nvPr/>
          </p:nvSpPr>
          <p:spPr>
            <a:xfrm>
              <a:off x="356496" y="1441042"/>
              <a:ext cx="3261775" cy="7171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Quicker decision-making, increased accuracy and enhanced visibility into financial performance, ultimately drives customer success and satisfaction.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109" name="Grup 108">
            <a:extLst>
              <a:ext uri="{FF2B5EF4-FFF2-40B4-BE49-F238E27FC236}">
                <a16:creationId xmlns:a16="http://schemas.microsoft.com/office/drawing/2014/main" id="{4AB562DE-9CD3-F33E-5606-DE490E0F965E}"/>
              </a:ext>
            </a:extLst>
          </p:cNvPr>
          <p:cNvGrpSpPr/>
          <p:nvPr/>
        </p:nvGrpSpPr>
        <p:grpSpPr>
          <a:xfrm>
            <a:off x="5844289" y="2981906"/>
            <a:ext cx="2711169" cy="1397126"/>
            <a:chOff x="356496" y="683777"/>
            <a:chExt cx="3362632" cy="1479709"/>
          </a:xfrm>
        </p:grpSpPr>
        <p:sp>
          <p:nvSpPr>
            <p:cNvPr id="110" name="TextBox 41">
              <a:extLst>
                <a:ext uri="{FF2B5EF4-FFF2-40B4-BE49-F238E27FC236}">
                  <a16:creationId xmlns:a16="http://schemas.microsoft.com/office/drawing/2014/main" id="{C4D3B900-CA76-28B7-D9F0-20582987BC8C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2D4FB2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2D4FB2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2D4FB2"/>
                  </a:solidFill>
                  <a:latin typeface="Montserrat SemiBold" panose="00000700000000000000" pitchFamily="2" charset="0"/>
                </a:rPr>
                <a:t>pdcapval</a:t>
              </a:r>
              <a:endParaRPr lang="en-US" b="1" dirty="0">
                <a:solidFill>
                  <a:srgbClr val="2D4FB2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11" name="Metin kutusu 110">
              <a:extLst>
                <a:ext uri="{FF2B5EF4-FFF2-40B4-BE49-F238E27FC236}">
                  <a16:creationId xmlns:a16="http://schemas.microsoft.com/office/drawing/2014/main" id="{68BE52E6-12A4-3342-83DA-22F2F3DF7254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Debt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collectIon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adm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n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strat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on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processes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12" name="Metin kutusu 111">
              <a:extLst>
                <a:ext uri="{FF2B5EF4-FFF2-40B4-BE49-F238E27FC236}">
                  <a16:creationId xmlns:a16="http://schemas.microsoft.com/office/drawing/2014/main" id="{D2627D97-5F59-1AE7-ECD6-2D326E5AE7B6}"/>
                </a:ext>
              </a:extLst>
            </p:cNvPr>
            <p:cNvSpPr txBox="1"/>
            <p:nvPr/>
          </p:nvSpPr>
          <p:spPr>
            <a:xfrm>
              <a:off x="356496" y="1446355"/>
              <a:ext cx="3261775" cy="7171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Boost efficiency, cut costs, and elevate customer satisfaction by ensuring tailored and responsive debt collection processes, which  are timely and accurate.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113" name="Grup 112">
            <a:extLst>
              <a:ext uri="{FF2B5EF4-FFF2-40B4-BE49-F238E27FC236}">
                <a16:creationId xmlns:a16="http://schemas.microsoft.com/office/drawing/2014/main" id="{785FC446-70BF-C184-F74D-D65742F8C401}"/>
              </a:ext>
            </a:extLst>
          </p:cNvPr>
          <p:cNvGrpSpPr/>
          <p:nvPr/>
        </p:nvGrpSpPr>
        <p:grpSpPr>
          <a:xfrm>
            <a:off x="8474141" y="2982955"/>
            <a:ext cx="2711169" cy="1281712"/>
            <a:chOff x="356496" y="651180"/>
            <a:chExt cx="3362632" cy="1357473"/>
          </a:xfrm>
        </p:grpSpPr>
        <p:sp>
          <p:nvSpPr>
            <p:cNvPr id="114" name="TextBox 41">
              <a:extLst>
                <a:ext uri="{FF2B5EF4-FFF2-40B4-BE49-F238E27FC236}">
                  <a16:creationId xmlns:a16="http://schemas.microsoft.com/office/drawing/2014/main" id="{011AA6F9-0185-2DEB-8507-4CA61E672CB8}"/>
                </a:ext>
              </a:extLst>
            </p:cNvPr>
            <p:cNvSpPr txBox="1"/>
            <p:nvPr/>
          </p:nvSpPr>
          <p:spPr>
            <a:xfrm>
              <a:off x="356496" y="651180"/>
              <a:ext cx="2612847" cy="423761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sz="2000" b="1" i="0" dirty="0">
                  <a:solidFill>
                    <a:srgbClr val="40404C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sz="2000" b="1" i="0" dirty="0">
                  <a:solidFill>
                    <a:srgbClr val="40404C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sz="2000" b="1" dirty="0" err="1">
                  <a:solidFill>
                    <a:srgbClr val="40404C"/>
                  </a:solidFill>
                  <a:latin typeface="Montserrat SemiBold" panose="00000700000000000000" pitchFamily="2" charset="0"/>
                </a:rPr>
                <a:t>pcifwval</a:t>
              </a:r>
              <a:endParaRPr lang="en-US" sz="2000" b="1" dirty="0">
                <a:solidFill>
                  <a:srgbClr val="40404C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15" name="Metin kutusu 114">
              <a:extLst>
                <a:ext uri="{FF2B5EF4-FFF2-40B4-BE49-F238E27FC236}">
                  <a16:creationId xmlns:a16="http://schemas.microsoft.com/office/drawing/2014/main" id="{B2A6F5CB-99DA-A6F5-B757-2BC263A6C1E7}"/>
                </a:ext>
              </a:extLst>
            </p:cNvPr>
            <p:cNvSpPr txBox="1"/>
            <p:nvPr/>
          </p:nvSpPr>
          <p:spPr>
            <a:xfrm>
              <a:off x="356496" y="1035613"/>
              <a:ext cx="3362632" cy="4563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Customer Invoicing &amp; Finance Workflow Management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16" name="Metin kutusu 115">
              <a:extLst>
                <a:ext uri="{FF2B5EF4-FFF2-40B4-BE49-F238E27FC236}">
                  <a16:creationId xmlns:a16="http://schemas.microsoft.com/office/drawing/2014/main" id="{4277378F-1D56-88FC-ED14-AB2F841A560B}"/>
                </a:ext>
              </a:extLst>
            </p:cNvPr>
            <p:cNvSpPr txBox="1"/>
            <p:nvPr/>
          </p:nvSpPr>
          <p:spPr>
            <a:xfrm>
              <a:off x="356496" y="1446356"/>
              <a:ext cx="3261775" cy="5622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Enhance accuracy, efficiency and customer satisfaction by streamlining processes and reducing errors.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117" name="Grup 116">
            <a:extLst>
              <a:ext uri="{FF2B5EF4-FFF2-40B4-BE49-F238E27FC236}">
                <a16:creationId xmlns:a16="http://schemas.microsoft.com/office/drawing/2014/main" id="{6F2E7AF9-F8E2-5B22-2358-036B48F3D3F8}"/>
              </a:ext>
            </a:extLst>
          </p:cNvPr>
          <p:cNvGrpSpPr/>
          <p:nvPr/>
        </p:nvGrpSpPr>
        <p:grpSpPr>
          <a:xfrm>
            <a:off x="555403" y="4898950"/>
            <a:ext cx="2711169" cy="1137569"/>
            <a:chOff x="356496" y="683777"/>
            <a:chExt cx="3362632" cy="1204811"/>
          </a:xfrm>
        </p:grpSpPr>
        <p:sp>
          <p:nvSpPr>
            <p:cNvPr id="118" name="TextBox 41">
              <a:extLst>
                <a:ext uri="{FF2B5EF4-FFF2-40B4-BE49-F238E27FC236}">
                  <a16:creationId xmlns:a16="http://schemas.microsoft.com/office/drawing/2014/main" id="{C614F80E-10FB-53CA-0DC0-E3D867CBB51C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4C9ADB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4C9ADB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4C9ADB"/>
                  </a:solidFill>
                  <a:latin typeface="Montserrat SemiBold" panose="00000700000000000000" pitchFamily="2" charset="0"/>
                </a:rPr>
                <a:t>poemval</a:t>
              </a:r>
              <a:endParaRPr lang="en-US" b="1" dirty="0">
                <a:solidFill>
                  <a:srgbClr val="4C9ADB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19" name="Metin kutusu 118">
              <a:extLst>
                <a:ext uri="{FF2B5EF4-FFF2-40B4-BE49-F238E27FC236}">
                  <a16:creationId xmlns:a16="http://schemas.microsoft.com/office/drawing/2014/main" id="{0EF7D480-7EE8-1E83-4828-FA87E7CBB4A6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Onl</a:t>
              </a:r>
              <a:r>
                <a:rPr lang="tr-TR" sz="1100" b="1" i="0" cap="all" dirty="0" err="1">
                  <a:solidFill>
                    <a:srgbClr val="555555"/>
                  </a:solidFill>
                  <a:effectLst/>
                  <a:latin typeface="Montserrat SemiBold" panose="00000700000000000000" pitchFamily="2" charset="0"/>
                </a:rPr>
                <a:t>I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ne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expense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management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20" name="Metin kutusu 119">
              <a:extLst>
                <a:ext uri="{FF2B5EF4-FFF2-40B4-BE49-F238E27FC236}">
                  <a16:creationId xmlns:a16="http://schemas.microsoft.com/office/drawing/2014/main" id="{EF87C3C9-0CEC-F09F-1071-897022ACD7FA}"/>
                </a:ext>
              </a:extLst>
            </p:cNvPr>
            <p:cNvSpPr txBox="1"/>
            <p:nvPr/>
          </p:nvSpPr>
          <p:spPr>
            <a:xfrm>
              <a:off x="356496" y="1326290"/>
              <a:ext cx="3261775" cy="5622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Simplify financial expenses tracking, reduce claim errors and enhance expense budget controls easily.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grpSp>
        <p:nvGrpSpPr>
          <p:cNvPr id="121" name="Grup 120">
            <a:extLst>
              <a:ext uri="{FF2B5EF4-FFF2-40B4-BE49-F238E27FC236}">
                <a16:creationId xmlns:a16="http://schemas.microsoft.com/office/drawing/2014/main" id="{257C2E3A-8AF5-EB74-493A-902F5FF0CBBF}"/>
              </a:ext>
            </a:extLst>
          </p:cNvPr>
          <p:cNvGrpSpPr/>
          <p:nvPr/>
        </p:nvGrpSpPr>
        <p:grpSpPr>
          <a:xfrm>
            <a:off x="3199846" y="4898950"/>
            <a:ext cx="2711169" cy="1283762"/>
            <a:chOff x="356496" y="683777"/>
            <a:chExt cx="3362632" cy="1359644"/>
          </a:xfrm>
        </p:grpSpPr>
        <p:sp>
          <p:nvSpPr>
            <p:cNvPr id="122" name="TextBox 41">
              <a:extLst>
                <a:ext uri="{FF2B5EF4-FFF2-40B4-BE49-F238E27FC236}">
                  <a16:creationId xmlns:a16="http://schemas.microsoft.com/office/drawing/2014/main" id="{F406E458-8874-85AB-363D-4DE317E9B303}"/>
                </a:ext>
              </a:extLst>
            </p:cNvPr>
            <p:cNvSpPr txBox="1"/>
            <p:nvPr/>
          </p:nvSpPr>
          <p:spPr>
            <a:xfrm>
              <a:off x="356496" y="683777"/>
              <a:ext cx="2612847" cy="391163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r>
                <a:rPr lang="tr-TR" b="1" i="0" dirty="0">
                  <a:solidFill>
                    <a:srgbClr val="A4A4B2"/>
                  </a:solidFill>
                  <a:effectLst/>
                  <a:latin typeface="Open Sans" panose="020B0606030504020204" pitchFamily="34" charset="0"/>
                </a:rPr>
                <a:t>£ </a:t>
              </a:r>
              <a:r>
                <a:rPr lang="tr-TR" b="1" i="0" dirty="0">
                  <a:solidFill>
                    <a:srgbClr val="A4A4B2"/>
                  </a:solidFill>
                  <a:effectLst/>
                  <a:latin typeface="Montserrat SemiBold" panose="00000700000000000000" pitchFamily="2" charset="0"/>
                </a:rPr>
                <a:t> </a:t>
              </a:r>
              <a:r>
                <a:rPr lang="tr-TR" b="1" dirty="0" err="1">
                  <a:solidFill>
                    <a:srgbClr val="A4A4B2"/>
                  </a:solidFill>
                  <a:latin typeface="Montserrat SemiBold" panose="00000700000000000000" pitchFamily="2" charset="0"/>
                </a:rPr>
                <a:t>pitfinanceval</a:t>
              </a:r>
              <a:endParaRPr lang="en-US" b="1" dirty="0">
                <a:solidFill>
                  <a:srgbClr val="A4A4B2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23" name="Metin kutusu 122">
              <a:extLst>
                <a:ext uri="{FF2B5EF4-FFF2-40B4-BE49-F238E27FC236}">
                  <a16:creationId xmlns:a16="http://schemas.microsoft.com/office/drawing/2014/main" id="{A0B7123B-E077-14D7-5216-0A25474D14D2}"/>
                </a:ext>
              </a:extLst>
            </p:cNvPr>
            <p:cNvSpPr txBox="1"/>
            <p:nvPr/>
          </p:nvSpPr>
          <p:spPr>
            <a:xfrm>
              <a:off x="356496" y="1035612"/>
              <a:ext cx="3362632" cy="2770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IT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fInance</a:t>
              </a:r>
              <a:r>
                <a:rPr lang="tr-TR" sz="1100" b="1" cap="all" dirty="0">
                  <a:solidFill>
                    <a:srgbClr val="555555"/>
                  </a:solidFill>
                  <a:latin typeface="Montserrat SemiBold" panose="00000700000000000000" pitchFamily="2" charset="0"/>
                </a:rPr>
                <a:t> </a:t>
              </a:r>
              <a:r>
                <a:rPr lang="tr-TR" sz="1100" b="1" cap="all" dirty="0" err="1">
                  <a:solidFill>
                    <a:srgbClr val="555555"/>
                  </a:solidFill>
                  <a:latin typeface="Montserrat SemiBold" panose="00000700000000000000" pitchFamily="2" charset="0"/>
                </a:rPr>
                <a:t>systems</a:t>
              </a:r>
              <a:endParaRPr lang="tr-TR" sz="1100" b="1" cap="all" dirty="0">
                <a:solidFill>
                  <a:srgbClr val="555555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24" name="Metin kutusu 123">
              <a:extLst>
                <a:ext uri="{FF2B5EF4-FFF2-40B4-BE49-F238E27FC236}">
                  <a16:creationId xmlns:a16="http://schemas.microsoft.com/office/drawing/2014/main" id="{68C0EE1E-0DEA-9319-9D0A-2FEF92CB1472}"/>
                </a:ext>
              </a:extLst>
            </p:cNvPr>
            <p:cNvSpPr txBox="1"/>
            <p:nvPr/>
          </p:nvSpPr>
          <p:spPr>
            <a:xfrm>
              <a:off x="356496" y="1326290"/>
              <a:ext cx="3261775" cy="7171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Enhance operational efficiency, strengthen security, and support business growth by ensuring systems are </a:t>
              </a:r>
              <a:r>
                <a:rPr lang="en-US" sz="950" dirty="0" err="1">
                  <a:solidFill>
                    <a:srgbClr val="555555"/>
                  </a:solidFill>
                  <a:latin typeface="Open Sans" panose="020B0606030504020204" pitchFamily="34" charset="0"/>
                </a:rPr>
                <a:t>optimised</a:t>
              </a:r>
              <a:r>
                <a:rPr lang="en-US" sz="950" dirty="0">
                  <a:solidFill>
                    <a:srgbClr val="555555"/>
                  </a:solidFill>
                  <a:latin typeface="Open Sans" panose="020B0606030504020204" pitchFamily="34" charset="0"/>
                </a:rPr>
                <a:t>, reliable and scalable.</a:t>
              </a:r>
              <a:endParaRPr lang="tr-TR" sz="950" dirty="0">
                <a:solidFill>
                  <a:srgbClr val="555555"/>
                </a:solidFill>
                <a:latin typeface="Open Sans" panose="020B0606030504020204" pitchFamily="34" charset="0"/>
              </a:endParaRPr>
            </a:p>
          </p:txBody>
        </p:sp>
      </p:grpSp>
      <p:sp>
        <p:nvSpPr>
          <p:cNvPr id="4" name="Title 2">
            <a:extLst>
              <a:ext uri="{FF2B5EF4-FFF2-40B4-BE49-F238E27FC236}">
                <a16:creationId xmlns:a16="http://schemas.microsoft.com/office/drawing/2014/main" id="{86DF87E2-0A1C-D1BB-361D-C6ECA4633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800" y="429459"/>
            <a:ext cx="10801349" cy="388773"/>
          </a:xfrm>
        </p:spPr>
        <p:txBody>
          <a:bodyPr/>
          <a:lstStyle/>
          <a:p>
            <a:r>
              <a:rPr lang="en-GB" dirty="0"/>
              <a:t>TOTAL COST OF DELAY</a:t>
            </a:r>
            <a:r>
              <a:rPr lang="tr-TR" dirty="0"/>
              <a:t> : BREAKDOWN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2529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SUMMARY OF RETURNS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237159-5595-B234-5E4A-043EFFCA2AED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11A7449-0F94-58D4-D1A8-AABE95370FFD}"/>
              </a:ext>
            </a:extLst>
          </p:cNvPr>
          <p:cNvSpPr txBox="1">
            <a:spLocks/>
          </p:cNvSpPr>
          <p:nvPr/>
        </p:nvSpPr>
        <p:spPr>
          <a:xfrm>
            <a:off x="635504" y="1249351"/>
            <a:ext cx="10666143" cy="4960949"/>
          </a:xfrm>
          <a:prstGeom prst="rect">
            <a:avLst/>
          </a:prstGeom>
        </p:spPr>
        <p:txBody>
          <a:bodyPr vert="horz" lIns="0" tIns="0" rIns="0" bIns="0" numCol="3" spcCol="36000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23F1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IT FINANCE SYSTEMS 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itfinanceper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pitfinanceval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asitfinance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eytimeitfinance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 your team</a:t>
            </a:r>
          </a:p>
          <a:p>
            <a:pPr marL="9017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r>
              <a:rPr lang="en-GB" sz="900" b="1" dirty="0">
                <a:solidFill>
                  <a:srgbClr val="E23F13"/>
                </a:solidFill>
                <a:latin typeface="Open Sans"/>
                <a:ea typeface="Open Sans"/>
                <a:cs typeface="Open Sans"/>
              </a:rPr>
              <a:t>RAISING PURCHASE ORDERS: 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rpoper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prpoval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asrpoval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eytimerpo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r>
              <a:rPr lang="en-GB" sz="900" b="1" dirty="0">
                <a:solidFill>
                  <a:srgbClr val="E23F13"/>
                </a:solidFill>
                <a:latin typeface="Open Sans"/>
                <a:ea typeface="Open Sans"/>
                <a:cs typeface="Open Sans"/>
              </a:rPr>
              <a:t>PURCHASE ORDER APPROVALS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poaper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ppoaval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aspoaval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eytimepoa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23F1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CODING INVOICE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cipper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pcipval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ascipval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eytimecip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900" b="1" dirty="0">
                <a:solidFill>
                  <a:srgbClr val="E23F13"/>
                </a:solidFill>
                <a:latin typeface="Open Sans"/>
                <a:ea typeface="Open Sans"/>
                <a:cs typeface="Open Sans"/>
              </a:rPr>
              <a:t>MANAGEMENT OF SUPPLIER AND PURCHASE INVOICES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mspiper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pmspival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asmspival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eytimemspi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23F13"/>
                </a:solidFill>
                <a:latin typeface="Montserrat SemiBold" panose="00000700000000000000" pitchFamily="2" charset="0"/>
                <a:cs typeface="Poppins" pitchFamily="2" charset="77"/>
              </a:rPr>
              <a:t>MANAGING SPEND LEAKAGE 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valmslper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pmslval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asmslval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eytimemsl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23F1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FINANCE QUERY MANAGEMENT &amp; REPORTING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valfqmrper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pfqmrval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asfqmrval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eytimefqmr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23F1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DEBT COLLECTION ADMINISTRATION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valdcapper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pdcapval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asdcapval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eytimedcap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23F13"/>
                </a:solidFill>
                <a:latin typeface="Montserrat SemiBold" panose="00000700000000000000" pitchFamily="2" charset="0"/>
                <a:ea typeface="League Spartan" charset="0"/>
                <a:cs typeface="Poppins" pitchFamily="2" charset="77"/>
              </a:rPr>
              <a:t>CUSTOMER INVOICING &amp; FINANCE WORKFLOW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valcifwper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pcifwval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ascifwval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eytimecifw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900" b="1" dirty="0">
                <a:solidFill>
                  <a:srgbClr val="E23F13"/>
                </a:solidFill>
                <a:latin typeface="Montserrat SemiBold" panose="00000700000000000000" pitchFamily="2" charset="0"/>
                <a:cs typeface="Poppins" pitchFamily="2" charset="77"/>
              </a:rPr>
              <a:t>ONLINE EXPENSE MANAGEMENT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anticipate 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tr-TR" sz="9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valoemper</a:t>
            </a:r>
            <a:r>
              <a:rPr lang="en-GB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% efficiency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increase to your current processes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This will save you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poemval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across the term of the contract, and £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asoemval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every year</a:t>
            </a:r>
          </a:p>
          <a:p>
            <a:pPr marL="261620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We estimate you will save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eytimeoem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hours every year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across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your</a:t>
            </a:r>
            <a:r>
              <a:rPr lang="tr-T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tr-TR" sz="9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team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9017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</a:pP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4662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BC53D8-9D7C-941A-CC2A-4063486EB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7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8DA237-B9A8-8F39-10D8-DB6BB8820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VALUE OFFERING</a:t>
            </a:r>
            <a:br>
              <a:rPr lang="en-GB" dirty="0"/>
            </a:br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EFCB1EEA-BDEC-08E7-276C-322204CC06FC}"/>
              </a:ext>
            </a:extLst>
          </p:cNvPr>
          <p:cNvGraphicFramePr>
            <a:graphicFrameLocks/>
          </p:cNvGraphicFramePr>
          <p:nvPr/>
        </p:nvGraphicFramePr>
        <p:xfrm>
          <a:off x="5669907" y="2657753"/>
          <a:ext cx="5531728" cy="18663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E94A281-D1A0-E5FD-CB82-72B642FBC7D5}"/>
              </a:ext>
            </a:extLst>
          </p:cNvPr>
          <p:cNvSpPr txBox="1"/>
          <p:nvPr/>
        </p:nvSpPr>
        <p:spPr>
          <a:xfrm>
            <a:off x="6318909" y="4542908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49F8A7-FC6D-313E-A2DF-2680E8BEA7AC}"/>
              </a:ext>
            </a:extLst>
          </p:cNvPr>
          <p:cNvCxnSpPr>
            <a:cxnSpLocks/>
          </p:cNvCxnSpPr>
          <p:nvPr/>
        </p:nvCxnSpPr>
        <p:spPr>
          <a:xfrm>
            <a:off x="6303932" y="4505358"/>
            <a:ext cx="607573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65C874-7CD2-69FC-F01E-31A1F1F36C0E}"/>
              </a:ext>
            </a:extLst>
          </p:cNvPr>
          <p:cNvSpPr txBox="1"/>
          <p:nvPr/>
        </p:nvSpPr>
        <p:spPr>
          <a:xfrm>
            <a:off x="9521321" y="4542908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7307F1-3E9F-31AB-602F-D0B447E51DF3}"/>
              </a:ext>
            </a:extLst>
          </p:cNvPr>
          <p:cNvSpPr/>
          <p:nvPr/>
        </p:nvSpPr>
        <p:spPr>
          <a:xfrm>
            <a:off x="7671223" y="4871633"/>
            <a:ext cx="172687" cy="1602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9F8ECD-4880-724C-097B-DAE96AEC930F}"/>
              </a:ext>
            </a:extLst>
          </p:cNvPr>
          <p:cNvSpPr txBox="1"/>
          <p:nvPr/>
        </p:nvSpPr>
        <p:spPr>
          <a:xfrm>
            <a:off x="7772940" y="4862500"/>
            <a:ext cx="9062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INVESTMENT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547995-0EAD-1650-0828-399741769E1F}"/>
              </a:ext>
            </a:extLst>
          </p:cNvPr>
          <p:cNvSpPr/>
          <p:nvPr/>
        </p:nvSpPr>
        <p:spPr>
          <a:xfrm>
            <a:off x="9086850" y="4871613"/>
            <a:ext cx="184133" cy="1602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381449-0B76-F1EF-4F55-C41BCD50E42A}"/>
              </a:ext>
            </a:extLst>
          </p:cNvPr>
          <p:cNvSpPr txBox="1"/>
          <p:nvPr/>
        </p:nvSpPr>
        <p:spPr>
          <a:xfrm>
            <a:off x="9209014" y="4862500"/>
            <a:ext cx="6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BENEFIT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F4BBBE-B522-6819-ADDD-AA352D356F1F}"/>
              </a:ext>
            </a:extLst>
          </p:cNvPr>
          <p:cNvSpPr txBox="1"/>
          <p:nvPr/>
        </p:nvSpPr>
        <p:spPr>
          <a:xfrm>
            <a:off x="7370173" y="4534313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E8D07E-173B-6337-B44A-85A484F1B09A}"/>
              </a:ext>
            </a:extLst>
          </p:cNvPr>
          <p:cNvSpPr txBox="1"/>
          <p:nvPr/>
        </p:nvSpPr>
        <p:spPr>
          <a:xfrm>
            <a:off x="5614506" y="2016672"/>
            <a:ext cx="4884244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862" b="1" dirty="0" err="1">
                <a:solidFill>
                  <a:srgbClr val="25252C"/>
                </a:solidFill>
                <a:latin typeface="Montserrat SemiBold" pitchFamily="2" charset="77"/>
              </a:rPr>
              <a:t>valclient</a:t>
            </a:r>
            <a:r>
              <a:rPr lang="en-GB" sz="1862" b="1" dirty="0">
                <a:solidFill>
                  <a:srgbClr val="25252C"/>
                </a:solidFill>
                <a:latin typeface="Montserrat SemiBold" pitchFamily="2" charset="77"/>
              </a:rPr>
              <a:t> RETURNS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B8A4694-80A8-24F1-7161-7605BE1AF04A}"/>
              </a:ext>
            </a:extLst>
          </p:cNvPr>
          <p:cNvCxnSpPr>
            <a:cxnSpLocks/>
          </p:cNvCxnSpPr>
          <p:nvPr/>
        </p:nvCxnSpPr>
        <p:spPr>
          <a:xfrm>
            <a:off x="7351123" y="4499703"/>
            <a:ext cx="607573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67887AB-D86D-4FCE-C90D-139F3D439E0F}"/>
              </a:ext>
            </a:extLst>
          </p:cNvPr>
          <p:cNvCxnSpPr>
            <a:cxnSpLocks/>
          </p:cNvCxnSpPr>
          <p:nvPr/>
        </p:nvCxnSpPr>
        <p:spPr>
          <a:xfrm>
            <a:off x="8422593" y="4501300"/>
            <a:ext cx="618916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E5FF4BC-4ACC-E8C4-02E3-9CC3261AAF43}"/>
              </a:ext>
            </a:extLst>
          </p:cNvPr>
          <p:cNvCxnSpPr>
            <a:cxnSpLocks/>
          </p:cNvCxnSpPr>
          <p:nvPr/>
        </p:nvCxnSpPr>
        <p:spPr>
          <a:xfrm>
            <a:off x="9479995" y="4501300"/>
            <a:ext cx="618916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3E78D28-15B3-66E5-6E12-C0FA26BF754B}"/>
              </a:ext>
            </a:extLst>
          </p:cNvPr>
          <p:cNvCxnSpPr>
            <a:cxnSpLocks/>
          </p:cNvCxnSpPr>
          <p:nvPr/>
        </p:nvCxnSpPr>
        <p:spPr>
          <a:xfrm>
            <a:off x="10550332" y="4501300"/>
            <a:ext cx="618916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6198AE-6EB5-C51F-409C-26B8F7F86BEF}"/>
              </a:ext>
            </a:extLst>
          </p:cNvPr>
          <p:cNvSpPr txBox="1"/>
          <p:nvPr/>
        </p:nvSpPr>
        <p:spPr>
          <a:xfrm>
            <a:off x="8444646" y="4537558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B2181E-C4A0-6999-3B29-5141DD713FE1}"/>
              </a:ext>
            </a:extLst>
          </p:cNvPr>
          <p:cNvSpPr txBox="1"/>
          <p:nvPr/>
        </p:nvSpPr>
        <p:spPr>
          <a:xfrm>
            <a:off x="10589451" y="4550022"/>
            <a:ext cx="5658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 5</a:t>
            </a:r>
          </a:p>
        </p:txBody>
      </p:sp>
      <p:pic>
        <p:nvPicPr>
          <p:cNvPr id="33" name="Graphic 32" descr="Coins outline">
            <a:extLst>
              <a:ext uri="{FF2B5EF4-FFF2-40B4-BE49-F238E27FC236}">
                <a16:creationId xmlns:a16="http://schemas.microsoft.com/office/drawing/2014/main" id="{8893B05B-C6E0-B3A7-D58E-486044616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2107" y="2016302"/>
            <a:ext cx="493118" cy="493118"/>
          </a:xfrm>
          <a:prstGeom prst="rect">
            <a:avLst/>
          </a:prstGeom>
        </p:spPr>
      </p:pic>
      <p:pic>
        <p:nvPicPr>
          <p:cNvPr id="34" name="Graphic 33" descr="Open hand outline">
            <a:extLst>
              <a:ext uri="{FF2B5EF4-FFF2-40B4-BE49-F238E27FC236}">
                <a16:creationId xmlns:a16="http://schemas.microsoft.com/office/drawing/2014/main" id="{F4B19FD7-C3E3-0A5D-8AC9-C81CAEC52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506" y="4042808"/>
            <a:ext cx="394596" cy="394596"/>
          </a:xfrm>
          <a:prstGeom prst="rect">
            <a:avLst/>
          </a:prstGeom>
        </p:spPr>
      </p:pic>
      <p:pic>
        <p:nvPicPr>
          <p:cNvPr id="35" name="Graphic 34" descr="Dollar outline">
            <a:extLst>
              <a:ext uri="{FF2B5EF4-FFF2-40B4-BE49-F238E27FC236}">
                <a16:creationId xmlns:a16="http://schemas.microsoft.com/office/drawing/2014/main" id="{3F7A8CC5-A34A-2AAF-046A-EA7F5275B0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77097" y="3971094"/>
            <a:ext cx="99414" cy="9941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FA86A8D-86F3-D8A5-4B2F-A073EE2727C5}"/>
              </a:ext>
            </a:extLst>
          </p:cNvPr>
          <p:cNvSpPr txBox="1"/>
          <p:nvPr/>
        </p:nvSpPr>
        <p:spPr>
          <a:xfrm>
            <a:off x="385167" y="3361760"/>
            <a:ext cx="1086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 cost of delay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5C6676-A04D-9A0A-5013-8F256DA67B98}"/>
              </a:ext>
            </a:extLst>
          </p:cNvPr>
          <p:cNvSpPr txBox="1"/>
          <p:nvPr/>
        </p:nvSpPr>
        <p:spPr>
          <a:xfrm>
            <a:off x="529012" y="2462878"/>
            <a:ext cx="7993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BENEFIT</a:t>
            </a:r>
          </a:p>
        </p:txBody>
      </p:sp>
      <p:pic>
        <p:nvPicPr>
          <p:cNvPr id="38" name="Graphic 37" descr="Downward trend graph outline">
            <a:extLst>
              <a:ext uri="{FF2B5EF4-FFF2-40B4-BE49-F238E27FC236}">
                <a16:creationId xmlns:a16="http://schemas.microsoft.com/office/drawing/2014/main" id="{7FA9B895-8EB4-7A49-5734-83756E4D30F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368" y="2930773"/>
            <a:ext cx="394596" cy="39459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7271072-AD93-D632-48FD-EDE2D6D2F892}"/>
              </a:ext>
            </a:extLst>
          </p:cNvPr>
          <p:cNvSpPr txBox="1"/>
          <p:nvPr/>
        </p:nvSpPr>
        <p:spPr>
          <a:xfrm>
            <a:off x="385167" y="4381620"/>
            <a:ext cx="108699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INVESTMENT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5CA6D4-8335-F2D7-196A-2958318AB9FC}"/>
              </a:ext>
            </a:extLst>
          </p:cNvPr>
          <p:cNvSpPr txBox="1"/>
          <p:nvPr/>
        </p:nvSpPr>
        <p:spPr>
          <a:xfrm>
            <a:off x="2962265" y="4316345"/>
            <a:ext cx="729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Payback</a:t>
            </a:r>
            <a:r>
              <a:rPr lang="en-GB" sz="7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00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Period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4C1CF3-49C6-7197-7CCD-F4A045119A8D}"/>
              </a:ext>
            </a:extLst>
          </p:cNvPr>
          <p:cNvSpPr txBox="1"/>
          <p:nvPr/>
        </p:nvSpPr>
        <p:spPr>
          <a:xfrm>
            <a:off x="1491097" y="2200685"/>
            <a:ext cx="1408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valbnft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A25C8F3-0395-18E2-136E-9D6BCA42D6B7}"/>
              </a:ext>
            </a:extLst>
          </p:cNvPr>
          <p:cNvSpPr/>
          <p:nvPr/>
        </p:nvSpPr>
        <p:spPr>
          <a:xfrm>
            <a:off x="3273526" y="4021748"/>
            <a:ext cx="106557" cy="106557"/>
          </a:xfrm>
          <a:prstGeom prst="ellipse">
            <a:avLst/>
          </a:prstGeom>
          <a:noFill/>
          <a:ln w="31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5A673-91FC-2C94-7F57-6F75AF00332C}"/>
              </a:ext>
            </a:extLst>
          </p:cNvPr>
          <p:cNvSpPr txBox="1"/>
          <p:nvPr/>
        </p:nvSpPr>
        <p:spPr>
          <a:xfrm>
            <a:off x="3797628" y="4027026"/>
            <a:ext cx="12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valmonths</a:t>
            </a:r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months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1CD36F-4B90-CBDF-E4CA-2F7753CCAD0D}"/>
              </a:ext>
            </a:extLst>
          </p:cNvPr>
          <p:cNvSpPr txBox="1"/>
          <p:nvPr/>
        </p:nvSpPr>
        <p:spPr>
          <a:xfrm>
            <a:off x="1491097" y="4017274"/>
            <a:ext cx="1599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valinvestment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3924B1-6D93-5AF9-68DF-307D783C4301}"/>
              </a:ext>
            </a:extLst>
          </p:cNvPr>
          <p:cNvSpPr txBox="1"/>
          <p:nvPr/>
        </p:nvSpPr>
        <p:spPr>
          <a:xfrm>
            <a:off x="1491097" y="3192818"/>
            <a:ext cx="12780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valacd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7" name="Graphic 46" descr="Diamond with solid fill">
            <a:extLst>
              <a:ext uri="{FF2B5EF4-FFF2-40B4-BE49-F238E27FC236}">
                <a16:creationId xmlns:a16="http://schemas.microsoft.com/office/drawing/2014/main" id="{82BCB199-5552-EC5E-904C-B1EE4616B02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16481" y="2033136"/>
            <a:ext cx="420646" cy="52126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814839A-EAED-C894-FA97-CC64E40C2578}"/>
              </a:ext>
            </a:extLst>
          </p:cNvPr>
          <p:cNvSpPr txBox="1"/>
          <p:nvPr/>
        </p:nvSpPr>
        <p:spPr>
          <a:xfrm>
            <a:off x="2906368" y="2516728"/>
            <a:ext cx="8408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NPV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9F857E-0C32-6C1E-C411-71299828D62F}"/>
              </a:ext>
            </a:extLst>
          </p:cNvPr>
          <p:cNvSpPr txBox="1"/>
          <p:nvPr/>
        </p:nvSpPr>
        <p:spPr>
          <a:xfrm>
            <a:off x="3797628" y="3184326"/>
            <a:ext cx="126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valroi</a:t>
            </a:r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567199-AC9B-6222-FCBC-A6DFAA7E81F7}"/>
              </a:ext>
            </a:extLst>
          </p:cNvPr>
          <p:cNvSpPr txBox="1"/>
          <p:nvPr/>
        </p:nvSpPr>
        <p:spPr>
          <a:xfrm>
            <a:off x="2986505" y="3171616"/>
            <a:ext cx="680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66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ROI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9B2869-F7B8-C766-B4DF-19CA5F6D8E9E}"/>
              </a:ext>
            </a:extLst>
          </p:cNvPr>
          <p:cNvSpPr txBox="1"/>
          <p:nvPr/>
        </p:nvSpPr>
        <p:spPr>
          <a:xfrm>
            <a:off x="3797628" y="2204508"/>
            <a:ext cx="126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0" u="none" strike="noStrike" dirty="0">
                <a:solidFill>
                  <a:schemeClr val="bg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valnpvv</a:t>
            </a:r>
            <a:r>
              <a:rPr lang="en-GB" sz="1600" i="0" u="none" strike="noStrike" dirty="0">
                <a:solidFill>
                  <a:schemeClr val="bg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52" name="Graphic 51" descr="Bank with solid fill">
            <a:extLst>
              <a:ext uri="{FF2B5EF4-FFF2-40B4-BE49-F238E27FC236}">
                <a16:creationId xmlns:a16="http://schemas.microsoft.com/office/drawing/2014/main" id="{2CA66873-6558-5189-CF21-85CA2C0FFA0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5332" y="3943217"/>
            <a:ext cx="486669" cy="4866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464C18C-8143-AB54-955A-A0DE0ACF69AD}"/>
              </a:ext>
            </a:extLst>
          </p:cNvPr>
          <p:cNvSpPr txBox="1"/>
          <p:nvPr/>
        </p:nvSpPr>
        <p:spPr>
          <a:xfrm>
            <a:off x="650833" y="791325"/>
            <a:ext cx="24062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5C0546B3-566A-AB4C-C2C7-58B31100AE5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87867" y="4872929"/>
            <a:ext cx="681598" cy="6815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19242E-63D7-70C5-83CD-51102A18B2C1}"/>
              </a:ext>
            </a:extLst>
          </p:cNvPr>
          <p:cNvSpPr txBox="1"/>
          <p:nvPr/>
        </p:nvSpPr>
        <p:spPr>
          <a:xfrm>
            <a:off x="385167" y="5549278"/>
            <a:ext cx="108699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HOURS SAVED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2C8D2C-9662-93C5-9673-63020C005BD9}"/>
              </a:ext>
            </a:extLst>
          </p:cNvPr>
          <p:cNvSpPr txBox="1"/>
          <p:nvPr/>
        </p:nvSpPr>
        <p:spPr>
          <a:xfrm>
            <a:off x="1491097" y="5063705"/>
            <a:ext cx="1599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valhours</a:t>
            </a:r>
            <a:endParaRPr lang="en-GB" sz="1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803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303557-C3DF-0A09-A6C3-B95DAC3B7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8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7C223-66B0-43E1-F7E0-38D12174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1"/>
            <a:ext cx="9292735" cy="401594"/>
          </a:xfrm>
        </p:spPr>
        <p:txBody>
          <a:bodyPr/>
          <a:lstStyle/>
          <a:p>
            <a:r>
              <a:rPr lang="tr-TR" dirty="0"/>
              <a:t>DEFINITION OF TERMS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D034D3-826E-71EB-8E21-FFDB47E1C1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70" y="1717608"/>
            <a:ext cx="4638088" cy="3361386"/>
          </a:xfrm>
        </p:spPr>
        <p:txBody>
          <a:bodyPr vert="horz" lIns="0" tIns="0" rIns="0" bIns="0" rtlCol="0" anchor="t">
            <a:noAutofit/>
          </a:bodyPr>
          <a:lstStyle/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Payback Period: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time at which benefits achieved outweigh amount invested. If you invest £12 and receive £1 per month, your payback period is 1 year, equal to the "break-even point”. This calculation does not consider the time value of money (see NPV)</a:t>
            </a:r>
          </a:p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Net Present Value (NPV):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the present value of future net Cashflows (cash in minus cash out). “Present Value” refers to the time value of money where a pound today is worth more than a pound five years from now. This is due to inflation, future uncertainty and other factors. The NPV here is calculated assuming a default 8% cost of capital.</a:t>
            </a:r>
          </a:p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Return on Investment (ROI):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The ratio of benefits vs its total costs. If you invest £12 and get £24 back, the ROI is 24/12 = 200% (i.e. you receive double what you contributed)</a:t>
            </a:r>
          </a:p>
          <a:p>
            <a:pPr marL="341630" indent="-25146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Adoption rate: </a:t>
            </a: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We have integrated software adoption rate factors into our value return calculations. These reflect reductions in value returns from factors such as staggered releases, ramp up times and more. 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B2551A1-F783-7ECB-94CE-4492E0A51074}"/>
              </a:ext>
            </a:extLst>
          </p:cNvPr>
          <p:cNvSpPr txBox="1">
            <a:spLocks/>
          </p:cNvSpPr>
          <p:nvPr/>
        </p:nvSpPr>
        <p:spPr>
          <a:xfrm>
            <a:off x="598832" y="1715549"/>
            <a:ext cx="4638088" cy="3898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None/>
            </a:pPr>
            <a: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Some key phrases we have illustrated in this proposal are detailed for </a:t>
            </a:r>
            <a:b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</a:br>
            <a: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information</a:t>
            </a:r>
            <a:endParaRPr lang="en-GB" sz="2800" b="1" dirty="0">
              <a:solidFill>
                <a:srgbClr val="FF66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2BB3E-BDED-0937-862C-B206BD0877B8}"/>
              </a:ext>
            </a:extLst>
          </p:cNvPr>
          <p:cNvSpPr txBox="1"/>
          <p:nvPr/>
        </p:nvSpPr>
        <p:spPr>
          <a:xfrm>
            <a:off x="517354" y="4189491"/>
            <a:ext cx="463808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17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Disclaimer </a:t>
            </a:r>
            <a:r>
              <a:rPr lang="en-GB" sz="900" dirty="0">
                <a:latin typeface="Open Sans"/>
                <a:ea typeface="Open Sans"/>
                <a:cs typeface="Open Sans"/>
              </a:rPr>
              <a:t>We hope these estimations can assist in purchasing decisions and surface value prospects could see. Details listed are provided in good faith, as a guide only, on an "as is" basis.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70780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1256D3-B27A-D9C6-DA8A-CF2A4073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9</a:t>
            </a:fld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8357287-C1DF-758E-C692-66B6339E43F1}"/>
              </a:ext>
            </a:extLst>
          </p:cNvPr>
          <p:cNvSpPr txBox="1">
            <a:spLocks/>
          </p:cNvSpPr>
          <p:nvPr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</p:spTree>
    <p:extLst>
      <p:ext uri="{BB962C8B-B14F-4D97-AF65-F5344CB8AC3E}">
        <p14:creationId xmlns:p14="http://schemas.microsoft.com/office/powerpoint/2010/main" val="3049836168"/>
      </p:ext>
    </p:extLst>
  </p:cSld>
  <p:clrMapOvr>
    <a:masterClrMapping/>
  </p:clrMapOvr>
</p:sld>
</file>

<file path=ppt/theme/theme1.xml><?xml version="1.0" encoding="utf-8"?>
<a:theme xmlns:a="http://schemas.openxmlformats.org/drawingml/2006/main" name="Advanced Theme">
  <a:themeElements>
    <a:clrScheme name="Custom 2">
      <a:dk1>
        <a:srgbClr val="25252C"/>
      </a:dk1>
      <a:lt1>
        <a:srgbClr val="FFFFFF"/>
      </a:lt1>
      <a:dk2>
        <a:srgbClr val="F15D22"/>
      </a:dk2>
      <a:lt2>
        <a:srgbClr val="FFFFFF"/>
      </a:lt2>
      <a:accent1>
        <a:srgbClr val="F37720"/>
      </a:accent1>
      <a:accent2>
        <a:srgbClr val="F6911E"/>
      </a:accent2>
      <a:accent3>
        <a:srgbClr val="FCC54C"/>
      </a:accent3>
      <a:accent4>
        <a:srgbClr val="FFDB9B"/>
      </a:accent4>
      <a:accent5>
        <a:srgbClr val="2D4FB2"/>
      </a:accent5>
      <a:accent6>
        <a:srgbClr val="19191F"/>
      </a:accent6>
      <a:hlink>
        <a:srgbClr val="2D4FB2"/>
      </a:hlink>
      <a:folHlink>
        <a:srgbClr val="1F377D"/>
      </a:folHlink>
    </a:clrScheme>
    <a:fontScheme name="Advanced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neAdvanced-Powerpoint" id="{F8C38506-A58B-420B-8FBB-E3229D059A60}" vid="{B09805F1-EDBB-4199-ACB7-00BD702268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2ADAF580B8A648AEA7FF4A5F3D65E6" ma:contentTypeVersion="11" ma:contentTypeDescription="Create a new document." ma:contentTypeScope="" ma:versionID="f2db5c34f6348a370055c14b94ddc919">
  <xsd:schema xmlns:xsd="http://www.w3.org/2001/XMLSchema" xmlns:xs="http://www.w3.org/2001/XMLSchema" xmlns:p="http://schemas.microsoft.com/office/2006/metadata/properties" xmlns:ns2="8a969d1d-647f-4e4c-97f9-a5143e71e435" xmlns:ns3="eb37a4e0-bf89-419d-8b31-963a97458fb1" targetNamespace="http://schemas.microsoft.com/office/2006/metadata/properties" ma:root="true" ma:fieldsID="42bedbc2e246c6b2e71d78ed3d4618fc" ns2:_="" ns3:_="">
    <xsd:import namespace="8a969d1d-647f-4e4c-97f9-a5143e71e435"/>
    <xsd:import namespace="eb37a4e0-bf89-419d-8b31-963a97458f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969d1d-647f-4e4c-97f9-a5143e71e4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d26eeb5-9ee9-4397-9b3e-f1e80249f7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7a4e0-bf89-419d-8b31-963a97458fb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47415d-69f8-47d4-a17a-a3b33913b4bf}" ma:internalName="TaxCatchAll" ma:showField="CatchAllData" ma:web="eb37a4e0-bf89-419d-8b31-963a97458f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969d1d-647f-4e4c-97f9-a5143e71e435">
      <Terms xmlns="http://schemas.microsoft.com/office/infopath/2007/PartnerControls"/>
    </lcf76f155ced4ddcb4097134ff3c332f>
    <TaxCatchAll xmlns="eb37a4e0-bf89-419d-8b31-963a97458fb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042E9DC-885B-4A24-9C3C-039F8335CD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969d1d-647f-4e4c-97f9-a5143e71e435"/>
    <ds:schemaRef ds:uri="eb37a4e0-bf89-419d-8b31-963a97458f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140E5F8-1399-4596-AA73-4BD79D26AFFD}">
  <ds:schemaRefs>
    <ds:schemaRef ds:uri="http://schemas.microsoft.com/office/2006/metadata/properties"/>
    <ds:schemaRef ds:uri="http://www.w3.org/XML/1998/namespace"/>
    <ds:schemaRef ds:uri="8e78c812-0be8-4f61-8186-a9387d596735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schemas.microsoft.com/office/infopath/2007/PartnerControls"/>
    <ds:schemaRef ds:uri="8a969d1d-647f-4e4c-97f9-a5143e71e435"/>
    <ds:schemaRef ds:uri="eb37a4e0-bf89-419d-8b31-963a97458fb1"/>
  </ds:schemaRefs>
</ds:datastoreItem>
</file>

<file path=customXml/itemProps3.xml><?xml version="1.0" encoding="utf-8"?>
<ds:datastoreItem xmlns:ds="http://schemas.openxmlformats.org/officeDocument/2006/customXml" ds:itemID="{953B4D23-82FF-4812-9F4E-BB600331C6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b5a89e7-01bf-42ed-9da1-669d82eec17a}" enabled="0" method="" siteId="{2b5a89e7-01bf-42ed-9da1-669d82ee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OneAdvanced-Powerpoint-Template (1)</Template>
  <TotalTime>2447</TotalTime>
  <Words>1365</Words>
  <Application>Microsoft Office PowerPoint</Application>
  <PresentationFormat>Geniş ekran</PresentationFormat>
  <Paragraphs>225</Paragraphs>
  <Slides>9</Slides>
  <Notes>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9</vt:i4>
      </vt:variant>
    </vt:vector>
  </HeadingPairs>
  <TitlesOfParts>
    <vt:vector size="17" baseType="lpstr">
      <vt:lpstr>Arial</vt:lpstr>
      <vt:lpstr>Calibri</vt:lpstr>
      <vt:lpstr>Montserrat</vt:lpstr>
      <vt:lpstr>Montserrat Medium</vt:lpstr>
      <vt:lpstr>Montserrat SemiBold</vt:lpstr>
      <vt:lpstr>Open Sans</vt:lpstr>
      <vt:lpstr>Wingdings</vt:lpstr>
      <vt:lpstr>Advanced Theme</vt:lpstr>
      <vt:lpstr>valclient Value Business Case</vt:lpstr>
      <vt:lpstr>DOING NOTHING IS NOT AN OPTION</vt:lpstr>
      <vt:lpstr>DOING NOTHING IS NOT AN OPTION</vt:lpstr>
      <vt:lpstr>TOTAL COST OF DELAY</vt:lpstr>
      <vt:lpstr>TOTAL COST OF DELAY : BREAKDOWN</vt:lpstr>
      <vt:lpstr>SUMMARY OF RETURNS</vt:lpstr>
      <vt:lpstr>OUR VALUE OFFERING </vt:lpstr>
      <vt:lpstr>DEFINITION OF TERMS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Board Pack template</dc:title>
  <dc:creator>Angela Dcruz</dc:creator>
  <cp:lastModifiedBy>Murat Özdemir</cp:lastModifiedBy>
  <cp:revision>44</cp:revision>
  <dcterms:created xsi:type="dcterms:W3CDTF">2024-07-05T15:05:35Z</dcterms:created>
  <dcterms:modified xsi:type="dcterms:W3CDTF">2024-10-03T12:08:23Z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0x010100FC2ADAF580B8A648AEA7FF4A5F3D65E6</vt:lpwstr>
  </property>
  <property fmtid="{D5CDD505-2E9C-101B-9397-08002B2CF9AE}" pid="3" name="MediaServiceImageTags">
    <vt:lpwstr/>
  </property>
</Properties>
</file>