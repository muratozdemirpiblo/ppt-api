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7"/>
  </p:notesMasterIdLst>
  <p:handoutMasterIdLst>
    <p:handoutMasterId r:id="rId18"/>
  </p:handoutMasterIdLst>
  <p:sldIdLst>
    <p:sldId id="289" r:id="rId7"/>
    <p:sldId id="457" r:id="rId8"/>
    <p:sldId id="458" r:id="rId9"/>
    <p:sldId id="463" r:id="rId10"/>
    <p:sldId id="465" r:id="rId11"/>
    <p:sldId id="466" r:id="rId12"/>
    <p:sldId id="449" r:id="rId13"/>
    <p:sldId id="461" r:id="rId14"/>
    <p:sldId id="468" r:id="rId15"/>
    <p:sldId id="46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79" autoAdjust="0"/>
  </p:normalViewPr>
  <p:slideViewPr>
    <p:cSldViewPr snapToGrid="0">
      <p:cViewPr varScale="1">
        <p:scale>
          <a:sx n="78" d="100"/>
          <a:sy n="78" d="100"/>
        </p:scale>
        <p:origin x="850" y="5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23"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16/10/2024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10/16/2024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16/10/2024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16/10/2024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16/10/2024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20" name="TextBox 19">
            <a:extLst>
              <a:ext uri="{FF2B5EF4-FFF2-40B4-BE49-F238E27FC236}">
                <a16:creationId xmlns:a16="http://schemas.microsoft.com/office/drawing/2014/main" id="{CB763372-9E0F-0805-2777-ABCA01E264C0}"/>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036350"/>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83966" y="295193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11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083966" y="4098608"/>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
        <p:nvSpPr>
          <p:cNvPr id="21" name="TextBox 4">
            <a:extLst>
              <a:ext uri="{FF2B5EF4-FFF2-40B4-BE49-F238E27FC236}">
                <a16:creationId xmlns:a16="http://schemas.microsoft.com/office/drawing/2014/main" id="{896BC969-B546-8012-870B-E36E9D9D9F9E}"/>
              </a:ext>
            </a:extLst>
          </p:cNvPr>
          <p:cNvSpPr txBox="1"/>
          <p:nvPr/>
        </p:nvSpPr>
        <p:spPr>
          <a:xfrm>
            <a:off x="6176844" y="1361440"/>
            <a:ext cx="5319832" cy="60016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If you purchase our systems and employ our software, our savings will help alleviate the following pain points across your organisation, and support revenue growth</a:t>
            </a:r>
          </a:p>
        </p:txBody>
      </p:sp>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121531"/>
            <a:ext cx="10666143" cy="5599944"/>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itfinanceper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pitfinanceval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asitfinance</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RAISING PURCHASE ORDERS</a:t>
            </a:r>
            <a:r>
              <a:rPr lang="en-GB" sz="1000" b="1" dirty="0">
                <a:solidFill>
                  <a:srgbClr val="E23F13"/>
                </a:solidFill>
                <a:latin typeface="Open Sans"/>
                <a:ea typeface="Open Sans"/>
                <a:cs typeface="Open Sans"/>
              </a:rPr>
              <a:t>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rpoper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prpoval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asrpoval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eytimerpo</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PURCHASE ORDER APPROVALS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poaper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ppoaval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aspoaval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eytimepoa</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cipper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MANAGEMENT OF SUPPLIER AND PURCHASE INVOICES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mspiper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pmspival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asmspival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eytimemspi</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valmslper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pmslval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asmslval</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valfqmrper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pfqmrval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asfqmrval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eytimefqmr</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DEBT COLLECTION ADMINISTRATION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valdcapper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pdcapval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asdcapval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eytimedcap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valcifwper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pcifwval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ascifwval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eytimecifw</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poemval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asoemval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eytimeoem</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10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sz="3100"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pic>
        <p:nvPicPr>
          <p:cNvPr id="6" name="Graphic 33" descr="Open hand outline">
            <a:extLst>
              <a:ext uri="{FF2B5EF4-FFF2-40B4-BE49-F238E27FC236}">
                <a16:creationId xmlns:a16="http://schemas.microsoft.com/office/drawing/2014/main" id="{1D57DDF8-A777-4402-331C-06BF0275CE28}"/>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3129506" y="4042808"/>
            <a:ext cx="394596" cy="394596"/>
          </a:xfrm>
          <a:prstGeom prst="rect">
            <a:avLst/>
          </a:prstGeom>
        </p:spPr>
      </p:pic>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buClr>
                <a:srgbClr val="E23F13"/>
              </a:buClr>
            </a:pPr>
            <a:r>
              <a:rPr lang="en-GB" sz="1000" b="1">
                <a:solidFill>
                  <a:srgbClr val="FF6600"/>
                </a:solidFill>
                <a:effectLst/>
                <a:latin typeface="Open Sans"/>
                <a:ea typeface="Open Sans"/>
                <a:cs typeface="Open Sans"/>
              </a:rPr>
              <a:t>Payback Period: </a:t>
            </a:r>
            <a:r>
              <a:rPr lang="en-GB" sz="100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000" b="1">
                <a:solidFill>
                  <a:srgbClr val="FF6600"/>
                </a:solidFill>
                <a:effectLst/>
                <a:latin typeface="Open Sans"/>
                <a:ea typeface="Open Sans"/>
                <a:cs typeface="Open Sans"/>
              </a:rPr>
              <a:t>Net Present Value (NPV): </a:t>
            </a:r>
            <a:r>
              <a:rPr lang="en-GB" sz="100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000" b="1">
                <a:solidFill>
                  <a:srgbClr val="FF6600"/>
                </a:solidFill>
                <a:effectLst/>
                <a:latin typeface="Open Sans"/>
                <a:ea typeface="Open Sans"/>
                <a:cs typeface="Open Sans"/>
              </a:rPr>
              <a:t>Return on Investment (ROI): </a:t>
            </a:r>
            <a:r>
              <a:rPr lang="en-GB" sz="100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000" b="1">
                <a:solidFill>
                  <a:srgbClr val="FF6600"/>
                </a:solidFill>
                <a:effectLst/>
                <a:latin typeface="Open Sans"/>
                <a:ea typeface="Open Sans"/>
                <a:cs typeface="Open Sans"/>
              </a:rPr>
              <a:t>Adoption rate: </a:t>
            </a:r>
            <a:r>
              <a:rPr lang="en-GB" sz="100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E7FE1B26-8976-3D39-8757-16753106D063}"/>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3" name="Başlık 2">
            <a:extLst>
              <a:ext uri="{FF2B5EF4-FFF2-40B4-BE49-F238E27FC236}">
                <a16:creationId xmlns:a16="http://schemas.microsoft.com/office/drawing/2014/main" id="{CA444D10-3D4E-61B9-7504-690AE2FE2C07}"/>
              </a:ext>
            </a:extLst>
          </p:cNvPr>
          <p:cNvSpPr>
            <a:spLocks noGrp="1"/>
          </p:cNvSpPr>
          <p:nvPr>
            <p:ph type="title"/>
          </p:nvPr>
        </p:nvSpPr>
        <p:spPr/>
        <p:txBody>
          <a:bodyPr/>
          <a:lstStyle/>
          <a:p>
            <a:endParaRPr lang="tr-TR" dirty="0"/>
          </a:p>
        </p:txBody>
      </p:sp>
      <p:sp>
        <p:nvSpPr>
          <p:cNvPr id="4" name="Metin Yer Tutucusu 3">
            <a:extLst>
              <a:ext uri="{FF2B5EF4-FFF2-40B4-BE49-F238E27FC236}">
                <a16:creationId xmlns:a16="http://schemas.microsoft.com/office/drawing/2014/main" id="{25689479-08CF-5FCD-B224-2E6502DA7F98}"/>
              </a:ext>
            </a:extLst>
          </p:cNvPr>
          <p:cNvSpPr>
            <a:spLocks noGrp="1"/>
          </p:cNvSpPr>
          <p:nvPr>
            <p:ph type="body" sz="quarter" idx="14"/>
          </p:nvPr>
        </p:nvSpPr>
        <p:spPr/>
        <p:txBody>
          <a:bodyPr/>
          <a:lstStyle/>
          <a:p>
            <a:endParaRPr lang="tr-TR"/>
          </a:p>
        </p:txBody>
      </p:sp>
      <p:sp>
        <p:nvSpPr>
          <p:cNvPr id="5" name="Metin Yer Tutucusu 4">
            <a:extLst>
              <a:ext uri="{FF2B5EF4-FFF2-40B4-BE49-F238E27FC236}">
                <a16:creationId xmlns:a16="http://schemas.microsoft.com/office/drawing/2014/main" id="{402193C5-42FF-F339-23F8-0D63B3AE5B78}"/>
              </a:ext>
            </a:extLst>
          </p:cNvPr>
          <p:cNvSpPr>
            <a:spLocks noGrp="1"/>
          </p:cNvSpPr>
          <p:nvPr>
            <p:ph type="body" sz="quarter" idx="13"/>
          </p:nvPr>
        </p:nvSpPr>
        <p:spPr/>
        <p:txBody>
          <a:bodyPr/>
          <a:lstStyle/>
          <a:p>
            <a:r>
              <a:rPr lang="tr-TR" dirty="0" err="1"/>
              <a:t>newmaskedval</a:t>
            </a:r>
            <a:endParaRPr lang="tr-TR" dirty="0"/>
          </a:p>
        </p:txBody>
      </p:sp>
      <p:sp>
        <p:nvSpPr>
          <p:cNvPr id="6" name="Metin Yer Tutucusu 5">
            <a:extLst>
              <a:ext uri="{FF2B5EF4-FFF2-40B4-BE49-F238E27FC236}">
                <a16:creationId xmlns:a16="http://schemas.microsoft.com/office/drawing/2014/main" id="{41A1D7C5-3A62-F4FB-0AEB-3AC176455382}"/>
              </a:ext>
            </a:extLst>
          </p:cNvPr>
          <p:cNvSpPr>
            <a:spLocks noGrp="1"/>
          </p:cNvSpPr>
          <p:nvPr>
            <p:ph type="body" sz="quarter" idx="15"/>
          </p:nvPr>
        </p:nvSpPr>
        <p:spPr/>
        <p:txBody>
          <a:bodyPr/>
          <a:lstStyle/>
          <a:p>
            <a:endParaRPr lang="tr-TR"/>
          </a:p>
        </p:txBody>
      </p:sp>
      <p:sp>
        <p:nvSpPr>
          <p:cNvPr id="7" name="Metin Yer Tutucusu 6">
            <a:extLst>
              <a:ext uri="{FF2B5EF4-FFF2-40B4-BE49-F238E27FC236}">
                <a16:creationId xmlns:a16="http://schemas.microsoft.com/office/drawing/2014/main" id="{71336DCE-7D48-1783-C695-B93E98D797DB}"/>
              </a:ext>
            </a:extLst>
          </p:cNvPr>
          <p:cNvSpPr>
            <a:spLocks noGrp="1"/>
          </p:cNvSpPr>
          <p:nvPr>
            <p:ph type="body" sz="quarter" idx="16"/>
          </p:nvPr>
        </p:nvSpPr>
        <p:spPr/>
        <p:txBody>
          <a:bodyPr/>
          <a:lstStyle/>
          <a:p>
            <a:endParaRPr lang="tr-TR"/>
          </a:p>
        </p:txBody>
      </p:sp>
      <p:sp>
        <p:nvSpPr>
          <p:cNvPr id="8" name="Metin Yer Tutucusu 7">
            <a:extLst>
              <a:ext uri="{FF2B5EF4-FFF2-40B4-BE49-F238E27FC236}">
                <a16:creationId xmlns:a16="http://schemas.microsoft.com/office/drawing/2014/main" id="{760792AD-9150-5250-427B-CD59E3C02B22}"/>
              </a:ext>
            </a:extLst>
          </p:cNvPr>
          <p:cNvSpPr>
            <a:spLocks noGrp="1"/>
          </p:cNvSpPr>
          <p:nvPr>
            <p:ph type="body" sz="quarter" idx="17"/>
          </p:nvPr>
        </p:nvSpPr>
        <p:spPr/>
        <p:txBody>
          <a:bodyPr/>
          <a:lstStyle/>
          <a:p>
            <a:endParaRPr lang="tr-TR"/>
          </a:p>
        </p:txBody>
      </p:sp>
      <p:sp>
        <p:nvSpPr>
          <p:cNvPr id="9" name="Metin Yer Tutucusu 8">
            <a:extLst>
              <a:ext uri="{FF2B5EF4-FFF2-40B4-BE49-F238E27FC236}">
                <a16:creationId xmlns:a16="http://schemas.microsoft.com/office/drawing/2014/main" id="{90D65C90-6B96-68B3-09D1-A767D079CC89}"/>
              </a:ext>
            </a:extLst>
          </p:cNvPr>
          <p:cNvSpPr>
            <a:spLocks noGrp="1"/>
          </p:cNvSpPr>
          <p:nvPr>
            <p:ph type="body" sz="quarter" idx="18"/>
          </p:nvPr>
        </p:nvSpPr>
        <p:spPr/>
        <p:txBody>
          <a:bodyPr/>
          <a:lstStyle/>
          <a:p>
            <a:endParaRPr lang="tr-TR"/>
          </a:p>
        </p:txBody>
      </p:sp>
      <p:sp>
        <p:nvSpPr>
          <p:cNvPr id="10" name="Metin Yer Tutucusu 9">
            <a:extLst>
              <a:ext uri="{FF2B5EF4-FFF2-40B4-BE49-F238E27FC236}">
                <a16:creationId xmlns:a16="http://schemas.microsoft.com/office/drawing/2014/main" id="{9B5E3D62-CA0F-5129-36ED-545B03E7B9C3}"/>
              </a:ext>
            </a:extLst>
          </p:cNvPr>
          <p:cNvSpPr>
            <a:spLocks noGrp="1"/>
          </p:cNvSpPr>
          <p:nvPr>
            <p:ph type="body" sz="quarter" idx="19"/>
          </p:nvPr>
        </p:nvSpPr>
        <p:spPr/>
        <p:txBody>
          <a:bodyPr/>
          <a:lstStyle/>
          <a:p>
            <a:endParaRPr lang="tr-TR"/>
          </a:p>
        </p:txBody>
      </p:sp>
    </p:spTree>
    <p:extLst>
      <p:ext uri="{BB962C8B-B14F-4D97-AF65-F5344CB8AC3E}">
        <p14:creationId xmlns:p14="http://schemas.microsoft.com/office/powerpoint/2010/main" val="1436207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10</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2.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2485</TotalTime>
  <Words>1496</Words>
  <Application>Microsoft Office PowerPoint</Application>
  <PresentationFormat>Geniş ekran</PresentationFormat>
  <Paragraphs>235</Paragraphs>
  <Slides>10</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10</vt:i4>
      </vt:variant>
    </vt:vector>
  </HeadingPairs>
  <TitlesOfParts>
    <vt:vector size="20"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82</cp:revision>
  <dcterms:created xsi:type="dcterms:W3CDTF">2024-07-05T15:05:35Z</dcterms:created>
  <dcterms:modified xsi:type="dcterms:W3CDTF">2024-10-16T11:44:42Z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