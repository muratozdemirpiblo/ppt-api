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89" r:id="rId5"/>
    <p:sldId id="458" r:id="rId6"/>
    <p:sldId id="463" r:id="rId7"/>
    <p:sldId id="464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911E"/>
    <a:srgbClr val="616173"/>
    <a:srgbClr val="F15D22"/>
    <a:srgbClr val="E23F13"/>
    <a:srgbClr val="FFFFFF"/>
    <a:srgbClr val="F0F0F5"/>
    <a:srgbClr val="FAFAFA"/>
    <a:srgbClr val="2525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1063B6-3638-413C-A2E7-0C3C86FFC2A7}" v="4" dt="2024-09-19T08:43:08.9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Dcruz" userId="fdeebe35-3a96-462e-adc5-475bea95f1c6" providerId="ADAL" clId="{6E1063B6-3638-413C-A2E7-0C3C86FFC2A7}"/>
    <pc:docChg chg="undo custSel addSld delSld modSld">
      <pc:chgData name="Angela Dcruz" userId="fdeebe35-3a96-462e-adc5-475bea95f1c6" providerId="ADAL" clId="{6E1063B6-3638-413C-A2E7-0C3C86FFC2A7}" dt="2024-09-19T08:49:05.557" v="99" actId="20577"/>
      <pc:docMkLst>
        <pc:docMk/>
      </pc:docMkLst>
      <pc:sldChg chg="addSp modSp mod">
        <pc:chgData name="Angela Dcruz" userId="fdeebe35-3a96-462e-adc5-475bea95f1c6" providerId="ADAL" clId="{6E1063B6-3638-413C-A2E7-0C3C86FFC2A7}" dt="2024-09-19T08:48:25.260" v="97" actId="14100"/>
        <pc:sldMkLst>
          <pc:docMk/>
          <pc:sldMk cId="3049836168" sldId="276"/>
        </pc:sldMkLst>
        <pc:spChg chg="add mod">
          <ac:chgData name="Angela Dcruz" userId="fdeebe35-3a96-462e-adc5-475bea95f1c6" providerId="ADAL" clId="{6E1063B6-3638-413C-A2E7-0C3C86FFC2A7}" dt="2024-09-19T08:48:25.260" v="97" actId="14100"/>
          <ac:spMkLst>
            <pc:docMk/>
            <pc:sldMk cId="3049836168" sldId="276"/>
            <ac:spMk id="7" creationId="{3582BB3E-BDED-0937-862C-B206BD0877B8}"/>
          </ac:spMkLst>
        </pc:spChg>
      </pc:sldChg>
      <pc:sldChg chg="modSp mod">
        <pc:chgData name="Angela Dcruz" userId="fdeebe35-3a96-462e-adc5-475bea95f1c6" providerId="ADAL" clId="{6E1063B6-3638-413C-A2E7-0C3C86FFC2A7}" dt="2024-09-17T15:59:49.119" v="29" actId="20577"/>
        <pc:sldMkLst>
          <pc:docMk/>
          <pc:sldMk cId="3808875569" sldId="289"/>
        </pc:sldMkLst>
        <pc:spChg chg="mod">
          <ac:chgData name="Angela Dcruz" userId="fdeebe35-3a96-462e-adc5-475bea95f1c6" providerId="ADAL" clId="{6E1063B6-3638-413C-A2E7-0C3C86FFC2A7}" dt="2024-09-17T15:59:49.119" v="29" actId="20577"/>
          <ac:spMkLst>
            <pc:docMk/>
            <pc:sldMk cId="3808875569" sldId="289"/>
            <ac:spMk id="5" creationId="{4BAC2211-2BF5-0F3E-134E-6D7CA1E5AA57}"/>
          </ac:spMkLst>
        </pc:spChg>
      </pc:sldChg>
      <pc:sldChg chg="del">
        <pc:chgData name="Angela Dcruz" userId="fdeebe35-3a96-462e-adc5-475bea95f1c6" providerId="ADAL" clId="{6E1063B6-3638-413C-A2E7-0C3C86FFC2A7}" dt="2024-09-17T15:56:07.806" v="2" actId="47"/>
        <pc:sldMkLst>
          <pc:docMk/>
          <pc:sldMk cId="2008217589" sldId="310"/>
        </pc:sldMkLst>
      </pc:sldChg>
      <pc:sldChg chg="del">
        <pc:chgData name="Angela Dcruz" userId="fdeebe35-3a96-462e-adc5-475bea95f1c6" providerId="ADAL" clId="{6E1063B6-3638-413C-A2E7-0C3C86FFC2A7}" dt="2024-09-17T15:56:07.266" v="1" actId="47"/>
        <pc:sldMkLst>
          <pc:docMk/>
          <pc:sldMk cId="2365803905" sldId="449"/>
        </pc:sldMkLst>
      </pc:sldChg>
      <pc:sldChg chg="del">
        <pc:chgData name="Angela Dcruz" userId="fdeebe35-3a96-462e-adc5-475bea95f1c6" providerId="ADAL" clId="{6E1063B6-3638-413C-A2E7-0C3C86FFC2A7}" dt="2024-09-17T15:56:05.405" v="0" actId="47"/>
        <pc:sldMkLst>
          <pc:docMk/>
          <pc:sldMk cId="4163913262" sldId="455"/>
        </pc:sldMkLst>
      </pc:sldChg>
      <pc:sldChg chg="modSp mod">
        <pc:chgData name="Angela Dcruz" userId="fdeebe35-3a96-462e-adc5-475bea95f1c6" providerId="ADAL" clId="{6E1063B6-3638-413C-A2E7-0C3C86FFC2A7}" dt="2024-09-19T08:49:05.557" v="99" actId="20577"/>
        <pc:sldMkLst>
          <pc:docMk/>
          <pc:sldMk cId="1503669744" sldId="457"/>
        </pc:sldMkLst>
        <pc:spChg chg="mod">
          <ac:chgData name="Angela Dcruz" userId="fdeebe35-3a96-462e-adc5-475bea95f1c6" providerId="ADAL" clId="{6E1063B6-3638-413C-A2E7-0C3C86FFC2A7}" dt="2024-09-17T15:57:08.826" v="18" actId="207"/>
          <ac:spMkLst>
            <pc:docMk/>
            <pc:sldMk cId="1503669744" sldId="457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57.307" v="14" actId="207"/>
          <ac:spMkLst>
            <pc:docMk/>
            <pc:sldMk cId="1503669744" sldId="457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59.698" v="15" actId="207"/>
          <ac:spMkLst>
            <pc:docMk/>
            <pc:sldMk cId="1503669744" sldId="457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7:02.474" v="16" actId="207"/>
          <ac:spMkLst>
            <pc:docMk/>
            <pc:sldMk cId="1503669744" sldId="457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7:05.177" v="17" actId="207"/>
          <ac:spMkLst>
            <pc:docMk/>
            <pc:sldMk cId="1503669744" sldId="457"/>
            <ac:spMk id="53" creationId="{A01973A7-1FA4-0C98-249C-23CD8984ED1A}"/>
          </ac:spMkLst>
        </pc:spChg>
        <pc:spChg chg="mod">
          <ac:chgData name="Angela Dcruz" userId="fdeebe35-3a96-462e-adc5-475bea95f1c6" providerId="ADAL" clId="{6E1063B6-3638-413C-A2E7-0C3C86FFC2A7}" dt="2024-09-19T08:49:05.557" v="99" actId="20577"/>
          <ac:spMkLst>
            <pc:docMk/>
            <pc:sldMk cId="1503669744" sldId="457"/>
            <ac:spMk id="63" creationId="{95C09C31-B441-840E-A767-4F86861E1F2E}"/>
          </ac:spMkLst>
        </pc:spChg>
      </pc:sldChg>
      <pc:sldChg chg="modSp mod">
        <pc:chgData name="Angela Dcruz" userId="fdeebe35-3a96-462e-adc5-475bea95f1c6" providerId="ADAL" clId="{6E1063B6-3638-413C-A2E7-0C3C86FFC2A7}" dt="2024-09-17T15:56:52.682" v="13" actId="207"/>
        <pc:sldMkLst>
          <pc:docMk/>
          <pc:sldMk cId="653904327" sldId="458"/>
        </pc:sldMkLst>
        <pc:spChg chg="mod">
          <ac:chgData name="Angela Dcruz" userId="fdeebe35-3a96-462e-adc5-475bea95f1c6" providerId="ADAL" clId="{6E1063B6-3638-413C-A2E7-0C3C86FFC2A7}" dt="2024-09-17T15:56:52.682" v="13" actId="207"/>
          <ac:spMkLst>
            <pc:docMk/>
            <pc:sldMk cId="653904327" sldId="458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40.699" v="9" actId="207"/>
          <ac:spMkLst>
            <pc:docMk/>
            <pc:sldMk cId="653904327" sldId="458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43.201" v="10" actId="207"/>
          <ac:spMkLst>
            <pc:docMk/>
            <pc:sldMk cId="653904327" sldId="458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6:45.666" v="11" actId="207"/>
          <ac:spMkLst>
            <pc:docMk/>
            <pc:sldMk cId="653904327" sldId="458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6:49.643" v="12" actId="207"/>
          <ac:spMkLst>
            <pc:docMk/>
            <pc:sldMk cId="653904327" sldId="458"/>
            <ac:spMk id="53" creationId="{A01973A7-1FA4-0C98-249C-23CD8984ED1A}"/>
          </ac:spMkLst>
        </pc:spChg>
      </pc:sldChg>
      <pc:sldChg chg="delSp del mod">
        <pc:chgData name="Angela Dcruz" userId="fdeebe35-3a96-462e-adc5-475bea95f1c6" providerId="ADAL" clId="{6E1063B6-3638-413C-A2E7-0C3C86FFC2A7}" dt="2024-09-17T15:56:19.751" v="4" actId="47"/>
        <pc:sldMkLst>
          <pc:docMk/>
          <pc:sldMk cId="4070780101" sldId="461"/>
        </pc:sldMkLst>
        <pc:spChg chg="del">
          <ac:chgData name="Angela Dcruz" userId="fdeebe35-3a96-462e-adc5-475bea95f1c6" providerId="ADAL" clId="{6E1063B6-3638-413C-A2E7-0C3C86FFC2A7}" dt="2024-09-17T15:56:15.937" v="3" actId="21"/>
          <ac:spMkLst>
            <pc:docMk/>
            <pc:sldMk cId="4070780101" sldId="461"/>
            <ac:spMk id="7" creationId="{3582BB3E-BDED-0937-862C-B206BD0877B8}"/>
          </ac:spMkLst>
        </pc:spChg>
      </pc:sldChg>
      <pc:sldChg chg="modSp add mod">
        <pc:chgData name="Angela Dcruz" userId="fdeebe35-3a96-462e-adc5-475bea95f1c6" providerId="ADAL" clId="{6E1063B6-3638-413C-A2E7-0C3C86FFC2A7}" dt="2024-09-19T08:41:21.021" v="57" actId="1076"/>
        <pc:sldMkLst>
          <pc:docMk/>
          <pc:sldMk cId="657890998" sldId="463"/>
        </pc:sldMkLst>
        <pc:spChg chg="mod">
          <ac:chgData name="Angela Dcruz" userId="fdeebe35-3a96-462e-adc5-475bea95f1c6" providerId="ADAL" clId="{6E1063B6-3638-413C-A2E7-0C3C86FFC2A7}" dt="2024-09-19T08:40:39.769" v="36" actId="20577"/>
          <ac:spMkLst>
            <pc:docMk/>
            <pc:sldMk cId="657890998" sldId="463"/>
            <ac:spMk id="3" creationId="{982CBA69-C11A-8CE4-B582-EF16D83B80A8}"/>
          </ac:spMkLst>
        </pc:spChg>
        <pc:spChg chg="mod">
          <ac:chgData name="Angela Dcruz" userId="fdeebe35-3a96-462e-adc5-475bea95f1c6" providerId="ADAL" clId="{6E1063B6-3638-413C-A2E7-0C3C86FFC2A7}" dt="2024-09-19T08:41:21.021" v="57" actId="1076"/>
          <ac:spMkLst>
            <pc:docMk/>
            <pc:sldMk cId="657890998" sldId="463"/>
            <ac:spMk id="21" creationId="{1D4A49C2-3019-79BA-5D32-77B433BE5F22}"/>
          </ac:spMkLst>
        </pc:spChg>
        <pc:spChg chg="mod">
          <ac:chgData name="Angela Dcruz" userId="fdeebe35-3a96-462e-adc5-475bea95f1c6" providerId="ADAL" clId="{6E1063B6-3638-413C-A2E7-0C3C86FFC2A7}" dt="2024-09-19T08:41:16.141" v="56" actId="1076"/>
          <ac:spMkLst>
            <pc:docMk/>
            <pc:sldMk cId="657890998" sldId="463"/>
            <ac:spMk id="22" creationId="{3288951C-C3BA-1397-36A8-DA901F93F551}"/>
          </ac:spMkLst>
        </pc:spChg>
        <pc:picChg chg="mod">
          <ac:chgData name="Angela Dcruz" userId="fdeebe35-3a96-462e-adc5-475bea95f1c6" providerId="ADAL" clId="{6E1063B6-3638-413C-A2E7-0C3C86FFC2A7}" dt="2024-09-19T08:41:16.141" v="56" actId="1076"/>
          <ac:picMkLst>
            <pc:docMk/>
            <pc:sldMk cId="657890998" sldId="463"/>
            <ac:picMk id="20" creationId="{5C116F38-BA4B-99B1-0D19-AEBC4D996F93}"/>
          </ac:picMkLst>
        </pc:picChg>
      </pc:sldChg>
      <pc:sldChg chg="addSp delSp modSp add mod">
        <pc:chgData name="Angela Dcruz" userId="fdeebe35-3a96-462e-adc5-475bea95f1c6" providerId="ADAL" clId="{6E1063B6-3638-413C-A2E7-0C3C86FFC2A7}" dt="2024-09-19T08:45:02.181" v="94" actId="1076"/>
        <pc:sldMkLst>
          <pc:docMk/>
          <pc:sldMk cId="4177962054" sldId="464"/>
        </pc:sldMkLst>
        <pc:spChg chg="mod">
          <ac:chgData name="Angela Dcruz" userId="fdeebe35-3a96-462e-adc5-475bea95f1c6" providerId="ADAL" clId="{6E1063B6-3638-413C-A2E7-0C3C86FFC2A7}" dt="2024-09-19T08:42:01.610" v="64" actId="20577"/>
          <ac:spMkLst>
            <pc:docMk/>
            <pc:sldMk cId="4177962054" sldId="464"/>
            <ac:spMk id="3" creationId="{982CBA69-C11A-8CE4-B582-EF16D83B80A8}"/>
          </ac:spMkLst>
        </pc:spChg>
        <pc:spChg chg="del mod">
          <ac:chgData name="Angela Dcruz" userId="fdeebe35-3a96-462e-adc5-475bea95f1c6" providerId="ADAL" clId="{6E1063B6-3638-413C-A2E7-0C3C86FFC2A7}" dt="2024-09-19T08:42:17.920" v="66" actId="478"/>
          <ac:spMkLst>
            <pc:docMk/>
            <pc:sldMk cId="4177962054" sldId="464"/>
            <ac:spMk id="11" creationId="{E11A7449-0F94-58D4-D1A8-AABE95370FFD}"/>
          </ac:spMkLst>
        </pc:spChg>
        <pc:picChg chg="mod modCrop">
          <ac:chgData name="Angela Dcruz" userId="fdeebe35-3a96-462e-adc5-475bea95f1c6" providerId="ADAL" clId="{6E1063B6-3638-413C-A2E7-0C3C86FFC2A7}" dt="2024-09-19T08:43:06.022" v="73" actId="732"/>
          <ac:picMkLst>
            <pc:docMk/>
            <pc:sldMk cId="4177962054" sldId="464"/>
            <ac:picMk id="4" creationId="{996DDD0C-2A54-FEFB-1AAD-34C967A02D9E}"/>
          </ac:picMkLst>
        </pc:picChg>
        <pc:picChg chg="add mod modCrop">
          <ac:chgData name="Angela Dcruz" userId="fdeebe35-3a96-462e-adc5-475bea95f1c6" providerId="ADAL" clId="{6E1063B6-3638-413C-A2E7-0C3C86FFC2A7}" dt="2024-09-19T08:45:02.181" v="94" actId="1076"/>
          <ac:picMkLst>
            <pc:docMk/>
            <pc:sldMk cId="4177962054" sldId="464"/>
            <ac:picMk id="5" creationId="{A02F486B-0AEA-9989-BB70-EE305320808B}"/>
          </ac:picMkLst>
        </pc:picChg>
        <pc:picChg chg="add mod modCrop">
          <ac:chgData name="Angela Dcruz" userId="fdeebe35-3a96-462e-adc5-475bea95f1c6" providerId="ADAL" clId="{6E1063B6-3638-413C-A2E7-0C3C86FFC2A7}" dt="2024-09-19T08:43:20.266" v="76" actId="18131"/>
          <ac:picMkLst>
            <pc:docMk/>
            <pc:sldMk cId="4177962054" sldId="464"/>
            <ac:picMk id="6" creationId="{32551F36-6B7D-3D40-3427-6DFBF67ADA1F}"/>
          </ac:picMkLst>
        </pc:picChg>
      </pc:sldChg>
      <pc:sldMasterChg chg="delSldLayout">
        <pc:chgData name="Angela Dcruz" userId="fdeebe35-3a96-462e-adc5-475bea95f1c6" providerId="ADAL" clId="{6E1063B6-3638-413C-A2E7-0C3C86FFC2A7}" dt="2024-09-17T15:56:19.751" v="4" actId="47"/>
        <pc:sldMasterMkLst>
          <pc:docMk/>
          <pc:sldMasterMk cId="1123278588" sldId="2147483648"/>
        </pc:sldMasterMkLst>
        <pc:sldLayoutChg chg="del">
          <pc:chgData name="Angela Dcruz" userId="fdeebe35-3a96-462e-adc5-475bea95f1c6" providerId="ADAL" clId="{6E1063B6-3638-413C-A2E7-0C3C86FFC2A7}" dt="2024-09-17T15:56:07.266" v="1" actId="47"/>
          <pc:sldLayoutMkLst>
            <pc:docMk/>
            <pc:sldMasterMk cId="1123278588" sldId="2147483648"/>
            <pc:sldLayoutMk cId="4069482378" sldId="2147483744"/>
          </pc:sldLayoutMkLst>
        </pc:sldLayoutChg>
        <pc:sldLayoutChg chg="del">
          <pc:chgData name="Angela Dcruz" userId="fdeebe35-3a96-462e-adc5-475bea95f1c6" providerId="ADAL" clId="{6E1063B6-3638-413C-A2E7-0C3C86FFC2A7}" dt="2024-09-17T15:56:19.751" v="4" actId="47"/>
          <pc:sldLayoutMkLst>
            <pc:docMk/>
            <pc:sldMasterMk cId="1123278588" sldId="2147483648"/>
            <pc:sldLayoutMk cId="3033626298" sldId="2147483746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.sharepoint.com/sites/Value-Creation/Shared%20Documents/Financials/Value%20Calculator_Financials%20LIVE%20v9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492873691752104E-2"/>
          <c:y val="5.9076535643188516E-2"/>
          <c:w val="0.97350712630824787"/>
          <c:h val="0.8873822854505512"/>
        </c:manualLayout>
      </c:layout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BA0-47CD-98E2-86E73D340BB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BA0-47CD-98E2-86E73D340BB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BA0-47CD-98E2-86E73D340BB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DBA0-47CD-98E2-86E73D340BB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DBA0-47CD-98E2-86E73D340BB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DBA0-47CD-98E2-86E73D340BBC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DBA0-47CD-98E2-86E73D340BBC}"/>
              </c:ext>
            </c:extLst>
          </c:dPt>
          <c:dPt>
            <c:idx val="7"/>
            <c:bubble3D val="0"/>
            <c:spPr>
              <a:solidFill>
                <a:schemeClr val="accent6">
                  <a:lumMod val="25000"/>
                  <a:lumOff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DBA0-47CD-98E2-86E73D340BBC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DBA0-47CD-98E2-86E73D340BBC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DBA0-47CD-98E2-86E73D340BB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tr-T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'[Value Calculator_Financials LIVE v9.xlsm]Value Analysis'!$C$46:$C$54</c:f>
              <c:strCache>
                <c:ptCount val="9"/>
                <c:pt idx="0">
                  <c:v>Raising Purchase Orders</c:v>
                </c:pt>
                <c:pt idx="1">
                  <c:v>Purchase Order approvals</c:v>
                </c:pt>
                <c:pt idx="2">
                  <c:v>Coding invoice processes</c:v>
                </c:pt>
                <c:pt idx="3">
                  <c:v>Management of supplier and purchase invoices</c:v>
                </c:pt>
                <c:pt idx="4">
                  <c:v>Managing Spend leakage </c:v>
                </c:pt>
                <c:pt idx="5">
                  <c:v>Finance query management &amp; reporting</c:v>
                </c:pt>
                <c:pt idx="6">
                  <c:v>Debt collection administration processes</c:v>
                </c:pt>
                <c:pt idx="7">
                  <c:v>Customer Invoicing &amp; Finance Workflow</c:v>
                </c:pt>
                <c:pt idx="8">
                  <c:v>Online expense management</c:v>
                </c:pt>
              </c:strCache>
            </c:strRef>
          </c:cat>
          <c:val>
            <c:numRef>
              <c:f>'[Value Calculator_Financials LIVE v9.xlsm]Value Analysis'!$L$45:$L$54</c:f>
              <c:numCache>
                <c:formatCode>"£"#,##0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44463</c:v>
                </c:pt>
                <c:pt idx="4">
                  <c:v>0</c:v>
                </c:pt>
                <c:pt idx="5">
                  <c:v>31213</c:v>
                </c:pt>
                <c:pt idx="6">
                  <c:v>14085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DBA0-47CD-98E2-86E73D340BBC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01/10/2024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10/1/2024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94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85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01/10/2024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01/10/2024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1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1328-38B7-3594-7FBB-BE5592178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>
                <a:latin typeface="Montserrat SemiBold"/>
              </a:rPr>
              <a:t>valclient</a:t>
            </a:r>
            <a:r>
              <a:rPr lang="en-US" dirty="0">
                <a:latin typeface="Montserrat SemiBold"/>
              </a:rPr>
              <a:t>: Value Business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4B16102-7F03-D98C-5599-59D403A4A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Financials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C2211-2BF5-0F3E-134E-6D7CA1E5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Presented by OneAdvanced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grpSp>
        <p:nvGrpSpPr>
          <p:cNvPr id="23" name="Grup 22">
            <a:extLst>
              <a:ext uri="{FF2B5EF4-FFF2-40B4-BE49-F238E27FC236}">
                <a16:creationId xmlns:a16="http://schemas.microsoft.com/office/drawing/2014/main" id="{3D309B6B-7791-6CF2-0569-C70256165209}"/>
              </a:ext>
            </a:extLst>
          </p:cNvPr>
          <p:cNvGrpSpPr/>
          <p:nvPr/>
        </p:nvGrpSpPr>
        <p:grpSpPr>
          <a:xfrm>
            <a:off x="5018915" y="1556836"/>
            <a:ext cx="1946626" cy="3991330"/>
            <a:chOff x="4961745" y="1556836"/>
            <a:chExt cx="1946626" cy="3991330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83145D9-A5D5-4A29-9000-3FD97569E5F5}"/>
                </a:ext>
              </a:extLst>
            </p:cNvPr>
            <p:cNvSpPr/>
            <p:nvPr/>
          </p:nvSpPr>
          <p:spPr>
            <a:xfrm>
              <a:off x="4970154" y="4999173"/>
              <a:ext cx="1930036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ff-page Connector 9">
              <a:extLst>
                <a:ext uri="{FF2B5EF4-FFF2-40B4-BE49-F238E27FC236}">
                  <a16:creationId xmlns:a16="http://schemas.microsoft.com/office/drawing/2014/main" id="{A97AE63F-0C53-AB7A-E6A8-5650E994B32B}"/>
                </a:ext>
              </a:extLst>
            </p:cNvPr>
            <p:cNvSpPr/>
            <p:nvPr/>
          </p:nvSpPr>
          <p:spPr>
            <a:xfrm>
              <a:off x="4978335" y="1903894"/>
              <a:ext cx="1930036" cy="2548563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processes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self-serve solutions</a:t>
              </a:r>
            </a:p>
          </p:txBody>
        </p:sp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13C7AA69-72E1-AD20-DD7E-436E6E31F470}"/>
                </a:ext>
              </a:extLst>
            </p:cNvPr>
            <p:cNvSpPr/>
            <p:nvPr/>
          </p:nvSpPr>
          <p:spPr>
            <a:xfrm rot="10800000">
              <a:off x="4961745" y="2139161"/>
              <a:ext cx="1944972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34D05C-D2DC-8FEC-1A30-2541B1BBDE4B}"/>
                </a:ext>
              </a:extLst>
            </p:cNvPr>
            <p:cNvSpPr txBox="1"/>
            <p:nvPr/>
          </p:nvSpPr>
          <p:spPr>
            <a:xfrm>
              <a:off x="4986193" y="1590252"/>
              <a:ext cx="1914319" cy="1323439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Debt collection administration processes</a:t>
              </a:r>
            </a:p>
          </p:txBody>
        </p:sp>
        <p:sp>
          <p:nvSpPr>
            <p:cNvPr id="51" name="Freeform 1015">
              <a:extLst>
                <a:ext uri="{FF2B5EF4-FFF2-40B4-BE49-F238E27FC236}">
                  <a16:creationId xmlns:a16="http://schemas.microsoft.com/office/drawing/2014/main" id="{063F48A3-FD39-6FB1-4A70-698D0FF8C694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676016" y="1556836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CDBA8E2-2E49-D3DC-8F70-3EBC50517161}"/>
                </a:ext>
              </a:extLst>
            </p:cNvPr>
            <p:cNvSpPr txBox="1"/>
            <p:nvPr/>
          </p:nvSpPr>
          <p:spPr>
            <a:xfrm>
              <a:off x="4974332" y="4365181"/>
              <a:ext cx="1914319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Debt collection processes could be costing you</a:t>
              </a:r>
            </a:p>
          </p:txBody>
        </p:sp>
      </p:grpSp>
      <p:grpSp>
        <p:nvGrpSpPr>
          <p:cNvPr id="22" name="Grup 21">
            <a:extLst>
              <a:ext uri="{FF2B5EF4-FFF2-40B4-BE49-F238E27FC236}">
                <a16:creationId xmlns:a16="http://schemas.microsoft.com/office/drawing/2014/main" id="{25E84DF7-F74A-68A0-71AD-C714787E6F2C}"/>
              </a:ext>
            </a:extLst>
          </p:cNvPr>
          <p:cNvGrpSpPr/>
          <p:nvPr/>
        </p:nvGrpSpPr>
        <p:grpSpPr>
          <a:xfrm>
            <a:off x="2861471" y="1556836"/>
            <a:ext cx="1960575" cy="4157426"/>
            <a:chOff x="711457" y="1552929"/>
            <a:chExt cx="1960575" cy="4157426"/>
          </a:xfrm>
        </p:grpSpPr>
        <p:sp>
          <p:nvSpPr>
            <p:cNvPr id="45" name="Off-page Connector 9">
              <a:extLst>
                <a:ext uri="{FF2B5EF4-FFF2-40B4-BE49-F238E27FC236}">
                  <a16:creationId xmlns:a16="http://schemas.microsoft.com/office/drawing/2014/main" id="{14F02441-381E-E675-0973-5995D3C09337}"/>
                </a:ext>
              </a:extLst>
            </p:cNvPr>
            <p:cNvSpPr/>
            <p:nvPr/>
          </p:nvSpPr>
          <p:spPr>
            <a:xfrm>
              <a:off x="741996" y="1903894"/>
              <a:ext cx="1930036" cy="2544655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Standardised dashboard and reporting functionality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Poor formatting and drill down ability </a:t>
              </a:r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9D6AF1DB-D2A2-3A99-8911-3637D8BF1298}"/>
                </a:ext>
              </a:extLst>
            </p:cNvPr>
            <p:cNvSpPr/>
            <p:nvPr/>
          </p:nvSpPr>
          <p:spPr>
            <a:xfrm rot="10800000">
              <a:off x="717877" y="2050435"/>
              <a:ext cx="1951577" cy="3096761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43364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43364 h 9144000"/>
                <a:gd name="connsiteX0" fmla="*/ 16778 w 4872690"/>
                <a:gd name="connsiteY0" fmla="*/ 8400634 h 8400636"/>
                <a:gd name="connsiteX1" fmla="*/ 4872690 w 4872690"/>
                <a:gd name="connsiteY1" fmla="*/ 8400634 h 8400636"/>
                <a:gd name="connsiteX2" fmla="*/ 4872690 w 4872690"/>
                <a:gd name="connsiteY2" fmla="*/ 8400636 h 8400636"/>
                <a:gd name="connsiteX3" fmla="*/ 16778 w 4872690"/>
                <a:gd name="connsiteY3" fmla="*/ 8400636 h 8400636"/>
                <a:gd name="connsiteX4" fmla="*/ 16778 w 4872690"/>
                <a:gd name="connsiteY4" fmla="*/ 8400634 h 8400636"/>
                <a:gd name="connsiteX5" fmla="*/ 0 w 4872690"/>
                <a:gd name="connsiteY5" fmla="*/ 0 h 8400636"/>
                <a:gd name="connsiteX6" fmla="*/ 4872690 w 4872690"/>
                <a:gd name="connsiteY6" fmla="*/ 33789 h 8400636"/>
                <a:gd name="connsiteX7" fmla="*/ 4872690 w 4872690"/>
                <a:gd name="connsiteY7" fmla="*/ 3472502 h 8400636"/>
                <a:gd name="connsiteX8" fmla="*/ 2444734 w 4872690"/>
                <a:gd name="connsiteY8" fmla="*/ 2240469 h 8400636"/>
                <a:gd name="connsiteX9" fmla="*/ 16778 w 4872690"/>
                <a:gd name="connsiteY9" fmla="*/ 3472502 h 8400636"/>
                <a:gd name="connsiteX10" fmla="*/ 0 w 4872690"/>
                <a:gd name="connsiteY10" fmla="*/ 0 h 8400636"/>
                <a:gd name="connsiteX0" fmla="*/ 16778 w 4906246"/>
                <a:gd name="connsiteY0" fmla="*/ 8400634 h 8400636"/>
                <a:gd name="connsiteX1" fmla="*/ 4872690 w 4906246"/>
                <a:gd name="connsiteY1" fmla="*/ 8400634 h 8400636"/>
                <a:gd name="connsiteX2" fmla="*/ 4872690 w 4906246"/>
                <a:gd name="connsiteY2" fmla="*/ 8400636 h 8400636"/>
                <a:gd name="connsiteX3" fmla="*/ 16778 w 4906246"/>
                <a:gd name="connsiteY3" fmla="*/ 8400636 h 8400636"/>
                <a:gd name="connsiteX4" fmla="*/ 16778 w 4906246"/>
                <a:gd name="connsiteY4" fmla="*/ 8400634 h 8400636"/>
                <a:gd name="connsiteX5" fmla="*/ 0 w 4906246"/>
                <a:gd name="connsiteY5" fmla="*/ 0 h 8400636"/>
                <a:gd name="connsiteX6" fmla="*/ 4906246 w 4906246"/>
                <a:gd name="connsiteY6" fmla="*/ 16895 h 8400636"/>
                <a:gd name="connsiteX7" fmla="*/ 4872690 w 4906246"/>
                <a:gd name="connsiteY7" fmla="*/ 3472502 h 8400636"/>
                <a:gd name="connsiteX8" fmla="*/ 2444734 w 4906246"/>
                <a:gd name="connsiteY8" fmla="*/ 2240469 h 8400636"/>
                <a:gd name="connsiteX9" fmla="*/ 16778 w 4906246"/>
                <a:gd name="connsiteY9" fmla="*/ 3472502 h 8400636"/>
                <a:gd name="connsiteX10" fmla="*/ 0 w 4906246"/>
                <a:gd name="connsiteY10" fmla="*/ 0 h 8400636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06246"/>
                <a:gd name="connsiteY0" fmla="*/ 8451318 h 8451320"/>
                <a:gd name="connsiteX1" fmla="*/ 4872690 w 4906246"/>
                <a:gd name="connsiteY1" fmla="*/ 8451318 h 8451320"/>
                <a:gd name="connsiteX2" fmla="*/ 4872690 w 4906246"/>
                <a:gd name="connsiteY2" fmla="*/ 8451320 h 8451320"/>
                <a:gd name="connsiteX3" fmla="*/ 16778 w 4906246"/>
                <a:gd name="connsiteY3" fmla="*/ 8451320 h 8451320"/>
                <a:gd name="connsiteX4" fmla="*/ 16778 w 4906246"/>
                <a:gd name="connsiteY4" fmla="*/ 8451318 h 8451320"/>
                <a:gd name="connsiteX5" fmla="*/ 0 w 4906246"/>
                <a:gd name="connsiteY5" fmla="*/ 50684 h 8451320"/>
                <a:gd name="connsiteX6" fmla="*/ 4906246 w 4906246"/>
                <a:gd name="connsiteY6" fmla="*/ 0 h 8451320"/>
                <a:gd name="connsiteX7" fmla="*/ 4872690 w 4906246"/>
                <a:gd name="connsiteY7" fmla="*/ 3523186 h 8451320"/>
                <a:gd name="connsiteX8" fmla="*/ 2444734 w 4906246"/>
                <a:gd name="connsiteY8" fmla="*/ 2291153 h 8451320"/>
                <a:gd name="connsiteX9" fmla="*/ 16778 w 4906246"/>
                <a:gd name="connsiteY9" fmla="*/ 3523186 h 8451320"/>
                <a:gd name="connsiteX10" fmla="*/ 0 w 4906246"/>
                <a:gd name="connsiteY10" fmla="*/ 50684 h 8451320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3024" h="8400636">
                  <a:moveTo>
                    <a:pt x="16778" y="8400634"/>
                  </a:moveTo>
                  <a:lnTo>
                    <a:pt x="4872690" y="8400634"/>
                  </a:lnTo>
                  <a:lnTo>
                    <a:pt x="4872690" y="8400636"/>
                  </a:lnTo>
                  <a:lnTo>
                    <a:pt x="16778" y="8400636"/>
                  </a:lnTo>
                  <a:lnTo>
                    <a:pt x="16778" y="8400634"/>
                  </a:lnTo>
                  <a:close/>
                  <a:moveTo>
                    <a:pt x="0" y="0"/>
                  </a:moveTo>
                  <a:lnTo>
                    <a:pt x="4923024" y="0"/>
                  </a:lnTo>
                  <a:lnTo>
                    <a:pt x="4872690" y="3472502"/>
                  </a:lnTo>
                  <a:lnTo>
                    <a:pt x="2444734" y="2240469"/>
                  </a:lnTo>
                  <a:lnTo>
                    <a:pt x="16778" y="3472502"/>
                  </a:lnTo>
                  <a:cubicBezTo>
                    <a:pt x="16778" y="2067213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093E2E9-4057-3AFE-50E4-C89A59C82461}"/>
                </a:ext>
              </a:extLst>
            </p:cNvPr>
            <p:cNvSpPr txBox="1"/>
            <p:nvPr/>
          </p:nvSpPr>
          <p:spPr>
            <a:xfrm>
              <a:off x="788399" y="2082013"/>
              <a:ext cx="1869443" cy="830997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Finance query management &amp; reporting</a:t>
              </a:r>
            </a:p>
          </p:txBody>
        </p:sp>
        <p:sp>
          <p:nvSpPr>
            <p:cNvPr id="47" name="Freeform 1015">
              <a:extLst>
                <a:ext uri="{FF2B5EF4-FFF2-40B4-BE49-F238E27FC236}">
                  <a16:creationId xmlns:a16="http://schemas.microsoft.com/office/drawing/2014/main" id="{16EC12E5-48F2-89E2-C305-C96DCB49C49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54096" y="1552929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74261D7-47BE-80C9-627F-3124A46B03B6}"/>
                </a:ext>
              </a:extLst>
            </p:cNvPr>
            <p:cNvSpPr/>
            <p:nvPr/>
          </p:nvSpPr>
          <p:spPr>
            <a:xfrm>
              <a:off x="718267" y="4999173"/>
              <a:ext cx="1953764" cy="545972"/>
            </a:xfrm>
            <a:prstGeom prst="roundRect">
              <a:avLst/>
            </a:prstGeom>
            <a:solidFill>
              <a:schemeClr val="accent1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C09C31-B441-840E-A767-4F86861E1F2E}"/>
                </a:ext>
              </a:extLst>
            </p:cNvPr>
            <p:cNvSpPr txBox="1"/>
            <p:nvPr/>
          </p:nvSpPr>
          <p:spPr>
            <a:xfrm>
              <a:off x="738345" y="4372605"/>
              <a:ext cx="1869690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finance reporting could be costing you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0EA8CB8-D6F8-2002-811C-82D845F0C462}"/>
                </a:ext>
              </a:extLst>
            </p:cNvPr>
            <p:cNvSpPr txBox="1"/>
            <p:nvPr/>
          </p:nvSpPr>
          <p:spPr>
            <a:xfrm>
              <a:off x="711457" y="5110191"/>
              <a:ext cx="1905083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400" dirty="0" err="1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valfqmr</a:t>
              </a:r>
              <a:r>
                <a:rPr lang="en-GB" sz="24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9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3C634A47-D927-FE8D-6324-130A75E52781}"/>
              </a:ext>
            </a:extLst>
          </p:cNvPr>
          <p:cNvSpPr txBox="1"/>
          <p:nvPr/>
        </p:nvSpPr>
        <p:spPr>
          <a:xfrm>
            <a:off x="5007860" y="5093095"/>
            <a:ext cx="189127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valdcap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 OF DOING NOTHING: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7" name="Rectangle: Rounded Corners 9">
            <a:extLst>
              <a:ext uri="{FF2B5EF4-FFF2-40B4-BE49-F238E27FC236}">
                <a16:creationId xmlns:a16="http://schemas.microsoft.com/office/drawing/2014/main" id="{01805B4A-2C0D-368E-E75D-FC2CDC15A66B}"/>
              </a:ext>
            </a:extLst>
          </p:cNvPr>
          <p:cNvSpPr/>
          <p:nvPr/>
        </p:nvSpPr>
        <p:spPr>
          <a:xfrm>
            <a:off x="736837" y="4997659"/>
            <a:ext cx="1930036" cy="548993"/>
          </a:xfrm>
          <a:prstGeom prst="roundRect">
            <a:avLst/>
          </a:prstGeom>
          <a:solidFill>
            <a:schemeClr val="accent2">
              <a:alpha val="26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ff-page Connector 9">
            <a:extLst>
              <a:ext uri="{FF2B5EF4-FFF2-40B4-BE49-F238E27FC236}">
                <a16:creationId xmlns:a16="http://schemas.microsoft.com/office/drawing/2014/main" id="{CF4D6202-C07E-1976-8619-E66844709A39}"/>
              </a:ext>
            </a:extLst>
          </p:cNvPr>
          <p:cNvSpPr/>
          <p:nvPr/>
        </p:nvSpPr>
        <p:spPr>
          <a:xfrm>
            <a:off x="720085" y="1878690"/>
            <a:ext cx="1930036" cy="2544658"/>
          </a:xfrm>
          <a:prstGeom prst="round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endParaRPr lang="en-GB" sz="9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Limited self-service capabilities</a:t>
            </a:r>
          </a:p>
          <a:p>
            <a:pPr marL="171450" indent="-171450" algn="ctr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automation</a:t>
            </a:r>
          </a:p>
        </p:txBody>
      </p:sp>
      <p:sp>
        <p:nvSpPr>
          <p:cNvPr id="17" name="TextBox 11">
            <a:extLst>
              <a:ext uri="{FF2B5EF4-FFF2-40B4-BE49-F238E27FC236}">
                <a16:creationId xmlns:a16="http://schemas.microsoft.com/office/drawing/2014/main" id="{7A466DEC-9423-B95B-0DAB-B91A852EC795}"/>
              </a:ext>
            </a:extLst>
          </p:cNvPr>
          <p:cNvSpPr txBox="1"/>
          <p:nvPr/>
        </p:nvSpPr>
        <p:spPr>
          <a:xfrm>
            <a:off x="635504" y="2078393"/>
            <a:ext cx="209468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Management of supplier and purchase invoices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8" name="Freeform 1015">
            <a:extLst>
              <a:ext uri="{FF2B5EF4-FFF2-40B4-BE49-F238E27FC236}">
                <a16:creationId xmlns:a16="http://schemas.microsoft.com/office/drawing/2014/main" id="{2DFBB6BE-A3C1-C95A-4287-54102AC9E823}"/>
              </a:ext>
            </a:extLst>
          </p:cNvPr>
          <p:cNvSpPr>
            <a:spLocks noChangeAspect="1"/>
          </p:cNvSpPr>
          <p:nvPr/>
        </p:nvSpPr>
        <p:spPr bwMode="auto">
          <a:xfrm>
            <a:off x="1428637" y="1556836"/>
            <a:ext cx="495898" cy="495898"/>
          </a:xfrm>
          <a:custGeom>
            <a:avLst/>
            <a:gdLst>
              <a:gd name="T0" fmla="*/ 7726423 w 293329"/>
              <a:gd name="T1" fmla="*/ 9850932 h 293332"/>
              <a:gd name="T2" fmla="*/ 2935958 w 293329"/>
              <a:gd name="T3" fmla="*/ 9676341 h 293332"/>
              <a:gd name="T4" fmla="*/ 8633732 w 293329"/>
              <a:gd name="T5" fmla="*/ 8887648 h 293332"/>
              <a:gd name="T6" fmla="*/ 8503163 w 293329"/>
              <a:gd name="T7" fmla="*/ 10333017 h 293332"/>
              <a:gd name="T8" fmla="*/ 10187033 w 293329"/>
              <a:gd name="T9" fmla="*/ 9107071 h 293332"/>
              <a:gd name="T10" fmla="*/ 10656909 w 293329"/>
              <a:gd name="T11" fmla="*/ 9507104 h 293332"/>
              <a:gd name="T12" fmla="*/ 8346597 w 293329"/>
              <a:gd name="T13" fmla="*/ 10655613 h 293332"/>
              <a:gd name="T14" fmla="*/ 8398777 w 293329"/>
              <a:gd name="T15" fmla="*/ 8900613 h 293332"/>
              <a:gd name="T16" fmla="*/ 456778 w 293329"/>
              <a:gd name="T17" fmla="*/ 9107071 h 293332"/>
              <a:gd name="T18" fmla="*/ 2153785 w 293329"/>
              <a:gd name="T19" fmla="*/ 10333017 h 293332"/>
              <a:gd name="T20" fmla="*/ 2023134 w 293329"/>
              <a:gd name="T21" fmla="*/ 8887648 h 293332"/>
              <a:gd name="T22" fmla="*/ 2466970 w 293329"/>
              <a:gd name="T23" fmla="*/ 10500789 h 293332"/>
              <a:gd name="T24" fmla="*/ 0 w 293329"/>
              <a:gd name="T25" fmla="*/ 10500789 h 293332"/>
              <a:gd name="T26" fmla="*/ 443780 w 293329"/>
              <a:gd name="T27" fmla="*/ 8887648 h 293332"/>
              <a:gd name="T28" fmla="*/ 9388267 w 293329"/>
              <a:gd name="T29" fmla="*/ 8605304 h 293332"/>
              <a:gd name="T30" fmla="*/ 1198367 w 293329"/>
              <a:gd name="T31" fmla="*/ 7874844 h 293332"/>
              <a:gd name="T32" fmla="*/ 1570072 w 293329"/>
              <a:gd name="T33" fmla="*/ 8233637 h 293332"/>
              <a:gd name="T34" fmla="*/ 10080391 w 293329"/>
              <a:gd name="T35" fmla="*/ 8233637 h 293332"/>
              <a:gd name="T36" fmla="*/ 9388267 w 293329"/>
              <a:gd name="T37" fmla="*/ 7554479 h 293332"/>
              <a:gd name="T38" fmla="*/ 1198367 w 293329"/>
              <a:gd name="T39" fmla="*/ 8925645 h 293332"/>
              <a:gd name="T40" fmla="*/ 5130248 w 293329"/>
              <a:gd name="T41" fmla="*/ 6689459 h 293332"/>
              <a:gd name="T42" fmla="*/ 6635580 w 293329"/>
              <a:gd name="T43" fmla="*/ 7022186 h 293332"/>
              <a:gd name="T44" fmla="*/ 5130248 w 293329"/>
              <a:gd name="T45" fmla="*/ 6689459 h 293332"/>
              <a:gd name="T46" fmla="*/ 6792622 w 293329"/>
              <a:gd name="T47" fmla="*/ 5753460 h 293332"/>
              <a:gd name="T48" fmla="*/ 4960060 w 293329"/>
              <a:gd name="T49" fmla="*/ 5753460 h 293332"/>
              <a:gd name="T50" fmla="*/ 4394049 w 293329"/>
              <a:gd name="T51" fmla="*/ 8425350 h 293332"/>
              <a:gd name="T52" fmla="*/ 4394049 w 293329"/>
              <a:gd name="T53" fmla="*/ 4434924 h 293332"/>
              <a:gd name="T54" fmla="*/ 3801866 w 293329"/>
              <a:gd name="T55" fmla="*/ 8425350 h 293332"/>
              <a:gd name="T56" fmla="*/ 3801866 w 293329"/>
              <a:gd name="T57" fmla="*/ 4434924 h 293332"/>
              <a:gd name="T58" fmla="*/ 10173087 w 293329"/>
              <a:gd name="T59" fmla="*/ 3648251 h 293332"/>
              <a:gd name="T60" fmla="*/ 9880272 w 293329"/>
              <a:gd name="T61" fmla="*/ 7355373 h 293332"/>
              <a:gd name="T62" fmla="*/ 9960128 w 293329"/>
              <a:gd name="T63" fmla="*/ 3543768 h 293332"/>
              <a:gd name="T64" fmla="*/ 882485 w 293329"/>
              <a:gd name="T65" fmla="*/ 7043025 h 293332"/>
              <a:gd name="T66" fmla="*/ 572838 w 293329"/>
              <a:gd name="T67" fmla="*/ 7161164 h 293332"/>
              <a:gd name="T68" fmla="*/ 3801866 w 293329"/>
              <a:gd name="T69" fmla="*/ 3139719 h 293332"/>
              <a:gd name="T70" fmla="*/ 6999706 w 293329"/>
              <a:gd name="T71" fmla="*/ 4120936 h 293332"/>
              <a:gd name="T72" fmla="*/ 3801866 w 293329"/>
              <a:gd name="T73" fmla="*/ 2825664 h 293332"/>
              <a:gd name="T74" fmla="*/ 7486601 w 293329"/>
              <a:gd name="T75" fmla="*/ 3139719 h 293332"/>
              <a:gd name="T76" fmla="*/ 7486601 w 293329"/>
              <a:gd name="T77" fmla="*/ 4120936 h 293332"/>
              <a:gd name="T78" fmla="*/ 7486601 w 293329"/>
              <a:gd name="T79" fmla="*/ 8752426 h 293332"/>
              <a:gd name="T80" fmla="*/ 2999112 w 293329"/>
              <a:gd name="T81" fmla="*/ 3623786 h 293332"/>
              <a:gd name="T82" fmla="*/ 8646767 w 293329"/>
              <a:gd name="T83" fmla="*/ 1554601 h 293332"/>
              <a:gd name="T84" fmla="*/ 10330586 w 293329"/>
              <a:gd name="T85" fmla="*/ 2789136 h 293332"/>
              <a:gd name="T86" fmla="*/ 10213098 w 293329"/>
              <a:gd name="T87" fmla="*/ 1333651 h 293332"/>
              <a:gd name="T88" fmla="*/ 10656909 w 293329"/>
              <a:gd name="T89" fmla="*/ 2945074 h 293332"/>
              <a:gd name="T90" fmla="*/ 8189923 w 293329"/>
              <a:gd name="T91" fmla="*/ 2945074 h 293332"/>
              <a:gd name="T92" fmla="*/ 8633732 w 293329"/>
              <a:gd name="T93" fmla="*/ 1333651 h 293332"/>
              <a:gd name="T94" fmla="*/ 313320 w 293329"/>
              <a:gd name="T95" fmla="*/ 1957394 h 293332"/>
              <a:gd name="T96" fmla="*/ 2153785 w 293329"/>
              <a:gd name="T97" fmla="*/ 1957394 h 293332"/>
              <a:gd name="T98" fmla="*/ 2245154 w 293329"/>
              <a:gd name="T99" fmla="*/ 1346649 h 293332"/>
              <a:gd name="T100" fmla="*/ 2310348 w 293329"/>
              <a:gd name="T101" fmla="*/ 3101058 h 293332"/>
              <a:gd name="T102" fmla="*/ 0 w 293329"/>
              <a:gd name="T103" fmla="*/ 1957394 h 293332"/>
              <a:gd name="T104" fmla="*/ 9388267 w 293329"/>
              <a:gd name="T105" fmla="*/ 307485 h 293332"/>
              <a:gd name="T106" fmla="*/ 9759991 w 293329"/>
              <a:gd name="T107" fmla="*/ 679246 h 293332"/>
              <a:gd name="T108" fmla="*/ 826690 w 293329"/>
              <a:gd name="T109" fmla="*/ 679246 h 293332"/>
              <a:gd name="T110" fmla="*/ 1198367 w 293329"/>
              <a:gd name="T111" fmla="*/ 307485 h 293332"/>
              <a:gd name="T112" fmla="*/ 8022361 w 293329"/>
              <a:gd name="T113" fmla="*/ 1208071 h 293332"/>
              <a:gd name="T114" fmla="*/ 2720558 w 293329"/>
              <a:gd name="T115" fmla="*/ 1286932 h 293332"/>
              <a:gd name="T116" fmla="*/ 5293109 w 293329"/>
              <a:gd name="T117" fmla="*/ 246183 h 293332"/>
              <a:gd name="T118" fmla="*/ 9388267 w 293329"/>
              <a:gd name="T119" fmla="*/ 1371250 h 293332"/>
              <a:gd name="T120" fmla="*/ 1198367 w 293329"/>
              <a:gd name="T121" fmla="*/ 0 h 293332"/>
              <a:gd name="T122" fmla="*/ 519153 w 293329"/>
              <a:gd name="T123" fmla="*/ 679246 h 293332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</a:gdLst>
            <a:ahLst/>
            <a:cxnLst>
              <a:cxn ang="T124">
                <a:pos x="T0" y="T1"/>
              </a:cxn>
              <a:cxn ang="T125">
                <a:pos x="T2" y="T3"/>
              </a:cxn>
              <a:cxn ang="T126">
                <a:pos x="T4" y="T5"/>
              </a:cxn>
              <a:cxn ang="T127">
                <a:pos x="T6" y="T7"/>
              </a:cxn>
              <a:cxn ang="T128">
                <a:pos x="T8" y="T9"/>
              </a:cxn>
              <a:cxn ang="T129">
                <a:pos x="T10" y="T11"/>
              </a:cxn>
              <a:cxn ang="T130">
                <a:pos x="T12" y="T13"/>
              </a:cxn>
              <a:cxn ang="T131">
                <a:pos x="T14" y="T15"/>
              </a:cxn>
              <a:cxn ang="T132">
                <a:pos x="T16" y="T17"/>
              </a:cxn>
              <a:cxn ang="T133">
                <a:pos x="T18" y="T19"/>
              </a:cxn>
              <a:cxn ang="T134">
                <a:pos x="T20" y="T21"/>
              </a:cxn>
              <a:cxn ang="T135">
                <a:pos x="T22" y="T23"/>
              </a:cxn>
              <a:cxn ang="T136">
                <a:pos x="T24" y="T25"/>
              </a:cxn>
              <a:cxn ang="T137">
                <a:pos x="T26" y="T27"/>
              </a:cxn>
              <a:cxn ang="T138">
                <a:pos x="T28" y="T29"/>
              </a:cxn>
              <a:cxn ang="T139">
                <a:pos x="T30" y="T31"/>
              </a:cxn>
              <a:cxn ang="T140">
                <a:pos x="T32" y="T33"/>
              </a:cxn>
              <a:cxn ang="T141">
                <a:pos x="T34" y="T35"/>
              </a:cxn>
              <a:cxn ang="T142">
                <a:pos x="T36" y="T37"/>
              </a:cxn>
              <a:cxn ang="T143">
                <a:pos x="T38" y="T39"/>
              </a:cxn>
              <a:cxn ang="T144">
                <a:pos x="T40" y="T41"/>
              </a:cxn>
              <a:cxn ang="T145">
                <a:pos x="T42" y="T43"/>
              </a:cxn>
              <a:cxn ang="T146">
                <a:pos x="T44" y="T45"/>
              </a:cxn>
              <a:cxn ang="T147">
                <a:pos x="T46" y="T47"/>
              </a:cxn>
              <a:cxn ang="T148">
                <a:pos x="T48" y="T49"/>
              </a:cxn>
              <a:cxn ang="T149">
                <a:pos x="T50" y="T51"/>
              </a:cxn>
              <a:cxn ang="T150">
                <a:pos x="T52" y="T53"/>
              </a:cxn>
              <a:cxn ang="T151">
                <a:pos x="T54" y="T55"/>
              </a:cxn>
              <a:cxn ang="T152">
                <a:pos x="T56" y="T57"/>
              </a:cxn>
              <a:cxn ang="T153">
                <a:pos x="T58" y="T59"/>
              </a:cxn>
              <a:cxn ang="T154">
                <a:pos x="T60" y="T61"/>
              </a:cxn>
              <a:cxn ang="T155">
                <a:pos x="T62" y="T63"/>
              </a:cxn>
              <a:cxn ang="T156">
                <a:pos x="T64" y="T65"/>
              </a:cxn>
              <a:cxn ang="T157">
                <a:pos x="T66" y="T67"/>
              </a:cxn>
              <a:cxn ang="T158">
                <a:pos x="T68" y="T69"/>
              </a:cxn>
              <a:cxn ang="T159">
                <a:pos x="T70" y="T71"/>
              </a:cxn>
              <a:cxn ang="T160">
                <a:pos x="T72" y="T73"/>
              </a:cxn>
              <a:cxn ang="T161">
                <a:pos x="T74" y="T75"/>
              </a:cxn>
              <a:cxn ang="T162">
                <a:pos x="T76" y="T77"/>
              </a:cxn>
              <a:cxn ang="T163">
                <a:pos x="T78" y="T79"/>
              </a:cxn>
              <a:cxn ang="T164">
                <a:pos x="T80" y="T81"/>
              </a:cxn>
              <a:cxn ang="T165">
                <a:pos x="T82" y="T83"/>
              </a:cxn>
              <a:cxn ang="T166">
                <a:pos x="T84" y="T85"/>
              </a:cxn>
              <a:cxn ang="T167">
                <a:pos x="T86" y="T87"/>
              </a:cxn>
              <a:cxn ang="T168">
                <a:pos x="T88" y="T89"/>
              </a:cxn>
              <a:cxn ang="T169">
                <a:pos x="T90" y="T91"/>
              </a:cxn>
              <a:cxn ang="T170">
                <a:pos x="T92" y="T93"/>
              </a:cxn>
              <a:cxn ang="T171">
                <a:pos x="T94" y="T95"/>
              </a:cxn>
              <a:cxn ang="T172">
                <a:pos x="T96" y="T97"/>
              </a:cxn>
              <a:cxn ang="T173">
                <a:pos x="T98" y="T99"/>
              </a:cxn>
              <a:cxn ang="T174">
                <a:pos x="T100" y="T101"/>
              </a:cxn>
              <a:cxn ang="T175">
                <a:pos x="T102" y="T103"/>
              </a:cxn>
              <a:cxn ang="T176">
                <a:pos x="T104" y="T105"/>
              </a:cxn>
              <a:cxn ang="T177">
                <a:pos x="T106" y="T107"/>
              </a:cxn>
              <a:cxn ang="T178">
                <a:pos x="T108" y="T109"/>
              </a:cxn>
              <a:cxn ang="T179">
                <a:pos x="T110" y="T111"/>
              </a:cxn>
              <a:cxn ang="T180">
                <a:pos x="T112" y="T113"/>
              </a:cxn>
              <a:cxn ang="T181">
                <a:pos x="T114" y="T115"/>
              </a:cxn>
              <a:cxn ang="T182">
                <a:pos x="T116" y="T117"/>
              </a:cxn>
              <a:cxn ang="T183">
                <a:pos x="T118" y="T119"/>
              </a:cxn>
              <a:cxn ang="T184">
                <a:pos x="T120" y="T121"/>
              </a:cxn>
              <a:cxn ang="T185">
                <a:pos x="T122" y="T123"/>
              </a:cxn>
            </a:cxnLst>
            <a:rect l="0" t="0" r="r" b="b"/>
            <a:pathLst>
              <a:path w="293329" h="293332">
                <a:moveTo>
                  <a:pt x="208355" y="263416"/>
                </a:moveTo>
                <a:cubicBezTo>
                  <a:pt x="210511" y="261937"/>
                  <a:pt x="213385" y="262677"/>
                  <a:pt x="214822" y="264895"/>
                </a:cubicBezTo>
                <a:cubicBezTo>
                  <a:pt x="215541" y="267483"/>
                  <a:pt x="214822" y="270071"/>
                  <a:pt x="212667" y="271180"/>
                </a:cubicBezTo>
                <a:cubicBezTo>
                  <a:pt x="192188" y="282640"/>
                  <a:pt x="169194" y="288556"/>
                  <a:pt x="146201" y="288556"/>
                </a:cubicBezTo>
                <a:cubicBezTo>
                  <a:pt x="124284" y="288556"/>
                  <a:pt x="102728" y="283010"/>
                  <a:pt x="82608" y="272659"/>
                </a:cubicBezTo>
                <a:cubicBezTo>
                  <a:pt x="80093" y="271549"/>
                  <a:pt x="79375" y="268592"/>
                  <a:pt x="80812" y="266374"/>
                </a:cubicBezTo>
                <a:cubicBezTo>
                  <a:pt x="81530" y="264155"/>
                  <a:pt x="84405" y="263416"/>
                  <a:pt x="86560" y="264525"/>
                </a:cubicBezTo>
                <a:cubicBezTo>
                  <a:pt x="125003" y="284859"/>
                  <a:pt x="170631" y="284119"/>
                  <a:pt x="208355" y="263416"/>
                </a:cubicBezTo>
                <a:close/>
                <a:moveTo>
                  <a:pt x="237641" y="244663"/>
                </a:moveTo>
                <a:cubicBezTo>
                  <a:pt x="239437" y="246084"/>
                  <a:pt x="239796" y="248926"/>
                  <a:pt x="238000" y="250703"/>
                </a:cubicBezTo>
                <a:cubicBezTo>
                  <a:pt x="235485" y="253900"/>
                  <a:pt x="234048" y="257808"/>
                  <a:pt x="234048" y="261715"/>
                </a:cubicBezTo>
                <a:lnTo>
                  <a:pt x="234048" y="284451"/>
                </a:lnTo>
                <a:lnTo>
                  <a:pt x="284347" y="284451"/>
                </a:lnTo>
                <a:lnTo>
                  <a:pt x="284347" y="261715"/>
                </a:lnTo>
                <a:cubicBezTo>
                  <a:pt x="284347" y="257808"/>
                  <a:pt x="283269" y="253900"/>
                  <a:pt x="280395" y="250703"/>
                </a:cubicBezTo>
                <a:cubicBezTo>
                  <a:pt x="278958" y="248926"/>
                  <a:pt x="278958" y="246084"/>
                  <a:pt x="281113" y="244663"/>
                </a:cubicBezTo>
                <a:cubicBezTo>
                  <a:pt x="282910" y="242887"/>
                  <a:pt x="285784" y="243242"/>
                  <a:pt x="287221" y="245019"/>
                </a:cubicBezTo>
                <a:cubicBezTo>
                  <a:pt x="291173" y="249992"/>
                  <a:pt x="293329" y="255676"/>
                  <a:pt x="293329" y="261715"/>
                </a:cubicBezTo>
                <a:lnTo>
                  <a:pt x="293329" y="289069"/>
                </a:lnTo>
                <a:cubicBezTo>
                  <a:pt x="293329" y="291201"/>
                  <a:pt x="291533" y="293332"/>
                  <a:pt x="288658" y="293332"/>
                </a:cubicBezTo>
                <a:lnTo>
                  <a:pt x="229737" y="293332"/>
                </a:lnTo>
                <a:cubicBezTo>
                  <a:pt x="227222" y="293332"/>
                  <a:pt x="225425" y="291201"/>
                  <a:pt x="225425" y="289069"/>
                </a:cubicBezTo>
                <a:lnTo>
                  <a:pt x="225425" y="261715"/>
                </a:lnTo>
                <a:cubicBezTo>
                  <a:pt x="225425" y="255676"/>
                  <a:pt x="227222" y="249992"/>
                  <a:pt x="231174" y="245019"/>
                </a:cubicBezTo>
                <a:cubicBezTo>
                  <a:pt x="232611" y="243242"/>
                  <a:pt x="235844" y="242887"/>
                  <a:pt x="237641" y="244663"/>
                </a:cubicBezTo>
                <a:close/>
                <a:moveTo>
                  <a:pt x="12215" y="244663"/>
                </a:moveTo>
                <a:cubicBezTo>
                  <a:pt x="14012" y="246084"/>
                  <a:pt x="14371" y="248926"/>
                  <a:pt x="12575" y="250703"/>
                </a:cubicBezTo>
                <a:cubicBezTo>
                  <a:pt x="10419" y="253900"/>
                  <a:pt x="8622" y="257808"/>
                  <a:pt x="8622" y="261715"/>
                </a:cubicBezTo>
                <a:lnTo>
                  <a:pt x="8622" y="284451"/>
                </a:lnTo>
                <a:lnTo>
                  <a:pt x="59281" y="284451"/>
                </a:lnTo>
                <a:lnTo>
                  <a:pt x="59281" y="261715"/>
                </a:lnTo>
                <a:cubicBezTo>
                  <a:pt x="59281" y="257808"/>
                  <a:pt x="57844" y="253900"/>
                  <a:pt x="54969" y="250703"/>
                </a:cubicBezTo>
                <a:cubicBezTo>
                  <a:pt x="53532" y="248926"/>
                  <a:pt x="53892" y="246084"/>
                  <a:pt x="55688" y="244663"/>
                </a:cubicBezTo>
                <a:cubicBezTo>
                  <a:pt x="57844" y="242887"/>
                  <a:pt x="60359" y="243242"/>
                  <a:pt x="61796" y="245019"/>
                </a:cubicBezTo>
                <a:cubicBezTo>
                  <a:pt x="65748" y="249992"/>
                  <a:pt x="67903" y="255676"/>
                  <a:pt x="67903" y="261715"/>
                </a:cubicBezTo>
                <a:lnTo>
                  <a:pt x="67903" y="289069"/>
                </a:lnTo>
                <a:cubicBezTo>
                  <a:pt x="67903" y="291201"/>
                  <a:pt x="65748" y="293332"/>
                  <a:pt x="63592" y="293332"/>
                </a:cubicBezTo>
                <a:lnTo>
                  <a:pt x="4311" y="293332"/>
                </a:lnTo>
                <a:cubicBezTo>
                  <a:pt x="1796" y="293332"/>
                  <a:pt x="0" y="291201"/>
                  <a:pt x="0" y="289069"/>
                </a:cubicBezTo>
                <a:lnTo>
                  <a:pt x="0" y="261715"/>
                </a:lnTo>
                <a:cubicBezTo>
                  <a:pt x="0" y="255676"/>
                  <a:pt x="1796" y="249992"/>
                  <a:pt x="6107" y="245019"/>
                </a:cubicBezTo>
                <a:cubicBezTo>
                  <a:pt x="7545" y="243242"/>
                  <a:pt x="10419" y="242887"/>
                  <a:pt x="12215" y="244663"/>
                </a:cubicBezTo>
                <a:close/>
                <a:moveTo>
                  <a:pt x="258410" y="216782"/>
                </a:moveTo>
                <a:cubicBezTo>
                  <a:pt x="252766" y="216782"/>
                  <a:pt x="248180" y="221368"/>
                  <a:pt x="248180" y="226659"/>
                </a:cubicBezTo>
                <a:cubicBezTo>
                  <a:pt x="248180" y="232304"/>
                  <a:pt x="252766" y="236890"/>
                  <a:pt x="258410" y="236890"/>
                </a:cubicBezTo>
                <a:cubicBezTo>
                  <a:pt x="264055" y="236890"/>
                  <a:pt x="268641" y="232304"/>
                  <a:pt x="268641" y="226659"/>
                </a:cubicBezTo>
                <a:cubicBezTo>
                  <a:pt x="268641" y="221368"/>
                  <a:pt x="264055" y="216782"/>
                  <a:pt x="258410" y="216782"/>
                </a:cubicBezTo>
                <a:close/>
                <a:moveTo>
                  <a:pt x="32985" y="216782"/>
                </a:moveTo>
                <a:cubicBezTo>
                  <a:pt x="27341" y="216782"/>
                  <a:pt x="22754" y="221368"/>
                  <a:pt x="22754" y="226659"/>
                </a:cubicBezTo>
                <a:cubicBezTo>
                  <a:pt x="22754" y="232304"/>
                  <a:pt x="27341" y="236890"/>
                  <a:pt x="32985" y="236890"/>
                </a:cubicBezTo>
                <a:cubicBezTo>
                  <a:pt x="38629" y="236890"/>
                  <a:pt x="43216" y="232304"/>
                  <a:pt x="43216" y="226659"/>
                </a:cubicBezTo>
                <a:cubicBezTo>
                  <a:pt x="43216" y="221368"/>
                  <a:pt x="38629" y="216782"/>
                  <a:pt x="32985" y="216782"/>
                </a:cubicBezTo>
                <a:close/>
                <a:moveTo>
                  <a:pt x="258410" y="207962"/>
                </a:moveTo>
                <a:cubicBezTo>
                  <a:pt x="268994" y="207962"/>
                  <a:pt x="277460" y="216429"/>
                  <a:pt x="277460" y="226659"/>
                </a:cubicBezTo>
                <a:cubicBezTo>
                  <a:pt x="277460" y="237243"/>
                  <a:pt x="268994" y="245709"/>
                  <a:pt x="258410" y="245709"/>
                </a:cubicBezTo>
                <a:cubicBezTo>
                  <a:pt x="248180" y="245709"/>
                  <a:pt x="239713" y="237243"/>
                  <a:pt x="239713" y="226659"/>
                </a:cubicBezTo>
                <a:cubicBezTo>
                  <a:pt x="239713" y="216429"/>
                  <a:pt x="248180" y="207962"/>
                  <a:pt x="258410" y="207962"/>
                </a:cubicBezTo>
                <a:close/>
                <a:moveTo>
                  <a:pt x="32985" y="207962"/>
                </a:moveTo>
                <a:cubicBezTo>
                  <a:pt x="43568" y="207962"/>
                  <a:pt x="52035" y="216429"/>
                  <a:pt x="52035" y="226659"/>
                </a:cubicBezTo>
                <a:cubicBezTo>
                  <a:pt x="52035" y="237243"/>
                  <a:pt x="43568" y="245709"/>
                  <a:pt x="32985" y="245709"/>
                </a:cubicBezTo>
                <a:cubicBezTo>
                  <a:pt x="22754" y="245709"/>
                  <a:pt x="14288" y="237243"/>
                  <a:pt x="14288" y="226659"/>
                </a:cubicBezTo>
                <a:cubicBezTo>
                  <a:pt x="14288" y="216429"/>
                  <a:pt x="22754" y="207962"/>
                  <a:pt x="32985" y="207962"/>
                </a:cubicBezTo>
                <a:close/>
                <a:moveTo>
                  <a:pt x="141209" y="184150"/>
                </a:moveTo>
                <a:lnTo>
                  <a:pt x="182642" y="184150"/>
                </a:lnTo>
                <a:cubicBezTo>
                  <a:pt x="185164" y="184150"/>
                  <a:pt x="186965" y="186348"/>
                  <a:pt x="186965" y="188913"/>
                </a:cubicBezTo>
                <a:cubicBezTo>
                  <a:pt x="186965" y="191477"/>
                  <a:pt x="185164" y="193309"/>
                  <a:pt x="182642" y="193309"/>
                </a:cubicBezTo>
                <a:lnTo>
                  <a:pt x="141209" y="193309"/>
                </a:lnTo>
                <a:cubicBezTo>
                  <a:pt x="138687" y="193309"/>
                  <a:pt x="136525" y="191477"/>
                  <a:pt x="136525" y="188913"/>
                </a:cubicBezTo>
                <a:cubicBezTo>
                  <a:pt x="136525" y="186348"/>
                  <a:pt x="138687" y="184150"/>
                  <a:pt x="141209" y="184150"/>
                </a:cubicBezTo>
                <a:close/>
                <a:moveTo>
                  <a:pt x="141209" y="153987"/>
                </a:moveTo>
                <a:lnTo>
                  <a:pt x="182642" y="153987"/>
                </a:lnTo>
                <a:cubicBezTo>
                  <a:pt x="185164" y="153987"/>
                  <a:pt x="186965" y="155818"/>
                  <a:pt x="186965" y="158383"/>
                </a:cubicBezTo>
                <a:cubicBezTo>
                  <a:pt x="186965" y="160947"/>
                  <a:pt x="185164" y="163145"/>
                  <a:pt x="182642" y="163145"/>
                </a:cubicBezTo>
                <a:lnTo>
                  <a:pt x="141209" y="163145"/>
                </a:lnTo>
                <a:cubicBezTo>
                  <a:pt x="138687" y="163145"/>
                  <a:pt x="136525" y="160947"/>
                  <a:pt x="136525" y="158383"/>
                </a:cubicBezTo>
                <a:cubicBezTo>
                  <a:pt x="136525" y="155818"/>
                  <a:pt x="138687" y="153987"/>
                  <a:pt x="141209" y="153987"/>
                </a:cubicBezTo>
                <a:close/>
                <a:moveTo>
                  <a:pt x="120945" y="122087"/>
                </a:moveTo>
                <a:lnTo>
                  <a:pt x="120945" y="231936"/>
                </a:lnTo>
                <a:lnTo>
                  <a:pt x="201721" y="231936"/>
                </a:lnTo>
                <a:lnTo>
                  <a:pt x="201721" y="122087"/>
                </a:lnTo>
                <a:lnTo>
                  <a:pt x="120945" y="122087"/>
                </a:lnTo>
                <a:close/>
                <a:moveTo>
                  <a:pt x="91243" y="117765"/>
                </a:moveTo>
                <a:lnTo>
                  <a:pt x="91243" y="218610"/>
                </a:lnTo>
                <a:cubicBezTo>
                  <a:pt x="91243" y="225813"/>
                  <a:pt x="97401" y="231936"/>
                  <a:pt x="104645" y="231936"/>
                </a:cubicBezTo>
                <a:lnTo>
                  <a:pt x="112252" y="231936"/>
                </a:lnTo>
                <a:lnTo>
                  <a:pt x="112252" y="122087"/>
                </a:lnTo>
                <a:lnTo>
                  <a:pt x="104645" y="122087"/>
                </a:lnTo>
                <a:cubicBezTo>
                  <a:pt x="99574" y="122087"/>
                  <a:pt x="94865" y="120286"/>
                  <a:pt x="91243" y="117765"/>
                </a:cubicBezTo>
                <a:close/>
                <a:moveTo>
                  <a:pt x="274150" y="97555"/>
                </a:moveTo>
                <a:cubicBezTo>
                  <a:pt x="276714" y="96837"/>
                  <a:pt x="279278" y="98274"/>
                  <a:pt x="280011" y="100430"/>
                </a:cubicBezTo>
                <a:cubicBezTo>
                  <a:pt x="291734" y="132770"/>
                  <a:pt x="291001" y="168344"/>
                  <a:pt x="277813" y="199966"/>
                </a:cubicBezTo>
                <a:cubicBezTo>
                  <a:pt x="277080" y="201763"/>
                  <a:pt x="275249" y="202841"/>
                  <a:pt x="273783" y="202841"/>
                </a:cubicBezTo>
                <a:cubicBezTo>
                  <a:pt x="273051" y="202841"/>
                  <a:pt x="272684" y="202841"/>
                  <a:pt x="271952" y="202482"/>
                </a:cubicBezTo>
                <a:cubicBezTo>
                  <a:pt x="269387" y="201404"/>
                  <a:pt x="268288" y="198888"/>
                  <a:pt x="269387" y="196732"/>
                </a:cubicBezTo>
                <a:cubicBezTo>
                  <a:pt x="281843" y="166907"/>
                  <a:pt x="282209" y="133848"/>
                  <a:pt x="271585" y="103305"/>
                </a:cubicBezTo>
                <a:cubicBezTo>
                  <a:pt x="270853" y="101149"/>
                  <a:pt x="271952" y="98633"/>
                  <a:pt x="274150" y="97555"/>
                </a:cubicBezTo>
                <a:close/>
                <a:moveTo>
                  <a:pt x="20584" y="95972"/>
                </a:moveTo>
                <a:cubicBezTo>
                  <a:pt x="22807" y="96695"/>
                  <a:pt x="24289" y="99224"/>
                  <a:pt x="23177" y="101753"/>
                </a:cubicBezTo>
                <a:cubicBezTo>
                  <a:pt x="12435" y="131379"/>
                  <a:pt x="12806" y="164257"/>
                  <a:pt x="24289" y="193883"/>
                </a:cubicBezTo>
                <a:cubicBezTo>
                  <a:pt x="25029" y="196051"/>
                  <a:pt x="23918" y="198580"/>
                  <a:pt x="21696" y="199664"/>
                </a:cubicBezTo>
                <a:cubicBezTo>
                  <a:pt x="20955" y="199664"/>
                  <a:pt x="20584" y="199664"/>
                  <a:pt x="19844" y="199664"/>
                </a:cubicBezTo>
                <a:cubicBezTo>
                  <a:pt x="17991" y="199664"/>
                  <a:pt x="16510" y="198580"/>
                  <a:pt x="15769" y="197135"/>
                </a:cubicBezTo>
                <a:cubicBezTo>
                  <a:pt x="3545" y="165341"/>
                  <a:pt x="3175" y="130656"/>
                  <a:pt x="14658" y="98863"/>
                </a:cubicBezTo>
                <a:cubicBezTo>
                  <a:pt x="15399" y="96334"/>
                  <a:pt x="17991" y="95250"/>
                  <a:pt x="20584" y="95972"/>
                </a:cubicBezTo>
                <a:close/>
                <a:moveTo>
                  <a:pt x="104645" y="86431"/>
                </a:moveTo>
                <a:cubicBezTo>
                  <a:pt x="97401" y="86431"/>
                  <a:pt x="91243" y="92553"/>
                  <a:pt x="91243" y="99757"/>
                </a:cubicBezTo>
                <a:cubicBezTo>
                  <a:pt x="91243" y="107320"/>
                  <a:pt x="97401" y="113443"/>
                  <a:pt x="104645" y="113443"/>
                </a:cubicBezTo>
                <a:lnTo>
                  <a:pt x="192665" y="113443"/>
                </a:lnTo>
                <a:cubicBezTo>
                  <a:pt x="189405" y="104799"/>
                  <a:pt x="189405" y="95435"/>
                  <a:pt x="192665" y="86431"/>
                </a:cubicBezTo>
                <a:lnTo>
                  <a:pt x="104645" y="86431"/>
                </a:lnTo>
                <a:close/>
                <a:moveTo>
                  <a:pt x="104645" y="77787"/>
                </a:moveTo>
                <a:lnTo>
                  <a:pt x="206067" y="77787"/>
                </a:lnTo>
                <a:cubicBezTo>
                  <a:pt x="208603" y="77787"/>
                  <a:pt x="210776" y="79948"/>
                  <a:pt x="210776" y="82109"/>
                </a:cubicBezTo>
                <a:cubicBezTo>
                  <a:pt x="210776" y="84630"/>
                  <a:pt x="208603" y="86431"/>
                  <a:pt x="206067" y="86431"/>
                </a:cubicBezTo>
                <a:lnTo>
                  <a:pt x="202807" y="86431"/>
                </a:lnTo>
                <a:cubicBezTo>
                  <a:pt x="198098" y="95074"/>
                  <a:pt x="198098" y="104799"/>
                  <a:pt x="202807" y="113443"/>
                </a:cubicBezTo>
                <a:lnTo>
                  <a:pt x="206067" y="113443"/>
                </a:lnTo>
                <a:cubicBezTo>
                  <a:pt x="208603" y="113443"/>
                  <a:pt x="210776" y="115243"/>
                  <a:pt x="210776" y="117765"/>
                </a:cubicBezTo>
                <a:lnTo>
                  <a:pt x="210776" y="236258"/>
                </a:lnTo>
                <a:cubicBezTo>
                  <a:pt x="210776" y="238779"/>
                  <a:pt x="208603" y="240940"/>
                  <a:pt x="206067" y="240940"/>
                </a:cubicBezTo>
                <a:lnTo>
                  <a:pt x="104645" y="240940"/>
                </a:lnTo>
                <a:cubicBezTo>
                  <a:pt x="92330" y="240940"/>
                  <a:pt x="82550" y="230856"/>
                  <a:pt x="82550" y="218610"/>
                </a:cubicBezTo>
                <a:lnTo>
                  <a:pt x="82550" y="99757"/>
                </a:lnTo>
                <a:cubicBezTo>
                  <a:pt x="82550" y="87511"/>
                  <a:pt x="92330" y="77787"/>
                  <a:pt x="104645" y="77787"/>
                </a:cubicBezTo>
                <a:close/>
                <a:moveTo>
                  <a:pt x="237641" y="36713"/>
                </a:moveTo>
                <a:cubicBezTo>
                  <a:pt x="239437" y="37787"/>
                  <a:pt x="239796" y="40649"/>
                  <a:pt x="238000" y="42795"/>
                </a:cubicBezTo>
                <a:cubicBezTo>
                  <a:pt x="235485" y="45657"/>
                  <a:pt x="234048" y="49950"/>
                  <a:pt x="234048" y="53885"/>
                </a:cubicBezTo>
                <a:lnTo>
                  <a:pt x="234048" y="76781"/>
                </a:lnTo>
                <a:lnTo>
                  <a:pt x="284347" y="76781"/>
                </a:lnTo>
                <a:lnTo>
                  <a:pt x="284347" y="53885"/>
                </a:lnTo>
                <a:cubicBezTo>
                  <a:pt x="284347" y="49950"/>
                  <a:pt x="282910" y="45657"/>
                  <a:pt x="280395" y="42795"/>
                </a:cubicBezTo>
                <a:cubicBezTo>
                  <a:pt x="278958" y="40649"/>
                  <a:pt x="278958" y="37787"/>
                  <a:pt x="281113" y="36713"/>
                </a:cubicBezTo>
                <a:cubicBezTo>
                  <a:pt x="282910" y="34925"/>
                  <a:pt x="285784" y="35282"/>
                  <a:pt x="287221" y="37071"/>
                </a:cubicBezTo>
                <a:cubicBezTo>
                  <a:pt x="291173" y="41722"/>
                  <a:pt x="293329" y="47804"/>
                  <a:pt x="293329" y="53885"/>
                </a:cubicBezTo>
                <a:lnTo>
                  <a:pt x="293329" y="81074"/>
                </a:lnTo>
                <a:cubicBezTo>
                  <a:pt x="293329" y="83578"/>
                  <a:pt x="291533" y="85367"/>
                  <a:pt x="288658" y="85367"/>
                </a:cubicBezTo>
                <a:lnTo>
                  <a:pt x="229737" y="85367"/>
                </a:lnTo>
                <a:cubicBezTo>
                  <a:pt x="227222" y="85367"/>
                  <a:pt x="225425" y="83578"/>
                  <a:pt x="225425" y="81074"/>
                </a:cubicBezTo>
                <a:lnTo>
                  <a:pt x="225425" y="53885"/>
                </a:lnTo>
                <a:cubicBezTo>
                  <a:pt x="225425" y="47804"/>
                  <a:pt x="227222" y="41722"/>
                  <a:pt x="231174" y="37071"/>
                </a:cubicBezTo>
                <a:cubicBezTo>
                  <a:pt x="232970" y="35282"/>
                  <a:pt x="235844" y="34925"/>
                  <a:pt x="237641" y="36713"/>
                </a:cubicBezTo>
                <a:close/>
                <a:moveTo>
                  <a:pt x="12215" y="36713"/>
                </a:moveTo>
                <a:cubicBezTo>
                  <a:pt x="14012" y="37787"/>
                  <a:pt x="14371" y="40649"/>
                  <a:pt x="12575" y="42795"/>
                </a:cubicBezTo>
                <a:cubicBezTo>
                  <a:pt x="10419" y="45657"/>
                  <a:pt x="8622" y="49950"/>
                  <a:pt x="8622" y="53885"/>
                </a:cubicBezTo>
                <a:lnTo>
                  <a:pt x="8622" y="76781"/>
                </a:lnTo>
                <a:lnTo>
                  <a:pt x="59281" y="76781"/>
                </a:lnTo>
                <a:lnTo>
                  <a:pt x="59281" y="53885"/>
                </a:lnTo>
                <a:cubicBezTo>
                  <a:pt x="59281" y="49950"/>
                  <a:pt x="57844" y="45657"/>
                  <a:pt x="54969" y="42795"/>
                </a:cubicBezTo>
                <a:cubicBezTo>
                  <a:pt x="53532" y="40649"/>
                  <a:pt x="53892" y="37787"/>
                  <a:pt x="55688" y="36713"/>
                </a:cubicBezTo>
                <a:cubicBezTo>
                  <a:pt x="57844" y="34925"/>
                  <a:pt x="60359" y="35282"/>
                  <a:pt x="61796" y="37071"/>
                </a:cubicBezTo>
                <a:cubicBezTo>
                  <a:pt x="65748" y="41722"/>
                  <a:pt x="67903" y="47804"/>
                  <a:pt x="67903" y="53885"/>
                </a:cubicBezTo>
                <a:lnTo>
                  <a:pt x="67903" y="81074"/>
                </a:lnTo>
                <a:cubicBezTo>
                  <a:pt x="67903" y="83578"/>
                  <a:pt x="65748" y="85367"/>
                  <a:pt x="63592" y="85367"/>
                </a:cubicBezTo>
                <a:lnTo>
                  <a:pt x="4311" y="85367"/>
                </a:lnTo>
                <a:cubicBezTo>
                  <a:pt x="1796" y="85367"/>
                  <a:pt x="0" y="83578"/>
                  <a:pt x="0" y="81074"/>
                </a:cubicBezTo>
                <a:lnTo>
                  <a:pt x="0" y="53885"/>
                </a:lnTo>
                <a:cubicBezTo>
                  <a:pt x="0" y="47804"/>
                  <a:pt x="1796" y="41722"/>
                  <a:pt x="6107" y="37071"/>
                </a:cubicBezTo>
                <a:cubicBezTo>
                  <a:pt x="7545" y="35282"/>
                  <a:pt x="10419" y="34925"/>
                  <a:pt x="12215" y="36713"/>
                </a:cubicBezTo>
                <a:close/>
                <a:moveTo>
                  <a:pt x="258410" y="8466"/>
                </a:moveTo>
                <a:cubicBezTo>
                  <a:pt x="252766" y="8466"/>
                  <a:pt x="248180" y="13405"/>
                  <a:pt x="248180" y="18697"/>
                </a:cubicBezTo>
                <a:cubicBezTo>
                  <a:pt x="248180" y="24341"/>
                  <a:pt x="252766" y="28928"/>
                  <a:pt x="258410" y="28928"/>
                </a:cubicBezTo>
                <a:cubicBezTo>
                  <a:pt x="264055" y="28928"/>
                  <a:pt x="268641" y="24341"/>
                  <a:pt x="268641" y="18697"/>
                </a:cubicBezTo>
                <a:cubicBezTo>
                  <a:pt x="268641" y="13405"/>
                  <a:pt x="264055" y="8466"/>
                  <a:pt x="258410" y="8466"/>
                </a:cubicBezTo>
                <a:close/>
                <a:moveTo>
                  <a:pt x="32985" y="8466"/>
                </a:moveTo>
                <a:cubicBezTo>
                  <a:pt x="27341" y="8466"/>
                  <a:pt x="22754" y="13405"/>
                  <a:pt x="22754" y="18697"/>
                </a:cubicBezTo>
                <a:cubicBezTo>
                  <a:pt x="22754" y="24341"/>
                  <a:pt x="27341" y="28928"/>
                  <a:pt x="32985" y="28928"/>
                </a:cubicBezTo>
                <a:cubicBezTo>
                  <a:pt x="38629" y="28928"/>
                  <a:pt x="43216" y="24341"/>
                  <a:pt x="43216" y="18697"/>
                </a:cubicBezTo>
                <a:cubicBezTo>
                  <a:pt x="43216" y="13405"/>
                  <a:pt x="38629" y="8466"/>
                  <a:pt x="32985" y="8466"/>
                </a:cubicBezTo>
                <a:close/>
                <a:moveTo>
                  <a:pt x="145691" y="6778"/>
                </a:moveTo>
                <a:cubicBezTo>
                  <a:pt x="171211" y="6778"/>
                  <a:pt x="196731" y="13556"/>
                  <a:pt x="219015" y="27113"/>
                </a:cubicBezTo>
                <a:cubicBezTo>
                  <a:pt x="221531" y="28559"/>
                  <a:pt x="221891" y="31089"/>
                  <a:pt x="220813" y="33258"/>
                </a:cubicBezTo>
                <a:cubicBezTo>
                  <a:pt x="219015" y="35427"/>
                  <a:pt x="216499" y="36150"/>
                  <a:pt x="214702" y="34704"/>
                </a:cubicBezTo>
                <a:cubicBezTo>
                  <a:pt x="172648" y="9037"/>
                  <a:pt x="118733" y="9037"/>
                  <a:pt x="77038" y="34704"/>
                </a:cubicBezTo>
                <a:cubicBezTo>
                  <a:pt x="76320" y="35427"/>
                  <a:pt x="75601" y="35427"/>
                  <a:pt x="74882" y="35427"/>
                </a:cubicBezTo>
                <a:cubicBezTo>
                  <a:pt x="73444" y="35427"/>
                  <a:pt x="72006" y="34704"/>
                  <a:pt x="70928" y="33258"/>
                </a:cubicBezTo>
                <a:cubicBezTo>
                  <a:pt x="69850" y="31089"/>
                  <a:pt x="70209" y="28559"/>
                  <a:pt x="72366" y="27113"/>
                </a:cubicBezTo>
                <a:cubicBezTo>
                  <a:pt x="94651" y="13556"/>
                  <a:pt x="120171" y="6778"/>
                  <a:pt x="145691" y="6778"/>
                </a:cubicBezTo>
                <a:close/>
                <a:moveTo>
                  <a:pt x="258410" y="0"/>
                </a:moveTo>
                <a:cubicBezTo>
                  <a:pt x="268994" y="0"/>
                  <a:pt x="277460" y="8466"/>
                  <a:pt x="277460" y="18697"/>
                </a:cubicBezTo>
                <a:cubicBezTo>
                  <a:pt x="277460" y="29280"/>
                  <a:pt x="268994" y="37747"/>
                  <a:pt x="258410" y="37747"/>
                </a:cubicBezTo>
                <a:cubicBezTo>
                  <a:pt x="248180" y="37747"/>
                  <a:pt x="239713" y="29280"/>
                  <a:pt x="239713" y="18697"/>
                </a:cubicBezTo>
                <a:cubicBezTo>
                  <a:pt x="239713" y="8466"/>
                  <a:pt x="248180" y="0"/>
                  <a:pt x="258410" y="0"/>
                </a:cubicBezTo>
                <a:close/>
                <a:moveTo>
                  <a:pt x="32985" y="0"/>
                </a:moveTo>
                <a:cubicBezTo>
                  <a:pt x="43568" y="0"/>
                  <a:pt x="52035" y="8466"/>
                  <a:pt x="52035" y="18697"/>
                </a:cubicBezTo>
                <a:cubicBezTo>
                  <a:pt x="52035" y="29280"/>
                  <a:pt x="43568" y="37747"/>
                  <a:pt x="32985" y="37747"/>
                </a:cubicBezTo>
                <a:cubicBezTo>
                  <a:pt x="22754" y="37747"/>
                  <a:pt x="14288" y="29280"/>
                  <a:pt x="14288" y="18697"/>
                </a:cubicBezTo>
                <a:cubicBezTo>
                  <a:pt x="14288" y="8466"/>
                  <a:pt x="22754" y="0"/>
                  <a:pt x="32985" y="0"/>
                </a:cubicBezTo>
                <a:close/>
              </a:path>
            </a:pathLst>
          </a:custGeom>
          <a:solidFill>
            <a:srgbClr val="ED8B00"/>
          </a:solidFill>
          <a:ln>
            <a:noFill/>
          </a:ln>
        </p:spPr>
        <p:txBody>
          <a:bodyPr anchor="ctr"/>
          <a:lstStyle/>
          <a:p>
            <a:endParaRPr lang="en-US" sz="900"/>
          </a:p>
        </p:txBody>
      </p:sp>
      <p:sp>
        <p:nvSpPr>
          <p:cNvPr id="19" name="Freeform 50">
            <a:extLst>
              <a:ext uri="{FF2B5EF4-FFF2-40B4-BE49-F238E27FC236}">
                <a16:creationId xmlns:a16="http://schemas.microsoft.com/office/drawing/2014/main" id="{37A97CCD-C015-E1E9-40B7-A97B59A03B2B}"/>
              </a:ext>
            </a:extLst>
          </p:cNvPr>
          <p:cNvSpPr/>
          <p:nvPr/>
        </p:nvSpPr>
        <p:spPr>
          <a:xfrm rot="10800000">
            <a:off x="727516" y="2132805"/>
            <a:ext cx="1951578" cy="2971025"/>
          </a:xfrm>
          <a:custGeom>
            <a:avLst/>
            <a:gdLst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0 h 9144000"/>
              <a:gd name="connsiteX5" fmla="*/ 4855912 w 4855912"/>
              <a:gd name="connsiteY5" fmla="*/ 0 h 9144000"/>
              <a:gd name="connsiteX6" fmla="*/ 4855912 w 4855912"/>
              <a:gd name="connsiteY6" fmla="*/ 4215866 h 9144000"/>
              <a:gd name="connsiteX7" fmla="*/ 2427956 w 4855912"/>
              <a:gd name="connsiteY7" fmla="*/ 2983833 h 9144000"/>
              <a:gd name="connsiteX8" fmla="*/ 0 w 4855912"/>
              <a:gd name="connsiteY8" fmla="*/ 4215866 h 9144000"/>
              <a:gd name="connsiteX0" fmla="*/ 0 w 4855912"/>
              <a:gd name="connsiteY0" fmla="*/ 9143998 h 9144000"/>
              <a:gd name="connsiteX1" fmla="*/ 4855912 w 4855912"/>
              <a:gd name="connsiteY1" fmla="*/ 9143998 h 9144000"/>
              <a:gd name="connsiteX2" fmla="*/ 4855912 w 4855912"/>
              <a:gd name="connsiteY2" fmla="*/ 9144000 h 9144000"/>
              <a:gd name="connsiteX3" fmla="*/ 0 w 4855912"/>
              <a:gd name="connsiteY3" fmla="*/ 9144000 h 9144000"/>
              <a:gd name="connsiteX4" fmla="*/ 0 w 4855912"/>
              <a:gd name="connsiteY4" fmla="*/ 9143998 h 9144000"/>
              <a:gd name="connsiteX5" fmla="*/ 0 w 4855912"/>
              <a:gd name="connsiteY5" fmla="*/ 794048 h 9144000"/>
              <a:gd name="connsiteX6" fmla="*/ 4855912 w 4855912"/>
              <a:gd name="connsiteY6" fmla="*/ 0 h 9144000"/>
              <a:gd name="connsiteX7" fmla="*/ 4855912 w 4855912"/>
              <a:gd name="connsiteY7" fmla="*/ 4215866 h 9144000"/>
              <a:gd name="connsiteX8" fmla="*/ 2427956 w 4855912"/>
              <a:gd name="connsiteY8" fmla="*/ 2983833 h 9144000"/>
              <a:gd name="connsiteX9" fmla="*/ 0 w 4855912"/>
              <a:gd name="connsiteY9" fmla="*/ 4215866 h 9144000"/>
              <a:gd name="connsiteX10" fmla="*/ 0 w 4855912"/>
              <a:gd name="connsiteY10" fmla="*/ 794048 h 9144000"/>
              <a:gd name="connsiteX0" fmla="*/ 0 w 4855912"/>
              <a:gd name="connsiteY0" fmla="*/ 8366845 h 8366847"/>
              <a:gd name="connsiteX1" fmla="*/ 4855912 w 4855912"/>
              <a:gd name="connsiteY1" fmla="*/ 8366845 h 8366847"/>
              <a:gd name="connsiteX2" fmla="*/ 4855912 w 4855912"/>
              <a:gd name="connsiteY2" fmla="*/ 8366847 h 8366847"/>
              <a:gd name="connsiteX3" fmla="*/ 0 w 4855912"/>
              <a:gd name="connsiteY3" fmla="*/ 8366847 h 8366847"/>
              <a:gd name="connsiteX4" fmla="*/ 0 w 4855912"/>
              <a:gd name="connsiteY4" fmla="*/ 8366845 h 8366847"/>
              <a:gd name="connsiteX5" fmla="*/ 0 w 4855912"/>
              <a:gd name="connsiteY5" fmla="*/ 16895 h 8366847"/>
              <a:gd name="connsiteX6" fmla="*/ 4839134 w 4855912"/>
              <a:gd name="connsiteY6" fmla="*/ 0 h 8366847"/>
              <a:gd name="connsiteX7" fmla="*/ 4855912 w 4855912"/>
              <a:gd name="connsiteY7" fmla="*/ 3438713 h 8366847"/>
              <a:gd name="connsiteX8" fmla="*/ 2427956 w 4855912"/>
              <a:gd name="connsiteY8" fmla="*/ 2206680 h 8366847"/>
              <a:gd name="connsiteX9" fmla="*/ 0 w 4855912"/>
              <a:gd name="connsiteY9" fmla="*/ 3438713 h 8366847"/>
              <a:gd name="connsiteX10" fmla="*/ 0 w 4855912"/>
              <a:gd name="connsiteY10" fmla="*/ 16895 h 8366847"/>
              <a:gd name="connsiteX0" fmla="*/ 0 w 4857526"/>
              <a:gd name="connsiteY0" fmla="*/ 8349950 h 8349952"/>
              <a:gd name="connsiteX1" fmla="*/ 4855912 w 4857526"/>
              <a:gd name="connsiteY1" fmla="*/ 8349950 h 8349952"/>
              <a:gd name="connsiteX2" fmla="*/ 4855912 w 4857526"/>
              <a:gd name="connsiteY2" fmla="*/ 8349952 h 8349952"/>
              <a:gd name="connsiteX3" fmla="*/ 0 w 4857526"/>
              <a:gd name="connsiteY3" fmla="*/ 8349952 h 8349952"/>
              <a:gd name="connsiteX4" fmla="*/ 0 w 4857526"/>
              <a:gd name="connsiteY4" fmla="*/ 8349950 h 8349952"/>
              <a:gd name="connsiteX5" fmla="*/ 0 w 4857526"/>
              <a:gd name="connsiteY5" fmla="*/ 0 h 8349952"/>
              <a:gd name="connsiteX6" fmla="*/ 4855912 w 4857526"/>
              <a:gd name="connsiteY6" fmla="*/ 0 h 8349952"/>
              <a:gd name="connsiteX7" fmla="*/ 4855912 w 4857526"/>
              <a:gd name="connsiteY7" fmla="*/ 3421818 h 8349952"/>
              <a:gd name="connsiteX8" fmla="*/ 2427956 w 4857526"/>
              <a:gd name="connsiteY8" fmla="*/ 2189785 h 8349952"/>
              <a:gd name="connsiteX9" fmla="*/ 0 w 4857526"/>
              <a:gd name="connsiteY9" fmla="*/ 3421818 h 8349952"/>
              <a:gd name="connsiteX10" fmla="*/ 0 w 4857526"/>
              <a:gd name="connsiteY10" fmla="*/ 0 h 8349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7526" h="8349952">
                <a:moveTo>
                  <a:pt x="0" y="8349950"/>
                </a:moveTo>
                <a:lnTo>
                  <a:pt x="4855912" y="8349950"/>
                </a:lnTo>
                <a:lnTo>
                  <a:pt x="4855912" y="8349952"/>
                </a:lnTo>
                <a:lnTo>
                  <a:pt x="0" y="8349952"/>
                </a:lnTo>
                <a:lnTo>
                  <a:pt x="0" y="8349950"/>
                </a:lnTo>
                <a:close/>
                <a:moveTo>
                  <a:pt x="0" y="0"/>
                </a:moveTo>
                <a:lnTo>
                  <a:pt x="4855912" y="0"/>
                </a:lnTo>
                <a:cubicBezTo>
                  <a:pt x="4861505" y="1146238"/>
                  <a:pt x="4850319" y="2275580"/>
                  <a:pt x="4855912" y="3421818"/>
                </a:cubicBezTo>
                <a:lnTo>
                  <a:pt x="2427956" y="2189785"/>
                </a:lnTo>
                <a:lnTo>
                  <a:pt x="0" y="34218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78087AEC-86F9-E8B2-C10B-A49DA1E431AE}"/>
              </a:ext>
            </a:extLst>
          </p:cNvPr>
          <p:cNvSpPr txBox="1"/>
          <p:nvPr/>
        </p:nvSpPr>
        <p:spPr>
          <a:xfrm>
            <a:off x="756982" y="4340395"/>
            <a:ext cx="1914319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Supplier management could be costing you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758C2988-077F-715B-4765-2E7B0D4C1F34}"/>
              </a:ext>
            </a:extLst>
          </p:cNvPr>
          <p:cNvSpPr txBox="1"/>
          <p:nvPr/>
        </p:nvSpPr>
        <p:spPr>
          <a:xfrm>
            <a:off x="782683" y="5086738"/>
            <a:ext cx="18929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dirty="0" err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valmspi</a:t>
            </a:r>
            <a:r>
              <a:rPr lang="en-GB" sz="2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9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annually</a:t>
            </a:r>
          </a:p>
        </p:txBody>
      </p:sp>
    </p:spTree>
    <p:extLst>
      <p:ext uri="{BB962C8B-B14F-4D97-AF65-F5344CB8AC3E}">
        <p14:creationId xmlns:p14="http://schemas.microsoft.com/office/powerpoint/2010/main" val="653904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ANNUAL COST OF DELAY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288951C-C3BA-1397-36A8-DA901F93F551}"/>
              </a:ext>
            </a:extLst>
          </p:cNvPr>
          <p:cNvSpPr txBox="1">
            <a:spLocks/>
          </p:cNvSpPr>
          <p:nvPr/>
        </p:nvSpPr>
        <p:spPr>
          <a:xfrm>
            <a:off x="6223817" y="1087908"/>
            <a:ext cx="1656189" cy="39292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 algn="ctr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dirty="0">
                <a:latin typeface="Open Sans"/>
                <a:ea typeface="Open Sans"/>
                <a:cs typeface="Open Sans"/>
              </a:rPr>
              <a:t>PAIN POINTS</a:t>
            </a:r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13E7FD9A-35EC-E555-4DF5-08B0049F9F6D}"/>
              </a:ext>
            </a:extLst>
          </p:cNvPr>
          <p:cNvSpPr txBox="1"/>
          <p:nvPr/>
        </p:nvSpPr>
        <p:spPr>
          <a:xfrm>
            <a:off x="6235704" y="1661242"/>
            <a:ext cx="14565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i="0" dirty="0">
                <a:solidFill>
                  <a:srgbClr val="F15D22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per6x</a:t>
            </a:r>
            <a:r>
              <a:rPr lang="tr-TR" sz="1400" b="1" i="0" dirty="0">
                <a:solidFill>
                  <a:srgbClr val="F15D22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%</a:t>
            </a:r>
            <a:endParaRPr lang="tr-TR" sz="1400" dirty="0">
              <a:solidFill>
                <a:srgbClr val="F15D22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1" name="Metin kutusu 10">
            <a:extLst>
              <a:ext uri="{FF2B5EF4-FFF2-40B4-BE49-F238E27FC236}">
                <a16:creationId xmlns:a16="http://schemas.microsoft.com/office/drawing/2014/main" id="{6CA06CED-FE75-4967-D0A1-C1C89359F233}"/>
              </a:ext>
            </a:extLst>
          </p:cNvPr>
          <p:cNvSpPr txBox="1"/>
          <p:nvPr/>
        </p:nvSpPr>
        <p:spPr>
          <a:xfrm>
            <a:off x="7157473" y="1597426"/>
            <a:ext cx="28954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cap="all" dirty="0">
                <a:solidFill>
                  <a:srgbClr val="25252C"/>
                </a:solidFill>
                <a:effectLst/>
                <a:highlight>
                  <a:srgbClr val="FFFFFF"/>
                </a:highlight>
                <a:latin typeface="+mj-lt"/>
              </a:rPr>
              <a:t>Management of supplier and purchase invoices</a:t>
            </a:r>
            <a:endParaRPr lang="tr-TR" sz="1200" dirty="0">
              <a:latin typeface="+mj-lt"/>
            </a:endParaRPr>
          </a:p>
        </p:txBody>
      </p:sp>
      <p:cxnSp>
        <p:nvCxnSpPr>
          <p:cNvPr id="12" name="Düz Bağlayıcı 11">
            <a:extLst>
              <a:ext uri="{FF2B5EF4-FFF2-40B4-BE49-F238E27FC236}">
                <a16:creationId xmlns:a16="http://schemas.microsoft.com/office/drawing/2014/main" id="{B958F7CD-010C-C1DF-8A9D-47EA81947EF5}"/>
              </a:ext>
            </a:extLst>
          </p:cNvPr>
          <p:cNvCxnSpPr>
            <a:cxnSpLocks/>
          </p:cNvCxnSpPr>
          <p:nvPr/>
        </p:nvCxnSpPr>
        <p:spPr>
          <a:xfrm>
            <a:off x="6324069" y="2186858"/>
            <a:ext cx="360651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DAB3ADBA-809E-E5D2-DAE4-3B5093A639E7}"/>
              </a:ext>
            </a:extLst>
          </p:cNvPr>
          <p:cNvSpPr txBox="1"/>
          <p:nvPr/>
        </p:nvSpPr>
        <p:spPr>
          <a:xfrm>
            <a:off x="6235704" y="2675778"/>
            <a:ext cx="12140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i="0" dirty="0">
                <a:solidFill>
                  <a:srgbClr val="616173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per8x</a:t>
            </a:r>
            <a:r>
              <a:rPr lang="tr-TR" sz="1400" b="1" i="0" dirty="0">
                <a:solidFill>
                  <a:srgbClr val="616173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%</a:t>
            </a:r>
            <a:endParaRPr lang="tr-TR" sz="1400" dirty="0">
              <a:solidFill>
                <a:srgbClr val="616173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6554B224-FE3E-D0C6-C720-D705CCE8629C}"/>
              </a:ext>
            </a:extLst>
          </p:cNvPr>
          <p:cNvSpPr txBox="1"/>
          <p:nvPr/>
        </p:nvSpPr>
        <p:spPr>
          <a:xfrm>
            <a:off x="7157473" y="2600515"/>
            <a:ext cx="27122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cap="all" dirty="0">
                <a:solidFill>
                  <a:srgbClr val="25252C"/>
                </a:solidFill>
                <a:effectLst/>
                <a:highlight>
                  <a:srgbClr val="FFFFFF"/>
                </a:highlight>
                <a:latin typeface="+mj-lt"/>
              </a:rPr>
              <a:t>Finance query management and dashboard reporting</a:t>
            </a:r>
            <a:endParaRPr lang="tr-TR" sz="1200" dirty="0">
              <a:latin typeface="+mj-lt"/>
            </a:endParaRPr>
          </a:p>
        </p:txBody>
      </p:sp>
      <p:cxnSp>
        <p:nvCxnSpPr>
          <p:cNvPr id="16" name="Düz Bağlayıcı 15">
            <a:extLst>
              <a:ext uri="{FF2B5EF4-FFF2-40B4-BE49-F238E27FC236}">
                <a16:creationId xmlns:a16="http://schemas.microsoft.com/office/drawing/2014/main" id="{9FA200D9-42C7-7ED5-42BE-A8C50F06FF75}"/>
              </a:ext>
            </a:extLst>
          </p:cNvPr>
          <p:cNvCxnSpPr>
            <a:cxnSpLocks/>
          </p:cNvCxnSpPr>
          <p:nvPr/>
        </p:nvCxnSpPr>
        <p:spPr>
          <a:xfrm>
            <a:off x="6327029" y="3215547"/>
            <a:ext cx="3607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F5B56B55-628B-3DA3-96B2-535DE0111B67}"/>
              </a:ext>
            </a:extLst>
          </p:cNvPr>
          <p:cNvSpPr txBox="1"/>
          <p:nvPr/>
        </p:nvSpPr>
        <p:spPr>
          <a:xfrm>
            <a:off x="6255890" y="3576370"/>
            <a:ext cx="1337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i="0" dirty="0">
                <a:solidFill>
                  <a:srgbClr val="F6911E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per9x</a:t>
            </a:r>
            <a:r>
              <a:rPr lang="tr-TR" sz="1400" b="1" i="0" dirty="0">
                <a:solidFill>
                  <a:srgbClr val="F6911E"/>
                </a:solidFill>
                <a:effectLst/>
                <a:highlight>
                  <a:srgbClr val="FFFFFF"/>
                </a:highlight>
                <a:latin typeface="Montserrat SemiBold" panose="00000700000000000000" pitchFamily="2" charset="0"/>
              </a:rPr>
              <a:t>%</a:t>
            </a:r>
            <a:endParaRPr lang="tr-TR" sz="1400" dirty="0">
              <a:solidFill>
                <a:srgbClr val="F6911E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5A1931FD-3DE3-56DF-A0C7-6A857636496F}"/>
              </a:ext>
            </a:extLst>
          </p:cNvPr>
          <p:cNvSpPr txBox="1"/>
          <p:nvPr/>
        </p:nvSpPr>
        <p:spPr>
          <a:xfrm>
            <a:off x="7157473" y="3472474"/>
            <a:ext cx="2657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0" i="0" cap="all" dirty="0">
                <a:solidFill>
                  <a:srgbClr val="25252C"/>
                </a:solidFill>
                <a:effectLst/>
                <a:highlight>
                  <a:srgbClr val="FFFFFF"/>
                </a:highlight>
                <a:latin typeface="+mj-lt"/>
              </a:rPr>
              <a:t>DEBT COLLECTION ADMINISTRATION PROCESSES</a:t>
            </a:r>
            <a:endParaRPr lang="tr-TR" sz="1200" dirty="0">
              <a:latin typeface="+mj-lt"/>
            </a:endParaRPr>
          </a:p>
        </p:txBody>
      </p:sp>
      <p:cxnSp>
        <p:nvCxnSpPr>
          <p:cNvPr id="20" name="Düz Bağlayıcı 19">
            <a:extLst>
              <a:ext uri="{FF2B5EF4-FFF2-40B4-BE49-F238E27FC236}">
                <a16:creationId xmlns:a16="http://schemas.microsoft.com/office/drawing/2014/main" id="{B2C9EFC7-5934-A281-9CA9-5BF4B2674D99}"/>
              </a:ext>
            </a:extLst>
          </p:cNvPr>
          <p:cNvCxnSpPr>
            <a:cxnSpLocks/>
          </p:cNvCxnSpPr>
          <p:nvPr/>
        </p:nvCxnSpPr>
        <p:spPr>
          <a:xfrm>
            <a:off x="6311174" y="4059227"/>
            <a:ext cx="3607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" name="Chart 9">
            <a:extLst>
              <a:ext uri="{FF2B5EF4-FFF2-40B4-BE49-F238E27FC236}">
                <a16:creationId xmlns:a16="http://schemas.microsoft.com/office/drawing/2014/main" id="{A65EFCB1-3F26-2C8B-1E54-7EEE83D320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9497298"/>
              </p:ext>
            </p:extLst>
          </p:nvPr>
        </p:nvGraphicFramePr>
        <p:xfrm>
          <a:off x="564421" y="888700"/>
          <a:ext cx="5015009" cy="5540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F0555603-B786-A93B-8B30-13D773E0D58C}"/>
              </a:ext>
            </a:extLst>
          </p:cNvPr>
          <p:cNvSpPr txBox="1">
            <a:spLocks/>
          </p:cNvSpPr>
          <p:nvPr/>
        </p:nvSpPr>
        <p:spPr>
          <a:xfrm>
            <a:off x="1411876" y="3494873"/>
            <a:ext cx="3544235" cy="3125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 algn="ctr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tr-TR" dirty="0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£ </a:t>
            </a:r>
            <a:r>
              <a:rPr lang="tr-TR" dirty="0" err="1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totalcostval</a:t>
            </a:r>
            <a:r>
              <a:rPr lang="tr-TR" dirty="0">
                <a:solidFill>
                  <a:srgbClr val="FF5A1F"/>
                </a:solidFill>
                <a:latin typeface="Montserrat SemiBold" panose="00000700000000000000" pitchFamily="2" charset="0"/>
                <a:ea typeface="Open Sans"/>
                <a:cs typeface="Open Sans"/>
              </a:rPr>
              <a:t> </a:t>
            </a:r>
            <a:endParaRPr lang="en-GB" dirty="0">
              <a:solidFill>
                <a:srgbClr val="FF5A1F"/>
              </a:solidFill>
              <a:latin typeface="Montserrat SemiBold" panose="00000700000000000000" pitchFamily="2" charset="0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ANNUAL COST OF DELAY: BREAKDOWN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grpSp>
        <p:nvGrpSpPr>
          <p:cNvPr id="64" name="Grup 63">
            <a:extLst>
              <a:ext uri="{FF2B5EF4-FFF2-40B4-BE49-F238E27FC236}">
                <a16:creationId xmlns:a16="http://schemas.microsoft.com/office/drawing/2014/main" id="{6AF20278-DABA-0C7C-4D0E-4147D3D7E6B8}"/>
              </a:ext>
            </a:extLst>
          </p:cNvPr>
          <p:cNvGrpSpPr/>
          <p:nvPr/>
        </p:nvGrpSpPr>
        <p:grpSpPr>
          <a:xfrm>
            <a:off x="3299663" y="1406662"/>
            <a:ext cx="2711169" cy="1830692"/>
            <a:chOff x="356496" y="683777"/>
            <a:chExt cx="3362632" cy="1938903"/>
          </a:xfrm>
        </p:grpSpPr>
        <p:sp>
          <p:nvSpPr>
            <p:cNvPr id="65" name="TextBox 41">
              <a:extLst>
                <a:ext uri="{FF2B5EF4-FFF2-40B4-BE49-F238E27FC236}">
                  <a16:creationId xmlns:a16="http://schemas.microsoft.com/office/drawing/2014/main" id="{B2556D3A-AC3B-8D09-5713-97DC59AB5654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616173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616173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616173"/>
                  </a:solidFill>
                  <a:latin typeface="Montserrat SemiBold" panose="00000700000000000000" pitchFamily="2" charset="0"/>
                </a:rPr>
                <a:t>pfqmrval</a:t>
              </a:r>
              <a:endParaRPr lang="en-US" b="1" dirty="0">
                <a:solidFill>
                  <a:srgbClr val="61617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66" name="Metin kutusu 65">
              <a:extLst>
                <a:ext uri="{FF2B5EF4-FFF2-40B4-BE49-F238E27FC236}">
                  <a16:creationId xmlns:a16="http://schemas.microsoft.com/office/drawing/2014/main" id="{B8F406CF-5F18-AF63-2970-CA01A48E7788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Finance query management and dashboard reporting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67" name="Metin kutusu 66">
              <a:extLst>
                <a:ext uri="{FF2B5EF4-FFF2-40B4-BE49-F238E27FC236}">
                  <a16:creationId xmlns:a16="http://schemas.microsoft.com/office/drawing/2014/main" id="{6416CA2F-9B70-6498-5803-6C65B8E1BBEF}"/>
                </a:ext>
              </a:extLst>
            </p:cNvPr>
            <p:cNvSpPr txBox="1"/>
            <p:nvPr/>
          </p:nvSpPr>
          <p:spPr>
            <a:xfrm>
              <a:off x="356496" y="1441042"/>
              <a:ext cx="3261775" cy="118163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Make due diligence and compliance reviews a seamless part of your procurement process. Get dynamic compliance profiles for each supplier, automated reviews and approvals prompts, and </a:t>
              </a:r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standardised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 supplier data for thorough compliance management.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68" name="Grup 67">
            <a:extLst>
              <a:ext uri="{FF2B5EF4-FFF2-40B4-BE49-F238E27FC236}">
                <a16:creationId xmlns:a16="http://schemas.microsoft.com/office/drawing/2014/main" id="{6C29EE48-DA87-A63C-4F74-04D310B2BF79}"/>
              </a:ext>
            </a:extLst>
          </p:cNvPr>
          <p:cNvGrpSpPr/>
          <p:nvPr/>
        </p:nvGrpSpPr>
        <p:grpSpPr>
          <a:xfrm>
            <a:off x="482639" y="1406662"/>
            <a:ext cx="2817024" cy="1528809"/>
            <a:chOff x="356496" y="683777"/>
            <a:chExt cx="3362632" cy="1619177"/>
          </a:xfrm>
        </p:grpSpPr>
        <p:sp>
          <p:nvSpPr>
            <p:cNvPr id="69" name="TextBox 41">
              <a:extLst>
                <a:ext uri="{FF2B5EF4-FFF2-40B4-BE49-F238E27FC236}">
                  <a16:creationId xmlns:a16="http://schemas.microsoft.com/office/drawing/2014/main" id="{DD2A6AC1-1163-D2DC-2067-F28700102A24}"/>
                </a:ext>
              </a:extLst>
            </p:cNvPr>
            <p:cNvSpPr txBox="1"/>
            <p:nvPr/>
          </p:nvSpPr>
          <p:spPr>
            <a:xfrm>
              <a:off x="356496" y="683777"/>
              <a:ext cx="2612845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15D22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15D22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15D22"/>
                  </a:solidFill>
                  <a:latin typeface="Montserrat SemiBold" panose="00000700000000000000" pitchFamily="2" charset="0"/>
                </a:rPr>
                <a:t>pmspival</a:t>
              </a:r>
              <a:endParaRPr lang="en-US" b="1" dirty="0">
                <a:solidFill>
                  <a:srgbClr val="F15D22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F0AE9D7C-E0F8-09B9-3C5B-4E08B6D30B7F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Management of supplier and purchase invoices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4EDEA638-80B5-79AD-5A5B-11A315EA89EE}"/>
                </a:ext>
              </a:extLst>
            </p:cNvPr>
            <p:cNvSpPr txBox="1"/>
            <p:nvPr/>
          </p:nvSpPr>
          <p:spPr>
            <a:xfrm>
              <a:off x="356496" y="1430987"/>
              <a:ext cx="3261775" cy="87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Automate activity, streamline approval and management flow, and capture rich data with our industry-leading, user-friendly contract lifecycle management software. Suitable for all contracts, basic or complex.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4" name="Grup 3">
            <a:extLst>
              <a:ext uri="{FF2B5EF4-FFF2-40B4-BE49-F238E27FC236}">
                <a16:creationId xmlns:a16="http://schemas.microsoft.com/office/drawing/2014/main" id="{30E1EE20-4C83-C89F-797E-C0EC6739EE79}"/>
              </a:ext>
            </a:extLst>
          </p:cNvPr>
          <p:cNvGrpSpPr/>
          <p:nvPr/>
        </p:nvGrpSpPr>
        <p:grpSpPr>
          <a:xfrm>
            <a:off x="6095324" y="1406662"/>
            <a:ext cx="2711169" cy="1397126"/>
            <a:chOff x="356496" y="683777"/>
            <a:chExt cx="3362632" cy="1479709"/>
          </a:xfrm>
        </p:grpSpPr>
        <p:sp>
          <p:nvSpPr>
            <p:cNvPr id="5" name="TextBox 41">
              <a:extLst>
                <a:ext uri="{FF2B5EF4-FFF2-40B4-BE49-F238E27FC236}">
                  <a16:creationId xmlns:a16="http://schemas.microsoft.com/office/drawing/2014/main" id="{079E3BA4-8852-84C8-1D32-B7349F030FDE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6911E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6911E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6911E"/>
                  </a:solidFill>
                  <a:latin typeface="Montserrat SemiBold" panose="00000700000000000000" pitchFamily="2" charset="0"/>
                </a:rPr>
                <a:t>pdcapval</a:t>
              </a:r>
              <a:endParaRPr lang="en-US" b="1" dirty="0">
                <a:solidFill>
                  <a:srgbClr val="F6911E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FDF74FBB-B19C-774B-0CB3-961407AD3231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Debt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collectIon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adm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strat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on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processes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C834B9B2-905C-D9FA-A31B-7E3DCE800DCA}"/>
                </a:ext>
              </a:extLst>
            </p:cNvPr>
            <p:cNvSpPr txBox="1"/>
            <p:nvPr/>
          </p:nvSpPr>
          <p:spPr>
            <a:xfrm>
              <a:off x="356496" y="1446355"/>
              <a:ext cx="3261775" cy="7171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Mitigate third-party risk, keep data safe, and consistently monitor health using powerful insights to </a:t>
              </a:r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optimise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 your supplier partnerships.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7962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5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1004079" y="5275906"/>
            <a:ext cx="96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Disclaimer </a:t>
            </a:r>
            <a:r>
              <a:rPr lang="en-GB" sz="900" dirty="0">
                <a:latin typeface="Open Sans"/>
                <a:ea typeface="Open Sans"/>
                <a:cs typeface="Open Sans"/>
              </a:rPr>
              <a:t>We hope these estimations can assist in purchasing decisions and surface value prospects could see. Details listed are provided in good faith, as a guide only, on an "as is" basis. 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FC2ADAF580B8A648AEA7FF4A5F3D65E6" ma:contentTypeVersion="11" ma:contentTypeDescription="Yeni belge oluşturun." ma:contentTypeScope="" ma:versionID="56f870f08e2d08b2b10344f12fd261be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699557ddf8cd53ad766f89e119cd6fad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www.w3.org/XML/1998/namespace"/>
    <ds:schemaRef ds:uri="8e78c812-0be8-4f61-8186-a9387d596735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schemas.microsoft.com/office/infopath/2007/PartnerControls"/>
    <ds:schemaRef ds:uri="8a969d1d-647f-4e4c-97f9-a5143e71e435"/>
    <ds:schemaRef ds:uri="eb37a4e0-bf89-419d-8b31-963a97458fb1"/>
  </ds:schemaRefs>
</ds:datastoreItem>
</file>

<file path=customXml/itemProps3.xml><?xml version="1.0" encoding="utf-8"?>
<ds:datastoreItem xmlns:ds="http://schemas.openxmlformats.org/officeDocument/2006/customXml" ds:itemID="{40976E10-D540-4F0D-B7ED-DE660C408B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2228</TotalTime>
  <Words>305</Words>
  <Application>Microsoft Office PowerPoint</Application>
  <PresentationFormat>Geniş ekran</PresentationFormat>
  <Paragraphs>59</Paragraphs>
  <Slides>5</Slides>
  <Notes>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13" baseType="lpstr">
      <vt:lpstr>Arial</vt:lpstr>
      <vt:lpstr>Calibri</vt:lpstr>
      <vt:lpstr>Montserrat</vt:lpstr>
      <vt:lpstr>Montserrat Medium</vt:lpstr>
      <vt:lpstr>Montserrat SemiBold</vt:lpstr>
      <vt:lpstr>Open Sans</vt:lpstr>
      <vt:lpstr>Wingdings</vt:lpstr>
      <vt:lpstr>Advanced Theme</vt:lpstr>
      <vt:lpstr>valclient: Value Business Case</vt:lpstr>
      <vt:lpstr>DOING NOTHING IS NOT AN OPTION</vt:lpstr>
      <vt:lpstr>ANNUAL COST OF DELAY</vt:lpstr>
      <vt:lpstr>ANNUAL COST OF DELAY: BREAKDOWN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17</cp:revision>
  <dcterms:created xsi:type="dcterms:W3CDTF">2024-07-05T15:05:35Z</dcterms:created>
  <dcterms:modified xsi:type="dcterms:W3CDTF">2024-10-01T16:17:19Z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