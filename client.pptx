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89" r:id="rId5"/>
    <p:sldId id="469" r:id="rId6"/>
    <p:sldId id="458" r:id="rId7"/>
    <p:sldId id="463" r:id="rId8"/>
    <p:sldId id="461" r:id="rId9"/>
    <p:sldId id="462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911E"/>
    <a:srgbClr val="616173"/>
    <a:srgbClr val="F15D22"/>
    <a:srgbClr val="E23F13"/>
    <a:srgbClr val="FFFFFF"/>
    <a:srgbClr val="F0F0F5"/>
    <a:srgbClr val="FAFAFA"/>
    <a:srgbClr val="2525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1063B6-3638-413C-A2E7-0C3C86FFC2A7}" v="4" dt="2024-09-19T08:43:08.9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0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Dcruz" userId="fdeebe35-3a96-462e-adc5-475bea95f1c6" providerId="ADAL" clId="{6E1063B6-3638-413C-A2E7-0C3C86FFC2A7}"/>
    <pc:docChg chg="undo custSel addSld delSld modSld">
      <pc:chgData name="Angela Dcruz" userId="fdeebe35-3a96-462e-adc5-475bea95f1c6" providerId="ADAL" clId="{6E1063B6-3638-413C-A2E7-0C3C86FFC2A7}" dt="2024-09-19T08:49:05.557" v="99" actId="20577"/>
      <pc:docMkLst>
        <pc:docMk/>
      </pc:docMkLst>
      <pc:sldChg chg="addSp modSp mod">
        <pc:chgData name="Angela Dcruz" userId="fdeebe35-3a96-462e-adc5-475bea95f1c6" providerId="ADAL" clId="{6E1063B6-3638-413C-A2E7-0C3C86FFC2A7}" dt="2024-09-19T08:48:25.260" v="97" actId="14100"/>
        <pc:sldMkLst>
          <pc:docMk/>
          <pc:sldMk cId="3049836168" sldId="276"/>
        </pc:sldMkLst>
        <pc:spChg chg="add mod">
          <ac:chgData name="Angela Dcruz" userId="fdeebe35-3a96-462e-adc5-475bea95f1c6" providerId="ADAL" clId="{6E1063B6-3638-413C-A2E7-0C3C86FFC2A7}" dt="2024-09-19T08:48:25.260" v="97" actId="14100"/>
          <ac:spMkLst>
            <pc:docMk/>
            <pc:sldMk cId="3049836168" sldId="276"/>
            <ac:spMk id="7" creationId="{3582BB3E-BDED-0937-862C-B206BD0877B8}"/>
          </ac:spMkLst>
        </pc:spChg>
      </pc:sldChg>
      <pc:sldChg chg="modSp mod">
        <pc:chgData name="Angela Dcruz" userId="fdeebe35-3a96-462e-adc5-475bea95f1c6" providerId="ADAL" clId="{6E1063B6-3638-413C-A2E7-0C3C86FFC2A7}" dt="2024-09-17T15:59:49.119" v="29" actId="20577"/>
        <pc:sldMkLst>
          <pc:docMk/>
          <pc:sldMk cId="3808875569" sldId="289"/>
        </pc:sldMkLst>
        <pc:spChg chg="mod">
          <ac:chgData name="Angela Dcruz" userId="fdeebe35-3a96-462e-adc5-475bea95f1c6" providerId="ADAL" clId="{6E1063B6-3638-413C-A2E7-0C3C86FFC2A7}" dt="2024-09-17T15:59:49.119" v="29" actId="20577"/>
          <ac:spMkLst>
            <pc:docMk/>
            <pc:sldMk cId="3808875569" sldId="289"/>
            <ac:spMk id="5" creationId="{4BAC2211-2BF5-0F3E-134E-6D7CA1E5AA57}"/>
          </ac:spMkLst>
        </pc:spChg>
      </pc:sldChg>
      <pc:sldChg chg="del">
        <pc:chgData name="Angela Dcruz" userId="fdeebe35-3a96-462e-adc5-475bea95f1c6" providerId="ADAL" clId="{6E1063B6-3638-413C-A2E7-0C3C86FFC2A7}" dt="2024-09-17T15:56:07.806" v="2" actId="47"/>
        <pc:sldMkLst>
          <pc:docMk/>
          <pc:sldMk cId="2008217589" sldId="310"/>
        </pc:sldMkLst>
      </pc:sldChg>
      <pc:sldChg chg="del">
        <pc:chgData name="Angela Dcruz" userId="fdeebe35-3a96-462e-adc5-475bea95f1c6" providerId="ADAL" clId="{6E1063B6-3638-413C-A2E7-0C3C86FFC2A7}" dt="2024-09-17T15:56:07.266" v="1" actId="47"/>
        <pc:sldMkLst>
          <pc:docMk/>
          <pc:sldMk cId="2365803905" sldId="449"/>
        </pc:sldMkLst>
      </pc:sldChg>
      <pc:sldChg chg="del">
        <pc:chgData name="Angela Dcruz" userId="fdeebe35-3a96-462e-adc5-475bea95f1c6" providerId="ADAL" clId="{6E1063B6-3638-413C-A2E7-0C3C86FFC2A7}" dt="2024-09-17T15:56:05.405" v="0" actId="47"/>
        <pc:sldMkLst>
          <pc:docMk/>
          <pc:sldMk cId="4163913262" sldId="455"/>
        </pc:sldMkLst>
      </pc:sldChg>
      <pc:sldChg chg="modSp mod">
        <pc:chgData name="Angela Dcruz" userId="fdeebe35-3a96-462e-adc5-475bea95f1c6" providerId="ADAL" clId="{6E1063B6-3638-413C-A2E7-0C3C86FFC2A7}" dt="2024-09-19T08:49:05.557" v="99" actId="20577"/>
        <pc:sldMkLst>
          <pc:docMk/>
          <pc:sldMk cId="1503669744" sldId="457"/>
        </pc:sldMkLst>
        <pc:spChg chg="mod">
          <ac:chgData name="Angela Dcruz" userId="fdeebe35-3a96-462e-adc5-475bea95f1c6" providerId="ADAL" clId="{6E1063B6-3638-413C-A2E7-0C3C86FFC2A7}" dt="2024-09-17T15:57:08.826" v="18" actId="207"/>
          <ac:spMkLst>
            <pc:docMk/>
            <pc:sldMk cId="1503669744" sldId="457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57.307" v="14" actId="207"/>
          <ac:spMkLst>
            <pc:docMk/>
            <pc:sldMk cId="1503669744" sldId="457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59.698" v="15" actId="207"/>
          <ac:spMkLst>
            <pc:docMk/>
            <pc:sldMk cId="1503669744" sldId="457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7:02.474" v="16" actId="207"/>
          <ac:spMkLst>
            <pc:docMk/>
            <pc:sldMk cId="1503669744" sldId="457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7:05.177" v="17" actId="207"/>
          <ac:spMkLst>
            <pc:docMk/>
            <pc:sldMk cId="1503669744" sldId="457"/>
            <ac:spMk id="53" creationId="{A01973A7-1FA4-0C98-249C-23CD8984ED1A}"/>
          </ac:spMkLst>
        </pc:spChg>
        <pc:spChg chg="mod">
          <ac:chgData name="Angela Dcruz" userId="fdeebe35-3a96-462e-adc5-475bea95f1c6" providerId="ADAL" clId="{6E1063B6-3638-413C-A2E7-0C3C86FFC2A7}" dt="2024-09-19T08:49:05.557" v="99" actId="20577"/>
          <ac:spMkLst>
            <pc:docMk/>
            <pc:sldMk cId="1503669744" sldId="457"/>
            <ac:spMk id="63" creationId="{95C09C31-B441-840E-A767-4F86861E1F2E}"/>
          </ac:spMkLst>
        </pc:spChg>
      </pc:sldChg>
      <pc:sldChg chg="modSp mod">
        <pc:chgData name="Angela Dcruz" userId="fdeebe35-3a96-462e-adc5-475bea95f1c6" providerId="ADAL" clId="{6E1063B6-3638-413C-A2E7-0C3C86FFC2A7}" dt="2024-09-17T15:56:52.682" v="13" actId="207"/>
        <pc:sldMkLst>
          <pc:docMk/>
          <pc:sldMk cId="653904327" sldId="458"/>
        </pc:sldMkLst>
        <pc:spChg chg="mod">
          <ac:chgData name="Angela Dcruz" userId="fdeebe35-3a96-462e-adc5-475bea95f1c6" providerId="ADAL" clId="{6E1063B6-3638-413C-A2E7-0C3C86FFC2A7}" dt="2024-09-17T15:56:52.682" v="13" actId="207"/>
          <ac:spMkLst>
            <pc:docMk/>
            <pc:sldMk cId="653904327" sldId="458"/>
            <ac:spMk id="11" creationId="{CF4D6202-C07E-1976-8619-E66844709A39}"/>
          </ac:spMkLst>
        </pc:spChg>
        <pc:spChg chg="mod">
          <ac:chgData name="Angela Dcruz" userId="fdeebe35-3a96-462e-adc5-475bea95f1c6" providerId="ADAL" clId="{6E1063B6-3638-413C-A2E7-0C3C86FFC2A7}" dt="2024-09-17T15:56:40.699" v="9" actId="207"/>
          <ac:spMkLst>
            <pc:docMk/>
            <pc:sldMk cId="653904327" sldId="458"/>
            <ac:spMk id="41" creationId="{579E8B31-C28B-B9F8-070D-943247388A6B}"/>
          </ac:spMkLst>
        </pc:spChg>
        <pc:spChg chg="mod">
          <ac:chgData name="Angela Dcruz" userId="fdeebe35-3a96-462e-adc5-475bea95f1c6" providerId="ADAL" clId="{6E1063B6-3638-413C-A2E7-0C3C86FFC2A7}" dt="2024-09-17T15:56:43.201" v="10" actId="207"/>
          <ac:spMkLst>
            <pc:docMk/>
            <pc:sldMk cId="653904327" sldId="458"/>
            <ac:spMk id="45" creationId="{14F02441-381E-E675-0973-5995D3C09337}"/>
          </ac:spMkLst>
        </pc:spChg>
        <pc:spChg chg="mod">
          <ac:chgData name="Angela Dcruz" userId="fdeebe35-3a96-462e-adc5-475bea95f1c6" providerId="ADAL" clId="{6E1063B6-3638-413C-A2E7-0C3C86FFC2A7}" dt="2024-09-17T15:56:45.666" v="11" actId="207"/>
          <ac:spMkLst>
            <pc:docMk/>
            <pc:sldMk cId="653904327" sldId="458"/>
            <ac:spMk id="49" creationId="{A97AE63F-0C53-AB7A-E6A8-5650E994B32B}"/>
          </ac:spMkLst>
        </pc:spChg>
        <pc:spChg chg="mod">
          <ac:chgData name="Angela Dcruz" userId="fdeebe35-3a96-462e-adc5-475bea95f1c6" providerId="ADAL" clId="{6E1063B6-3638-413C-A2E7-0C3C86FFC2A7}" dt="2024-09-17T15:56:49.643" v="12" actId="207"/>
          <ac:spMkLst>
            <pc:docMk/>
            <pc:sldMk cId="653904327" sldId="458"/>
            <ac:spMk id="53" creationId="{A01973A7-1FA4-0C98-249C-23CD8984ED1A}"/>
          </ac:spMkLst>
        </pc:spChg>
      </pc:sldChg>
      <pc:sldChg chg="delSp del mod">
        <pc:chgData name="Angela Dcruz" userId="fdeebe35-3a96-462e-adc5-475bea95f1c6" providerId="ADAL" clId="{6E1063B6-3638-413C-A2E7-0C3C86FFC2A7}" dt="2024-09-17T15:56:19.751" v="4" actId="47"/>
        <pc:sldMkLst>
          <pc:docMk/>
          <pc:sldMk cId="4070780101" sldId="461"/>
        </pc:sldMkLst>
        <pc:spChg chg="del">
          <ac:chgData name="Angela Dcruz" userId="fdeebe35-3a96-462e-adc5-475bea95f1c6" providerId="ADAL" clId="{6E1063B6-3638-413C-A2E7-0C3C86FFC2A7}" dt="2024-09-17T15:56:15.937" v="3" actId="21"/>
          <ac:spMkLst>
            <pc:docMk/>
            <pc:sldMk cId="4070780101" sldId="461"/>
            <ac:spMk id="7" creationId="{3582BB3E-BDED-0937-862C-B206BD0877B8}"/>
          </ac:spMkLst>
        </pc:spChg>
      </pc:sldChg>
      <pc:sldChg chg="modSp add mod">
        <pc:chgData name="Angela Dcruz" userId="fdeebe35-3a96-462e-adc5-475bea95f1c6" providerId="ADAL" clId="{6E1063B6-3638-413C-A2E7-0C3C86FFC2A7}" dt="2024-09-19T08:41:21.021" v="57" actId="1076"/>
        <pc:sldMkLst>
          <pc:docMk/>
          <pc:sldMk cId="657890998" sldId="463"/>
        </pc:sldMkLst>
        <pc:spChg chg="mod">
          <ac:chgData name="Angela Dcruz" userId="fdeebe35-3a96-462e-adc5-475bea95f1c6" providerId="ADAL" clId="{6E1063B6-3638-413C-A2E7-0C3C86FFC2A7}" dt="2024-09-19T08:40:39.769" v="36" actId="20577"/>
          <ac:spMkLst>
            <pc:docMk/>
            <pc:sldMk cId="657890998" sldId="463"/>
            <ac:spMk id="3" creationId="{982CBA69-C11A-8CE4-B582-EF16D83B80A8}"/>
          </ac:spMkLst>
        </pc:spChg>
        <pc:spChg chg="mod">
          <ac:chgData name="Angela Dcruz" userId="fdeebe35-3a96-462e-adc5-475bea95f1c6" providerId="ADAL" clId="{6E1063B6-3638-413C-A2E7-0C3C86FFC2A7}" dt="2024-09-19T08:41:21.021" v="57" actId="1076"/>
          <ac:spMkLst>
            <pc:docMk/>
            <pc:sldMk cId="657890998" sldId="463"/>
            <ac:spMk id="21" creationId="{1D4A49C2-3019-79BA-5D32-77B433BE5F22}"/>
          </ac:spMkLst>
        </pc:spChg>
        <pc:spChg chg="mod">
          <ac:chgData name="Angela Dcruz" userId="fdeebe35-3a96-462e-adc5-475bea95f1c6" providerId="ADAL" clId="{6E1063B6-3638-413C-A2E7-0C3C86FFC2A7}" dt="2024-09-19T08:41:16.141" v="56" actId="1076"/>
          <ac:spMkLst>
            <pc:docMk/>
            <pc:sldMk cId="657890998" sldId="463"/>
            <ac:spMk id="22" creationId="{3288951C-C3BA-1397-36A8-DA901F93F551}"/>
          </ac:spMkLst>
        </pc:spChg>
        <pc:picChg chg="mod">
          <ac:chgData name="Angela Dcruz" userId="fdeebe35-3a96-462e-adc5-475bea95f1c6" providerId="ADAL" clId="{6E1063B6-3638-413C-A2E7-0C3C86FFC2A7}" dt="2024-09-19T08:41:16.141" v="56" actId="1076"/>
          <ac:picMkLst>
            <pc:docMk/>
            <pc:sldMk cId="657890998" sldId="463"/>
            <ac:picMk id="20" creationId="{5C116F38-BA4B-99B1-0D19-AEBC4D996F93}"/>
          </ac:picMkLst>
        </pc:picChg>
      </pc:sldChg>
      <pc:sldChg chg="addSp delSp modSp add mod">
        <pc:chgData name="Angela Dcruz" userId="fdeebe35-3a96-462e-adc5-475bea95f1c6" providerId="ADAL" clId="{6E1063B6-3638-413C-A2E7-0C3C86FFC2A7}" dt="2024-09-19T08:45:02.181" v="94" actId="1076"/>
        <pc:sldMkLst>
          <pc:docMk/>
          <pc:sldMk cId="4177962054" sldId="464"/>
        </pc:sldMkLst>
        <pc:spChg chg="mod">
          <ac:chgData name="Angela Dcruz" userId="fdeebe35-3a96-462e-adc5-475bea95f1c6" providerId="ADAL" clId="{6E1063B6-3638-413C-A2E7-0C3C86FFC2A7}" dt="2024-09-19T08:42:01.610" v="64" actId="20577"/>
          <ac:spMkLst>
            <pc:docMk/>
            <pc:sldMk cId="4177962054" sldId="464"/>
            <ac:spMk id="3" creationId="{982CBA69-C11A-8CE4-B582-EF16D83B80A8}"/>
          </ac:spMkLst>
        </pc:spChg>
        <pc:spChg chg="del mod">
          <ac:chgData name="Angela Dcruz" userId="fdeebe35-3a96-462e-adc5-475bea95f1c6" providerId="ADAL" clId="{6E1063B6-3638-413C-A2E7-0C3C86FFC2A7}" dt="2024-09-19T08:42:17.920" v="66" actId="478"/>
          <ac:spMkLst>
            <pc:docMk/>
            <pc:sldMk cId="4177962054" sldId="464"/>
            <ac:spMk id="11" creationId="{E11A7449-0F94-58D4-D1A8-AABE95370FFD}"/>
          </ac:spMkLst>
        </pc:spChg>
        <pc:picChg chg="mod modCrop">
          <ac:chgData name="Angela Dcruz" userId="fdeebe35-3a96-462e-adc5-475bea95f1c6" providerId="ADAL" clId="{6E1063B6-3638-413C-A2E7-0C3C86FFC2A7}" dt="2024-09-19T08:43:06.022" v="73" actId="732"/>
          <ac:picMkLst>
            <pc:docMk/>
            <pc:sldMk cId="4177962054" sldId="464"/>
            <ac:picMk id="4" creationId="{996DDD0C-2A54-FEFB-1AAD-34C967A02D9E}"/>
          </ac:picMkLst>
        </pc:picChg>
        <pc:picChg chg="add mod modCrop">
          <ac:chgData name="Angela Dcruz" userId="fdeebe35-3a96-462e-adc5-475bea95f1c6" providerId="ADAL" clId="{6E1063B6-3638-413C-A2E7-0C3C86FFC2A7}" dt="2024-09-19T08:45:02.181" v="94" actId="1076"/>
          <ac:picMkLst>
            <pc:docMk/>
            <pc:sldMk cId="4177962054" sldId="464"/>
            <ac:picMk id="5" creationId="{A02F486B-0AEA-9989-BB70-EE305320808B}"/>
          </ac:picMkLst>
        </pc:picChg>
        <pc:picChg chg="add mod modCrop">
          <ac:chgData name="Angela Dcruz" userId="fdeebe35-3a96-462e-adc5-475bea95f1c6" providerId="ADAL" clId="{6E1063B6-3638-413C-A2E7-0C3C86FFC2A7}" dt="2024-09-19T08:43:20.266" v="76" actId="18131"/>
          <ac:picMkLst>
            <pc:docMk/>
            <pc:sldMk cId="4177962054" sldId="464"/>
            <ac:picMk id="6" creationId="{32551F36-6B7D-3D40-3427-6DFBF67ADA1F}"/>
          </ac:picMkLst>
        </pc:picChg>
      </pc:sldChg>
      <pc:sldMasterChg chg="delSldLayout">
        <pc:chgData name="Angela Dcruz" userId="fdeebe35-3a96-462e-adc5-475bea95f1c6" providerId="ADAL" clId="{6E1063B6-3638-413C-A2E7-0C3C86FFC2A7}" dt="2024-09-17T15:56:19.751" v="4" actId="47"/>
        <pc:sldMasterMkLst>
          <pc:docMk/>
          <pc:sldMasterMk cId="1123278588" sldId="2147483648"/>
        </pc:sldMasterMkLst>
        <pc:sldLayoutChg chg="del">
          <pc:chgData name="Angela Dcruz" userId="fdeebe35-3a96-462e-adc5-475bea95f1c6" providerId="ADAL" clId="{6E1063B6-3638-413C-A2E7-0C3C86FFC2A7}" dt="2024-09-17T15:56:07.266" v="1" actId="47"/>
          <pc:sldLayoutMkLst>
            <pc:docMk/>
            <pc:sldMasterMk cId="1123278588" sldId="2147483648"/>
            <pc:sldLayoutMk cId="4069482378" sldId="2147483744"/>
          </pc:sldLayoutMkLst>
        </pc:sldLayoutChg>
        <pc:sldLayoutChg chg="del">
          <pc:chgData name="Angela Dcruz" userId="fdeebe35-3a96-462e-adc5-475bea95f1c6" providerId="ADAL" clId="{6E1063B6-3638-413C-A2E7-0C3C86FFC2A7}" dt="2024-09-17T15:56:19.751" v="4" actId="47"/>
          <pc:sldLayoutMkLst>
            <pc:docMk/>
            <pc:sldMasterMk cId="1123278588" sldId="2147483648"/>
            <pc:sldLayoutMk cId="3033626298" sldId="2147483746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.sharepoint.com/sites/Value-Creation/Shared%20Documents/Financials/Value%20Calculator_Financials%20LIVE%20v9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492873691752104E-2"/>
          <c:y val="5.9076535643188516E-2"/>
          <c:w val="0.97350712630824787"/>
          <c:h val="0.8873822854505512"/>
        </c:manualLayout>
      </c:layout>
      <c:doughnutChart>
        <c:varyColors val="0"/>
        <c:ser>
          <c:idx val="0"/>
          <c:order val="0"/>
          <c:spPr>
            <a:solidFill>
              <a:schemeClr val="accent1"/>
            </a:solidFill>
            <a:ln w="19050">
              <a:solidFill>
                <a:schemeClr val="lt1"/>
              </a:solidFill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BA0-47CD-98E2-86E73D340BBC}"/>
              </c:ext>
            </c:extLst>
          </c:dPt>
          <c:dPt>
            <c:idx val="1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BA0-47CD-98E2-86E73D340BBC}"/>
              </c:ext>
            </c:extLst>
          </c:dPt>
          <c:dPt>
            <c:idx val="2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BA0-47CD-98E2-86E73D340BBC}"/>
              </c:ext>
            </c:extLst>
          </c:dPt>
          <c:dPt>
            <c:idx val="3"/>
            <c:bubble3D val="0"/>
            <c:spPr>
              <a:solidFill>
                <a:srgbClr val="F15D2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DBA0-47CD-98E2-86E73D340BBC}"/>
              </c:ext>
            </c:extLst>
          </c:dPt>
          <c:dPt>
            <c:idx val="4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DBA0-47CD-98E2-86E73D340BBC}"/>
              </c:ext>
            </c:extLst>
          </c:dPt>
          <c:dPt>
            <c:idx val="5"/>
            <c:bubble3D val="0"/>
            <c:spPr>
              <a:solidFill>
                <a:srgbClr val="61617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DBA0-47CD-98E2-86E73D340BBC}"/>
              </c:ext>
            </c:extLst>
          </c:dPt>
          <c:dPt>
            <c:idx val="6"/>
            <c:bubble3D val="0"/>
            <c:spPr>
              <a:solidFill>
                <a:srgbClr val="F691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DBA0-47CD-98E2-86E73D340BBC}"/>
              </c:ext>
            </c:extLst>
          </c:dPt>
          <c:dPt>
            <c:idx val="7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DBA0-47CD-98E2-86E73D340BBC}"/>
              </c:ext>
            </c:extLst>
          </c:dPt>
          <c:dPt>
            <c:idx val="8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DBA0-47CD-98E2-86E73D340BBC}"/>
              </c:ext>
            </c:extLst>
          </c:dPt>
          <c:dPt>
            <c:idx val="9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DBA0-47CD-98E2-86E73D340BB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endParaRPr lang="tr-T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'[Value Calculator_Financials LIVE v9.xlsm]Value Analysis'!$C$46:$C$54</c:f>
              <c:strCache>
                <c:ptCount val="9"/>
                <c:pt idx="0">
                  <c:v>Raising Purchase Orders</c:v>
                </c:pt>
                <c:pt idx="1">
                  <c:v>Purchase Order approvals</c:v>
                </c:pt>
                <c:pt idx="2">
                  <c:v>Coding invoice processes</c:v>
                </c:pt>
                <c:pt idx="3">
                  <c:v>Management of supplier and purchase invoices</c:v>
                </c:pt>
                <c:pt idx="4">
                  <c:v>Managing Spend leakage </c:v>
                </c:pt>
                <c:pt idx="5">
                  <c:v>Finance query management &amp; reporting</c:v>
                </c:pt>
                <c:pt idx="6">
                  <c:v>Debt collection administration processes</c:v>
                </c:pt>
                <c:pt idx="7">
                  <c:v>Customer Invoicing &amp; Finance Workflow</c:v>
                </c:pt>
                <c:pt idx="8">
                  <c:v>Online expense management</c:v>
                </c:pt>
              </c:strCache>
            </c:strRef>
          </c:cat>
          <c:val>
            <c:numRef>
              <c:f>'[Value Calculator_Financials LIVE v9.xlsm]Value Analysis'!$L$45:$L$54</c:f>
              <c:numCache>
                <c:formatCode>"£"#,##0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44463</c:v>
                </c:pt>
                <c:pt idx="4">
                  <c:v>0</c:v>
                </c:pt>
                <c:pt idx="5">
                  <c:v>31213</c:v>
                </c:pt>
                <c:pt idx="6">
                  <c:v>14085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DBA0-47CD-98E2-86E73D340BBC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03/12/2024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12/3/2024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94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0EFE9-096E-BBE2-A861-3B2CBDD0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31EBB-AEE4-5562-DD18-1BCAFA7A6D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555F35-4F50-4B42-9383-54F233E75B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E2750-CAE7-D875-4982-5F13F4AD7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839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orange triangle on a black background&#10;&#10;Description automatically generated">
            <a:extLst>
              <a:ext uri="{FF2B5EF4-FFF2-40B4-BE49-F238E27FC236}">
                <a16:creationId xmlns:a16="http://schemas.microsoft.com/office/drawing/2014/main" id="{008AA23A-E33D-6297-008B-71F741560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221" y="125373"/>
            <a:ext cx="444903" cy="44490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03/12/2024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pic>
        <p:nvPicPr>
          <p:cNvPr id="5" name="Picture 12" descr="A orange triangle on a black background&#10;&#10;Description automatically generated">
            <a:extLst>
              <a:ext uri="{FF2B5EF4-FFF2-40B4-BE49-F238E27FC236}">
                <a16:creationId xmlns:a16="http://schemas.microsoft.com/office/drawing/2014/main" id="{9769A006-7D4C-3622-615D-0FFB61677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74221" y="125373"/>
            <a:ext cx="444903" cy="444903"/>
          </a:xfrm>
          <a:prstGeom prst="rect">
            <a:avLst/>
          </a:prstGeom>
        </p:spPr>
      </p:pic>
      <p:sp>
        <p:nvSpPr>
          <p:cNvPr id="17" name="Rectangle 7">
            <a:extLst>
              <a:ext uri="{FF2B5EF4-FFF2-40B4-BE49-F238E27FC236}">
                <a16:creationId xmlns:a16="http://schemas.microsoft.com/office/drawing/2014/main" id="{D8F68906-605C-3FF6-1BA8-92499D8263F5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5">
            <a:extLst>
              <a:ext uri="{FF2B5EF4-FFF2-40B4-BE49-F238E27FC236}">
                <a16:creationId xmlns:a16="http://schemas.microsoft.com/office/drawing/2014/main" id="{42813B21-ECAE-947F-606D-60D60C1BF26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47">
            <a:extLst>
              <a:ext uri="{FF2B5EF4-FFF2-40B4-BE49-F238E27FC236}">
                <a16:creationId xmlns:a16="http://schemas.microsoft.com/office/drawing/2014/main" id="{8080BF7A-248F-4E25-D40B-593931D686C8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2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03/12/2024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  <p:sldLayoutId id="2147483744" r:id="rId5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ED4F567F-3158-CCD5-47E3-F748C1A2BABD}"/>
              </a:ext>
            </a:extLst>
          </p:cNvPr>
          <p:cNvSpPr txBox="1">
            <a:spLocks/>
          </p:cNvSpPr>
          <p:nvPr/>
        </p:nvSpPr>
        <p:spPr>
          <a:xfrm>
            <a:off x="635850" y="1918010"/>
            <a:ext cx="5408109" cy="269447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dirty="0">
                <a:latin typeface="Montserrat SemiBold"/>
              </a:rPr>
              <a:t>Accelerating your success through cutting-edge software</a:t>
            </a:r>
            <a:endParaRPr lang="en-GB" sz="4400" b="1" dirty="0">
              <a:latin typeface="Montserrat SemiBold"/>
            </a:endParaRPr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6DF3A384-B859-29F7-8BD0-A52C25DD2594}"/>
              </a:ext>
            </a:extLst>
          </p:cNvPr>
          <p:cNvSpPr>
            <a:spLocks noGrp="1"/>
          </p:cNvSpPr>
          <p:nvPr/>
        </p:nvSpPr>
        <p:spPr>
          <a:xfrm>
            <a:off x="639569" y="4836642"/>
            <a:ext cx="5292725" cy="62362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Value Business Case</a:t>
            </a:r>
          </a:p>
          <a:p>
            <a:r>
              <a:rPr lang="en-US" dirty="0"/>
              <a:t>Submission ID: XXXXXXXXXX</a:t>
            </a:r>
          </a:p>
        </p:txBody>
      </p:sp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DD09D-F853-3F2A-D875-7E49493B8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1C9D4F-EC49-1758-DD74-31CD557B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1647" y="6242050"/>
            <a:ext cx="390053" cy="365125"/>
          </a:xfrm>
        </p:spPr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F97937-A739-9491-BEF1-2E7AEA1CE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1"/>
            <a:ext cx="9292735" cy="401594"/>
          </a:xfrm>
        </p:spPr>
        <p:txBody>
          <a:bodyPr>
            <a:normAutofit/>
          </a:bodyPr>
          <a:lstStyle/>
          <a:p>
            <a:r>
              <a:rPr lang="en-US" dirty="0"/>
              <a:t>Understanding our estimated savings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1D78B2-6198-0CDA-5459-8B070E1E9A21}"/>
              </a:ext>
            </a:extLst>
          </p:cNvPr>
          <p:cNvSpPr txBox="1">
            <a:spLocks/>
          </p:cNvSpPr>
          <p:nvPr/>
        </p:nvSpPr>
        <p:spPr>
          <a:xfrm>
            <a:off x="598832" y="1495751"/>
            <a:ext cx="4638088" cy="23718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None/>
            </a:pPr>
            <a:endParaRPr lang="en-GB" sz="2800" b="1" dirty="0">
              <a:solidFill>
                <a:srgbClr val="FF66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49A1AD1-AFF3-C642-26B3-A68C5076E7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6312" y="1234520"/>
            <a:ext cx="4760569" cy="5052508"/>
          </a:xfrm>
        </p:spPr>
        <p:txBody>
          <a:bodyPr vert="horz" lIns="0" tIns="0" rIns="0" bIns="0" rtlCol="0" anchor="t">
            <a:noAutofit/>
          </a:bodyPr>
          <a:lstStyle/>
          <a:p>
            <a:pPr marL="89535" indent="0">
              <a:buNone/>
            </a:pPr>
            <a:r>
              <a:rPr lang="en-GB" sz="1400" dirty="0">
                <a:solidFill>
                  <a:schemeClr val="tx2"/>
                </a:solidFill>
              </a:rPr>
              <a:t>By reviewing your pain points, and your current solutions and processes, we’ve created a tailored value proposal based on your business’s circumstances. </a:t>
            </a:r>
            <a:endParaRPr lang="en-US" sz="1400" dirty="0"/>
          </a:p>
          <a:p>
            <a:pPr marL="89535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/>
                <a:ea typeface="Open Sans"/>
                <a:cs typeface="Open Sans"/>
              </a:rPr>
              <a:t>The efficiency projections presented in this report are based on a combination of industry benchmarks and data from similar customers who have experienced improvements using our solution. </a:t>
            </a:r>
          </a:p>
          <a:p>
            <a:pPr marL="89535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/>
                <a:ea typeface="Open Sans"/>
                <a:cs typeface="Open Sans"/>
              </a:rPr>
              <a:t>This assessment is a starting point for further discussions, highlighting potential value which can be achieved. </a:t>
            </a:r>
            <a:r>
              <a:rPr lang="en-GB" sz="1400" dirty="0">
                <a:solidFill>
                  <a:schemeClr val="tx2"/>
                </a:solidFill>
                <a:latin typeface="Open Sans"/>
                <a:ea typeface="Open Sans"/>
                <a:cs typeface="Open Sans"/>
              </a:rPr>
              <a:t>We also hope these discussions help set the foundation for tracking real value delivered.</a:t>
            </a:r>
          </a:p>
          <a:p>
            <a:pPr marL="89535" indent="0" rtl="0">
              <a:lnSpc>
                <a:spcPct val="110000"/>
              </a:lnSpc>
              <a:buNone/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About OneAdvanced</a:t>
            </a:r>
          </a:p>
          <a:p>
            <a:pPr marL="89535" indent="0">
              <a:lnSpc>
                <a:spcPct val="110000"/>
              </a:lnSpc>
              <a:buNone/>
            </a:pPr>
            <a:r>
              <a:rPr lang="en-GB" sz="1200" dirty="0">
                <a:solidFill>
                  <a:srgbClr val="8A8A9D"/>
                </a:solidFill>
                <a:latin typeface="Open Sans"/>
                <a:ea typeface="Open Sans"/>
                <a:cs typeface="Open Sans"/>
              </a:rPr>
              <a:t>OneAdvanced is a leading provider of sector-focussed SaaS software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. We are focused on helping your key people deliver better and faster outcomes. Growing your revenue, managing cost and reducing risk. All delivered on a seamless platform built for scalability, security and connectedness.</a:t>
            </a:r>
            <a:endParaRPr lang="en-GB" sz="1200" b="1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  <a:p>
            <a:pPr marL="89535" indent="0">
              <a:buNone/>
            </a:pPr>
            <a:endParaRPr lang="en-GB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A15F0F-594D-F73B-1029-83203EB6646B}"/>
              </a:ext>
            </a:extLst>
          </p:cNvPr>
          <p:cNvSpPr txBox="1"/>
          <p:nvPr/>
        </p:nvSpPr>
        <p:spPr>
          <a:xfrm>
            <a:off x="5674260" y="1231827"/>
            <a:ext cx="5627387" cy="9541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800" dirty="0">
                <a:solidFill>
                  <a:srgbClr val="FF6600"/>
                </a:solidFill>
                <a:latin typeface="Montserrat SemiBold"/>
                <a:ea typeface="Open Sans"/>
                <a:cs typeface="Open Sans"/>
              </a:rPr>
              <a:t>Uncover the long-term value our products can offer</a:t>
            </a:r>
            <a:endParaRPr lang="en-US" dirty="0">
              <a:solidFill>
                <a:srgbClr val="25252C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9803B08-808B-C76B-AEAB-37E8DEB8D1E1}"/>
              </a:ext>
            </a:extLst>
          </p:cNvPr>
          <p:cNvSpPr/>
          <p:nvPr/>
        </p:nvSpPr>
        <p:spPr>
          <a:xfrm>
            <a:off x="5730016" y="2643243"/>
            <a:ext cx="5539899" cy="84570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59C7A17-045E-0221-7A7E-D7FF4643F7F0}"/>
              </a:ext>
            </a:extLst>
          </p:cNvPr>
          <p:cNvSpPr/>
          <p:nvPr/>
        </p:nvSpPr>
        <p:spPr>
          <a:xfrm>
            <a:off x="5758031" y="3758595"/>
            <a:ext cx="5539899" cy="82139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8BE040-ABCE-CBF1-8E6D-9AD889503327}"/>
              </a:ext>
            </a:extLst>
          </p:cNvPr>
          <p:cNvSpPr txBox="1"/>
          <p:nvPr/>
        </p:nvSpPr>
        <p:spPr>
          <a:xfrm>
            <a:off x="6141824" y="3050104"/>
            <a:ext cx="89768" cy="276999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latin typeface="Montserrat" pitchFamily="2" charset="77"/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FC61C0-DF28-3146-D7F7-7F480F82070A}"/>
              </a:ext>
            </a:extLst>
          </p:cNvPr>
          <p:cNvSpPr txBox="1"/>
          <p:nvPr/>
        </p:nvSpPr>
        <p:spPr>
          <a:xfrm>
            <a:off x="6106848" y="4192677"/>
            <a:ext cx="136256" cy="276999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latin typeface="Montserrat" pitchFamily="2" charset="77"/>
              </a:rPr>
              <a:t>2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19A42E9D-63E5-70B3-4666-08CD5745788F}"/>
              </a:ext>
            </a:extLst>
          </p:cNvPr>
          <p:cNvSpPr txBox="1">
            <a:spLocks/>
          </p:cNvSpPr>
          <p:nvPr/>
        </p:nvSpPr>
        <p:spPr>
          <a:xfrm>
            <a:off x="6500462" y="2815317"/>
            <a:ext cx="4649104" cy="61759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1400" dirty="0"/>
              <a:t>Run through our self assessment value calculator</a:t>
            </a:r>
            <a:endParaRPr lang="en-GB" sz="1050" dirty="0">
              <a:solidFill>
                <a:schemeClr val="tx1">
                  <a:lumMod val="50000"/>
                  <a:lumOff val="50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GB" sz="1200" b="0" dirty="0">
                <a:solidFill>
                  <a:srgbClr val="25252C"/>
                </a:solidFill>
                <a:latin typeface="+mn-lt"/>
                <a:ea typeface="+mn-ea"/>
                <a:cs typeface="+mn-cs"/>
              </a:rPr>
              <a:t>Our self serve value calculators are designed to give a quick overview of product returns</a:t>
            </a:r>
            <a:endParaRPr lang="en-US" sz="1200" b="0" dirty="0">
              <a:solidFill>
                <a:srgbClr val="25252C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Title 3">
            <a:extLst>
              <a:ext uri="{FF2B5EF4-FFF2-40B4-BE49-F238E27FC236}">
                <a16:creationId xmlns:a16="http://schemas.microsoft.com/office/drawing/2014/main" id="{0767210A-7AB6-7464-9DB9-0EFA134ABE4A}"/>
              </a:ext>
            </a:extLst>
          </p:cNvPr>
          <p:cNvSpPr txBox="1">
            <a:spLocks/>
          </p:cNvSpPr>
          <p:nvPr/>
        </p:nvSpPr>
        <p:spPr>
          <a:xfrm>
            <a:off x="6500463" y="3941599"/>
            <a:ext cx="4680836" cy="5280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1400" dirty="0"/>
              <a:t>Download your value business case </a:t>
            </a:r>
          </a:p>
          <a:p>
            <a:r>
              <a:rPr lang="en-GB" sz="1200" b="0" dirty="0">
                <a:solidFill>
                  <a:srgbClr val="25252C"/>
                </a:solidFill>
                <a:latin typeface="+mn-lt"/>
                <a:ea typeface="+mn-ea"/>
                <a:cs typeface="+mn-cs"/>
              </a:rPr>
              <a:t>Download your value report and review your potential value returns with your wider team</a:t>
            </a:r>
            <a:endParaRPr lang="en-US" sz="1200" b="0" dirty="0">
              <a:solidFill>
                <a:srgbClr val="25252C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3" name="Diagonal Stripe 22">
            <a:extLst>
              <a:ext uri="{FF2B5EF4-FFF2-40B4-BE49-F238E27FC236}">
                <a16:creationId xmlns:a16="http://schemas.microsoft.com/office/drawing/2014/main" id="{758AD2FE-2939-661E-5B76-C81581F0038A}"/>
              </a:ext>
            </a:extLst>
          </p:cNvPr>
          <p:cNvSpPr/>
          <p:nvPr/>
        </p:nvSpPr>
        <p:spPr>
          <a:xfrm>
            <a:off x="5705992" y="2597523"/>
            <a:ext cx="880947" cy="825190"/>
          </a:xfrm>
          <a:prstGeom prst="diagStripe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en-US" sz="700" dirty="0">
              <a:solidFill>
                <a:schemeClr val="tx1"/>
              </a:solidFill>
              <a:latin typeface="Montserrat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366C48-39B0-057C-3595-F2335F964A85}"/>
              </a:ext>
            </a:extLst>
          </p:cNvPr>
          <p:cNvSpPr txBox="1"/>
          <p:nvPr/>
        </p:nvSpPr>
        <p:spPr>
          <a:xfrm rot="18994118">
            <a:off x="5790080" y="2852886"/>
            <a:ext cx="524182" cy="123111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800" b="1" dirty="0">
                <a:solidFill>
                  <a:schemeClr val="bg1"/>
                </a:solidFill>
                <a:latin typeface="Montserrat" pitchFamily="2" charset="77"/>
              </a:rPr>
              <a:t>Complete</a:t>
            </a:r>
          </a:p>
        </p:txBody>
      </p:sp>
      <p:sp>
        <p:nvSpPr>
          <p:cNvPr id="25" name="Diagonal Stripe 24">
            <a:extLst>
              <a:ext uri="{FF2B5EF4-FFF2-40B4-BE49-F238E27FC236}">
                <a16:creationId xmlns:a16="http://schemas.microsoft.com/office/drawing/2014/main" id="{4BD6EA59-CCBE-DD2D-7F60-A8B89D34EA32}"/>
              </a:ext>
            </a:extLst>
          </p:cNvPr>
          <p:cNvSpPr/>
          <p:nvPr/>
        </p:nvSpPr>
        <p:spPr>
          <a:xfrm>
            <a:off x="5702275" y="3713987"/>
            <a:ext cx="880947" cy="825190"/>
          </a:xfrm>
          <a:prstGeom prst="diagStripe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en-US" sz="700" dirty="0">
              <a:solidFill>
                <a:schemeClr val="tx1"/>
              </a:solidFill>
              <a:latin typeface="Montserrat" pitchFamily="2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DB1257-5D19-3EE6-AD04-791E5AC72BF8}"/>
              </a:ext>
            </a:extLst>
          </p:cNvPr>
          <p:cNvSpPr txBox="1"/>
          <p:nvPr/>
        </p:nvSpPr>
        <p:spPr>
          <a:xfrm rot="18994118">
            <a:off x="5786363" y="3969350"/>
            <a:ext cx="524182" cy="123111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800" b="1" dirty="0">
                <a:solidFill>
                  <a:schemeClr val="bg1"/>
                </a:solidFill>
                <a:latin typeface="Montserrat" pitchFamily="2" charset="77"/>
              </a:rPr>
              <a:t>Complete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E09C2B-6903-74A1-A2A9-3996929C4C73}"/>
              </a:ext>
            </a:extLst>
          </p:cNvPr>
          <p:cNvSpPr/>
          <p:nvPr/>
        </p:nvSpPr>
        <p:spPr>
          <a:xfrm>
            <a:off x="5730016" y="4854193"/>
            <a:ext cx="5539899" cy="9262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3E1012-7804-321B-AA22-5C51B3FE361C}"/>
              </a:ext>
            </a:extLst>
          </p:cNvPr>
          <p:cNvSpPr txBox="1"/>
          <p:nvPr/>
        </p:nvSpPr>
        <p:spPr>
          <a:xfrm>
            <a:off x="6096000" y="5313555"/>
            <a:ext cx="136256" cy="276999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latin typeface="Montserrat" pitchFamily="2" charset="77"/>
              </a:rPr>
              <a:t>3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54C09452-5741-F680-3967-D9DC5AFB3E04}"/>
              </a:ext>
            </a:extLst>
          </p:cNvPr>
          <p:cNvSpPr txBox="1">
            <a:spLocks/>
          </p:cNvSpPr>
          <p:nvPr/>
        </p:nvSpPr>
        <p:spPr>
          <a:xfrm>
            <a:off x="6500463" y="4973549"/>
            <a:ext cx="4680836" cy="73796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1400" dirty="0"/>
              <a:t>Book a full value assessment with a dedicated Sales or Account Manager</a:t>
            </a:r>
          </a:p>
          <a:p>
            <a:r>
              <a:rPr lang="en-GB" sz="1200" b="0" dirty="0">
                <a:solidFill>
                  <a:srgbClr val="25252C"/>
                </a:solidFill>
                <a:latin typeface="+mn-lt"/>
                <a:ea typeface="+mn-ea"/>
                <a:cs typeface="+mn-cs"/>
              </a:rPr>
              <a:t>Together we can review your business requirements, and look at the full range of support our products can offer </a:t>
            </a:r>
            <a:endParaRPr lang="en-US" sz="1200" b="0" dirty="0">
              <a:solidFill>
                <a:srgbClr val="25252C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Diagonal Stripe 11">
            <a:extLst>
              <a:ext uri="{FF2B5EF4-FFF2-40B4-BE49-F238E27FC236}">
                <a16:creationId xmlns:a16="http://schemas.microsoft.com/office/drawing/2014/main" id="{D898935D-D781-FB74-4512-3ABED433959D}"/>
              </a:ext>
            </a:extLst>
          </p:cNvPr>
          <p:cNvSpPr/>
          <p:nvPr/>
        </p:nvSpPr>
        <p:spPr>
          <a:xfrm>
            <a:off x="5674260" y="4809585"/>
            <a:ext cx="880947" cy="825190"/>
          </a:xfrm>
          <a:prstGeom prst="diagStrip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tlCol="0" anchor="ctr"/>
          <a:lstStyle/>
          <a:p>
            <a:pPr algn="ctr"/>
            <a:endParaRPr lang="en-US" sz="700" dirty="0">
              <a:solidFill>
                <a:schemeClr val="tx1"/>
              </a:solidFill>
              <a:latin typeface="Montserrat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5FD13C-0FBC-BE9D-3EBF-0A0F6B535DFA}"/>
              </a:ext>
            </a:extLst>
          </p:cNvPr>
          <p:cNvSpPr txBox="1"/>
          <p:nvPr/>
        </p:nvSpPr>
        <p:spPr>
          <a:xfrm rot="18994118">
            <a:off x="5748730" y="5064948"/>
            <a:ext cx="543418" cy="123111"/>
          </a:xfrm>
          <a:prstGeom prst="rect">
            <a:avLst/>
          </a:prstGeom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800" b="1" dirty="0">
                <a:solidFill>
                  <a:schemeClr val="bg1"/>
                </a:solidFill>
                <a:latin typeface="Montserrat" pitchFamily="2" charset="77"/>
              </a:rPr>
              <a:t>Book now</a:t>
            </a:r>
          </a:p>
        </p:txBody>
      </p:sp>
    </p:spTree>
    <p:extLst>
      <p:ext uri="{BB962C8B-B14F-4D97-AF65-F5344CB8AC3E}">
        <p14:creationId xmlns:p14="http://schemas.microsoft.com/office/powerpoint/2010/main" val="2417574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grpSp>
        <p:nvGrpSpPr>
          <p:cNvPr id="22" name="Grup 21">
            <a:extLst>
              <a:ext uri="{FF2B5EF4-FFF2-40B4-BE49-F238E27FC236}">
                <a16:creationId xmlns:a16="http://schemas.microsoft.com/office/drawing/2014/main" id="{25E84DF7-F74A-68A0-71AD-C714787E6F2C}"/>
              </a:ext>
            </a:extLst>
          </p:cNvPr>
          <p:cNvGrpSpPr/>
          <p:nvPr/>
        </p:nvGrpSpPr>
        <p:grpSpPr>
          <a:xfrm>
            <a:off x="5161620" y="1859365"/>
            <a:ext cx="1954155" cy="3641251"/>
            <a:chOff x="717877" y="1903894"/>
            <a:chExt cx="1954155" cy="3641251"/>
          </a:xfrm>
        </p:grpSpPr>
        <p:sp>
          <p:nvSpPr>
            <p:cNvPr id="45" name="Off-page Connector 9">
              <a:extLst>
                <a:ext uri="{FF2B5EF4-FFF2-40B4-BE49-F238E27FC236}">
                  <a16:creationId xmlns:a16="http://schemas.microsoft.com/office/drawing/2014/main" id="{14F02441-381E-E675-0973-5995D3C09337}"/>
                </a:ext>
              </a:extLst>
            </p:cNvPr>
            <p:cNvSpPr/>
            <p:nvPr/>
          </p:nvSpPr>
          <p:spPr>
            <a:xfrm>
              <a:off x="741996" y="1903894"/>
              <a:ext cx="1930036" cy="2544655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rgbClr val="FF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Standardised dashboard and reporting functionality 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Poor formatting and drill down ability </a:t>
              </a:r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9D6AF1DB-D2A2-3A99-8911-3637D8BF1298}"/>
                </a:ext>
              </a:extLst>
            </p:cNvPr>
            <p:cNvSpPr/>
            <p:nvPr/>
          </p:nvSpPr>
          <p:spPr>
            <a:xfrm rot="10800000">
              <a:off x="717877" y="2050435"/>
              <a:ext cx="1951577" cy="3096761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16778 w 4872690"/>
                <a:gd name="connsiteY0" fmla="*/ 9143998 h 9144000"/>
                <a:gd name="connsiteX1" fmla="*/ 4872690 w 4872690"/>
                <a:gd name="connsiteY1" fmla="*/ 9143998 h 9144000"/>
                <a:gd name="connsiteX2" fmla="*/ 4872690 w 4872690"/>
                <a:gd name="connsiteY2" fmla="*/ 9144000 h 9144000"/>
                <a:gd name="connsiteX3" fmla="*/ 16778 w 4872690"/>
                <a:gd name="connsiteY3" fmla="*/ 9144000 h 9144000"/>
                <a:gd name="connsiteX4" fmla="*/ 16778 w 4872690"/>
                <a:gd name="connsiteY4" fmla="*/ 9143998 h 9144000"/>
                <a:gd name="connsiteX5" fmla="*/ 0 w 4872690"/>
                <a:gd name="connsiteY5" fmla="*/ 743364 h 9144000"/>
                <a:gd name="connsiteX6" fmla="*/ 4872690 w 4872690"/>
                <a:gd name="connsiteY6" fmla="*/ 0 h 9144000"/>
                <a:gd name="connsiteX7" fmla="*/ 4872690 w 4872690"/>
                <a:gd name="connsiteY7" fmla="*/ 4215866 h 9144000"/>
                <a:gd name="connsiteX8" fmla="*/ 2444734 w 4872690"/>
                <a:gd name="connsiteY8" fmla="*/ 2983833 h 9144000"/>
                <a:gd name="connsiteX9" fmla="*/ 16778 w 4872690"/>
                <a:gd name="connsiteY9" fmla="*/ 4215866 h 9144000"/>
                <a:gd name="connsiteX10" fmla="*/ 0 w 4872690"/>
                <a:gd name="connsiteY10" fmla="*/ 743364 h 9144000"/>
                <a:gd name="connsiteX0" fmla="*/ 16778 w 4872690"/>
                <a:gd name="connsiteY0" fmla="*/ 8400634 h 8400636"/>
                <a:gd name="connsiteX1" fmla="*/ 4872690 w 4872690"/>
                <a:gd name="connsiteY1" fmla="*/ 8400634 h 8400636"/>
                <a:gd name="connsiteX2" fmla="*/ 4872690 w 4872690"/>
                <a:gd name="connsiteY2" fmla="*/ 8400636 h 8400636"/>
                <a:gd name="connsiteX3" fmla="*/ 16778 w 4872690"/>
                <a:gd name="connsiteY3" fmla="*/ 8400636 h 8400636"/>
                <a:gd name="connsiteX4" fmla="*/ 16778 w 4872690"/>
                <a:gd name="connsiteY4" fmla="*/ 8400634 h 8400636"/>
                <a:gd name="connsiteX5" fmla="*/ 0 w 4872690"/>
                <a:gd name="connsiteY5" fmla="*/ 0 h 8400636"/>
                <a:gd name="connsiteX6" fmla="*/ 4872690 w 4872690"/>
                <a:gd name="connsiteY6" fmla="*/ 33789 h 8400636"/>
                <a:gd name="connsiteX7" fmla="*/ 4872690 w 4872690"/>
                <a:gd name="connsiteY7" fmla="*/ 3472502 h 8400636"/>
                <a:gd name="connsiteX8" fmla="*/ 2444734 w 4872690"/>
                <a:gd name="connsiteY8" fmla="*/ 2240469 h 8400636"/>
                <a:gd name="connsiteX9" fmla="*/ 16778 w 4872690"/>
                <a:gd name="connsiteY9" fmla="*/ 3472502 h 8400636"/>
                <a:gd name="connsiteX10" fmla="*/ 0 w 4872690"/>
                <a:gd name="connsiteY10" fmla="*/ 0 h 8400636"/>
                <a:gd name="connsiteX0" fmla="*/ 16778 w 4906246"/>
                <a:gd name="connsiteY0" fmla="*/ 8400634 h 8400636"/>
                <a:gd name="connsiteX1" fmla="*/ 4872690 w 4906246"/>
                <a:gd name="connsiteY1" fmla="*/ 8400634 h 8400636"/>
                <a:gd name="connsiteX2" fmla="*/ 4872690 w 4906246"/>
                <a:gd name="connsiteY2" fmla="*/ 8400636 h 8400636"/>
                <a:gd name="connsiteX3" fmla="*/ 16778 w 4906246"/>
                <a:gd name="connsiteY3" fmla="*/ 8400636 h 8400636"/>
                <a:gd name="connsiteX4" fmla="*/ 16778 w 4906246"/>
                <a:gd name="connsiteY4" fmla="*/ 8400634 h 8400636"/>
                <a:gd name="connsiteX5" fmla="*/ 0 w 4906246"/>
                <a:gd name="connsiteY5" fmla="*/ 0 h 8400636"/>
                <a:gd name="connsiteX6" fmla="*/ 4906246 w 4906246"/>
                <a:gd name="connsiteY6" fmla="*/ 16895 h 8400636"/>
                <a:gd name="connsiteX7" fmla="*/ 4872690 w 4906246"/>
                <a:gd name="connsiteY7" fmla="*/ 3472502 h 8400636"/>
                <a:gd name="connsiteX8" fmla="*/ 2444734 w 4906246"/>
                <a:gd name="connsiteY8" fmla="*/ 2240469 h 8400636"/>
                <a:gd name="connsiteX9" fmla="*/ 16778 w 4906246"/>
                <a:gd name="connsiteY9" fmla="*/ 3472502 h 8400636"/>
                <a:gd name="connsiteX10" fmla="*/ 0 w 4906246"/>
                <a:gd name="connsiteY10" fmla="*/ 0 h 8400636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23024"/>
                <a:gd name="connsiteY0" fmla="*/ 8434423 h 8434425"/>
                <a:gd name="connsiteX1" fmla="*/ 4872690 w 4923024"/>
                <a:gd name="connsiteY1" fmla="*/ 8434423 h 8434425"/>
                <a:gd name="connsiteX2" fmla="*/ 4872690 w 4923024"/>
                <a:gd name="connsiteY2" fmla="*/ 8434425 h 8434425"/>
                <a:gd name="connsiteX3" fmla="*/ 16778 w 4923024"/>
                <a:gd name="connsiteY3" fmla="*/ 8434425 h 8434425"/>
                <a:gd name="connsiteX4" fmla="*/ 16778 w 4923024"/>
                <a:gd name="connsiteY4" fmla="*/ 8434423 h 8434425"/>
                <a:gd name="connsiteX5" fmla="*/ 0 w 4923024"/>
                <a:gd name="connsiteY5" fmla="*/ 33789 h 8434425"/>
                <a:gd name="connsiteX6" fmla="*/ 4923024 w 4923024"/>
                <a:gd name="connsiteY6" fmla="*/ 0 h 8434425"/>
                <a:gd name="connsiteX7" fmla="*/ 4872690 w 4923024"/>
                <a:gd name="connsiteY7" fmla="*/ 3506291 h 8434425"/>
                <a:gd name="connsiteX8" fmla="*/ 2444734 w 4923024"/>
                <a:gd name="connsiteY8" fmla="*/ 2274258 h 8434425"/>
                <a:gd name="connsiteX9" fmla="*/ 16778 w 4923024"/>
                <a:gd name="connsiteY9" fmla="*/ 3506291 h 8434425"/>
                <a:gd name="connsiteX10" fmla="*/ 0 w 4923024"/>
                <a:gd name="connsiteY10" fmla="*/ 33789 h 8434425"/>
                <a:gd name="connsiteX0" fmla="*/ 16778 w 4906246"/>
                <a:gd name="connsiteY0" fmla="*/ 8451318 h 8451320"/>
                <a:gd name="connsiteX1" fmla="*/ 4872690 w 4906246"/>
                <a:gd name="connsiteY1" fmla="*/ 8451318 h 8451320"/>
                <a:gd name="connsiteX2" fmla="*/ 4872690 w 4906246"/>
                <a:gd name="connsiteY2" fmla="*/ 8451320 h 8451320"/>
                <a:gd name="connsiteX3" fmla="*/ 16778 w 4906246"/>
                <a:gd name="connsiteY3" fmla="*/ 8451320 h 8451320"/>
                <a:gd name="connsiteX4" fmla="*/ 16778 w 4906246"/>
                <a:gd name="connsiteY4" fmla="*/ 8451318 h 8451320"/>
                <a:gd name="connsiteX5" fmla="*/ 0 w 4906246"/>
                <a:gd name="connsiteY5" fmla="*/ 50684 h 8451320"/>
                <a:gd name="connsiteX6" fmla="*/ 4906246 w 4906246"/>
                <a:gd name="connsiteY6" fmla="*/ 0 h 8451320"/>
                <a:gd name="connsiteX7" fmla="*/ 4872690 w 4906246"/>
                <a:gd name="connsiteY7" fmla="*/ 3523186 h 8451320"/>
                <a:gd name="connsiteX8" fmla="*/ 2444734 w 4906246"/>
                <a:gd name="connsiteY8" fmla="*/ 2291153 h 8451320"/>
                <a:gd name="connsiteX9" fmla="*/ 16778 w 4906246"/>
                <a:gd name="connsiteY9" fmla="*/ 3523186 h 8451320"/>
                <a:gd name="connsiteX10" fmla="*/ 0 w 4906246"/>
                <a:gd name="connsiteY10" fmla="*/ 50684 h 8451320"/>
                <a:gd name="connsiteX0" fmla="*/ 16778 w 4923024"/>
                <a:gd name="connsiteY0" fmla="*/ 8400634 h 8400636"/>
                <a:gd name="connsiteX1" fmla="*/ 4872690 w 4923024"/>
                <a:gd name="connsiteY1" fmla="*/ 8400634 h 8400636"/>
                <a:gd name="connsiteX2" fmla="*/ 4872690 w 4923024"/>
                <a:gd name="connsiteY2" fmla="*/ 8400636 h 8400636"/>
                <a:gd name="connsiteX3" fmla="*/ 16778 w 4923024"/>
                <a:gd name="connsiteY3" fmla="*/ 8400636 h 8400636"/>
                <a:gd name="connsiteX4" fmla="*/ 16778 w 4923024"/>
                <a:gd name="connsiteY4" fmla="*/ 8400634 h 8400636"/>
                <a:gd name="connsiteX5" fmla="*/ 0 w 4923024"/>
                <a:gd name="connsiteY5" fmla="*/ 0 h 8400636"/>
                <a:gd name="connsiteX6" fmla="*/ 4923024 w 4923024"/>
                <a:gd name="connsiteY6" fmla="*/ 0 h 8400636"/>
                <a:gd name="connsiteX7" fmla="*/ 4872690 w 4923024"/>
                <a:gd name="connsiteY7" fmla="*/ 3472502 h 8400636"/>
                <a:gd name="connsiteX8" fmla="*/ 2444734 w 4923024"/>
                <a:gd name="connsiteY8" fmla="*/ 2240469 h 8400636"/>
                <a:gd name="connsiteX9" fmla="*/ 16778 w 4923024"/>
                <a:gd name="connsiteY9" fmla="*/ 3472502 h 8400636"/>
                <a:gd name="connsiteX10" fmla="*/ 0 w 4923024"/>
                <a:gd name="connsiteY10" fmla="*/ 0 h 840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3024" h="8400636">
                  <a:moveTo>
                    <a:pt x="16778" y="8400634"/>
                  </a:moveTo>
                  <a:lnTo>
                    <a:pt x="4872690" y="8400634"/>
                  </a:lnTo>
                  <a:lnTo>
                    <a:pt x="4872690" y="8400636"/>
                  </a:lnTo>
                  <a:lnTo>
                    <a:pt x="16778" y="8400636"/>
                  </a:lnTo>
                  <a:lnTo>
                    <a:pt x="16778" y="8400634"/>
                  </a:lnTo>
                  <a:close/>
                  <a:moveTo>
                    <a:pt x="0" y="0"/>
                  </a:moveTo>
                  <a:lnTo>
                    <a:pt x="4923024" y="0"/>
                  </a:lnTo>
                  <a:lnTo>
                    <a:pt x="4872690" y="3472502"/>
                  </a:lnTo>
                  <a:lnTo>
                    <a:pt x="2444734" y="2240469"/>
                  </a:lnTo>
                  <a:lnTo>
                    <a:pt x="16778" y="3472502"/>
                  </a:lnTo>
                  <a:cubicBezTo>
                    <a:pt x="16778" y="2067213"/>
                    <a:pt x="0" y="1405289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093E2E9-4057-3AFE-50E4-C89A59C82461}"/>
                </a:ext>
              </a:extLst>
            </p:cNvPr>
            <p:cNvSpPr txBox="1"/>
            <p:nvPr/>
          </p:nvSpPr>
          <p:spPr>
            <a:xfrm>
              <a:off x="788399" y="2082013"/>
              <a:ext cx="1869443" cy="830997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Finance query management &amp; reporting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374261D7-47BE-80C9-627F-3124A46B03B6}"/>
                </a:ext>
              </a:extLst>
            </p:cNvPr>
            <p:cNvSpPr/>
            <p:nvPr/>
          </p:nvSpPr>
          <p:spPr>
            <a:xfrm>
              <a:off x="718267" y="4999173"/>
              <a:ext cx="1953764" cy="545972"/>
            </a:xfrm>
            <a:prstGeom prst="roundRect">
              <a:avLst/>
            </a:prstGeom>
            <a:solidFill>
              <a:schemeClr val="accent1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C09C31-B441-840E-A767-4F86861E1F2E}"/>
                </a:ext>
              </a:extLst>
            </p:cNvPr>
            <p:cNvSpPr txBox="1"/>
            <p:nvPr/>
          </p:nvSpPr>
          <p:spPr>
            <a:xfrm>
              <a:off x="738345" y="4372605"/>
              <a:ext cx="1869690" cy="675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Inefficient finance reporting could be costing you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0EA8CB8-D6F8-2002-811C-82D845F0C462}"/>
                </a:ext>
              </a:extLst>
            </p:cNvPr>
            <p:cNvSpPr txBox="1"/>
            <p:nvPr/>
          </p:nvSpPr>
          <p:spPr>
            <a:xfrm>
              <a:off x="731282" y="5141952"/>
              <a:ext cx="19050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b="1" dirty="0" err="1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valfqmr</a:t>
              </a:r>
              <a:r>
                <a:rPr lang="en-GB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900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grpSp>
        <p:nvGrpSpPr>
          <p:cNvPr id="5" name="Grup 4">
            <a:extLst>
              <a:ext uri="{FF2B5EF4-FFF2-40B4-BE49-F238E27FC236}">
                <a16:creationId xmlns:a16="http://schemas.microsoft.com/office/drawing/2014/main" id="{2CC8DEE5-26D6-A15C-CB5C-661C8D83F5AF}"/>
              </a:ext>
            </a:extLst>
          </p:cNvPr>
          <p:cNvGrpSpPr/>
          <p:nvPr/>
        </p:nvGrpSpPr>
        <p:grpSpPr>
          <a:xfrm>
            <a:off x="7743855" y="1541816"/>
            <a:ext cx="1946626" cy="3957914"/>
            <a:chOff x="7316241" y="1541816"/>
            <a:chExt cx="1946626" cy="3957914"/>
          </a:xfrm>
        </p:grpSpPr>
        <p:grpSp>
          <p:nvGrpSpPr>
            <p:cNvPr id="23" name="Grup 22">
              <a:extLst>
                <a:ext uri="{FF2B5EF4-FFF2-40B4-BE49-F238E27FC236}">
                  <a16:creationId xmlns:a16="http://schemas.microsoft.com/office/drawing/2014/main" id="{3D309B6B-7791-6CF2-0569-C70256165209}"/>
                </a:ext>
              </a:extLst>
            </p:cNvPr>
            <p:cNvGrpSpPr/>
            <p:nvPr/>
          </p:nvGrpSpPr>
          <p:grpSpPr>
            <a:xfrm>
              <a:off x="7316241" y="1541816"/>
              <a:ext cx="1946626" cy="3957914"/>
              <a:chOff x="4961745" y="1590252"/>
              <a:chExt cx="1946626" cy="3957914"/>
            </a:xfrm>
          </p:grpSpPr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483145D9-A5D5-4A29-9000-3FD97569E5F5}"/>
                  </a:ext>
                </a:extLst>
              </p:cNvPr>
              <p:cNvSpPr/>
              <p:nvPr/>
            </p:nvSpPr>
            <p:spPr>
              <a:xfrm>
                <a:off x="4970154" y="4999173"/>
                <a:ext cx="1930036" cy="548993"/>
              </a:xfrm>
              <a:prstGeom prst="roundRect">
                <a:avLst/>
              </a:prstGeom>
              <a:solidFill>
                <a:schemeClr val="accent2">
                  <a:alpha val="26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9" name="Off-page Connector 9">
                <a:extLst>
                  <a:ext uri="{FF2B5EF4-FFF2-40B4-BE49-F238E27FC236}">
                    <a16:creationId xmlns:a16="http://schemas.microsoft.com/office/drawing/2014/main" id="{A97AE63F-0C53-AB7A-E6A8-5650E994B32B}"/>
                  </a:ext>
                </a:extLst>
              </p:cNvPr>
              <p:cNvSpPr/>
              <p:nvPr/>
            </p:nvSpPr>
            <p:spPr>
              <a:xfrm>
                <a:off x="4978335" y="1903894"/>
                <a:ext cx="1930036" cy="2548563"/>
              </a:xfrm>
              <a:prstGeom prst="roundRect">
                <a:avLst/>
              </a:prstGeom>
              <a:solidFill>
                <a:schemeClr val="accent4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 algn="ctr">
                  <a:lnSpc>
                    <a:spcPct val="107000"/>
                  </a:lnSpc>
                  <a:spcAft>
                    <a:spcPts val="800"/>
                  </a:spcAft>
                  <a:buFont typeface="Wingdings" panose="05000000000000000000" pitchFamily="2" charset="2"/>
                  <a:buChar char="ü"/>
                </a:pPr>
                <a:endPara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  <a:p>
                <a:pPr marL="171450" indent="-171450" algn="ctr">
                  <a:lnSpc>
                    <a:spcPct val="107000"/>
                  </a:lnSpc>
                  <a:spcAft>
                    <a:spcPts val="800"/>
                  </a:spcAft>
                  <a:buFont typeface="Wingdings" panose="05000000000000000000" pitchFamily="2" charset="2"/>
                  <a:buChar char="ü"/>
                </a:pPr>
                <a:endPara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  <a:p>
                <a:pPr marL="171450" indent="-171450" algn="ctr">
                  <a:lnSpc>
                    <a:spcPct val="107000"/>
                  </a:lnSpc>
                  <a:spcAft>
                    <a:spcPts val="800"/>
                  </a:spcAft>
                  <a:buFont typeface="Wingdings" panose="05000000000000000000" pitchFamily="2" charset="2"/>
                  <a:buChar char="ü"/>
                </a:pPr>
                <a:r>
                  <a:rPr lang="en-GB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Inefficient processes </a:t>
                </a:r>
              </a:p>
              <a:p>
                <a:pPr marL="171450" indent="-171450" algn="ctr">
                  <a:lnSpc>
                    <a:spcPct val="107000"/>
                  </a:lnSpc>
                  <a:spcAft>
                    <a:spcPts val="800"/>
                  </a:spcAft>
                  <a:buFont typeface="Wingdings" panose="05000000000000000000" pitchFamily="2" charset="2"/>
                  <a:buChar char="ü"/>
                </a:pPr>
                <a:r>
                  <a:rPr lang="en-GB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Lack of self-serve solutions</a:t>
                </a:r>
              </a:p>
            </p:txBody>
          </p:sp>
          <p:sp>
            <p:nvSpPr>
              <p:cNvPr id="48" name="Freeform 50">
                <a:extLst>
                  <a:ext uri="{FF2B5EF4-FFF2-40B4-BE49-F238E27FC236}">
                    <a16:creationId xmlns:a16="http://schemas.microsoft.com/office/drawing/2014/main" id="{13C7AA69-72E1-AD20-DD7E-436E6E31F470}"/>
                  </a:ext>
                </a:extLst>
              </p:cNvPr>
              <p:cNvSpPr/>
              <p:nvPr/>
            </p:nvSpPr>
            <p:spPr>
              <a:xfrm rot="10800000">
                <a:off x="4961745" y="2139161"/>
                <a:ext cx="1944972" cy="2971025"/>
              </a:xfrm>
              <a:custGeom>
                <a:avLst/>
                <a:gdLst>
                  <a:gd name="connsiteX0" fmla="*/ 0 w 4855912"/>
                  <a:gd name="connsiteY0" fmla="*/ 9143998 h 9144000"/>
                  <a:gd name="connsiteX1" fmla="*/ 4855912 w 4855912"/>
                  <a:gd name="connsiteY1" fmla="*/ 9143998 h 9144000"/>
                  <a:gd name="connsiteX2" fmla="*/ 4855912 w 4855912"/>
                  <a:gd name="connsiteY2" fmla="*/ 9144000 h 9144000"/>
                  <a:gd name="connsiteX3" fmla="*/ 0 w 4855912"/>
                  <a:gd name="connsiteY3" fmla="*/ 9144000 h 9144000"/>
                  <a:gd name="connsiteX4" fmla="*/ 0 w 4855912"/>
                  <a:gd name="connsiteY4" fmla="*/ 0 h 9144000"/>
                  <a:gd name="connsiteX5" fmla="*/ 4855912 w 4855912"/>
                  <a:gd name="connsiteY5" fmla="*/ 0 h 9144000"/>
                  <a:gd name="connsiteX6" fmla="*/ 4855912 w 4855912"/>
                  <a:gd name="connsiteY6" fmla="*/ 4215866 h 9144000"/>
                  <a:gd name="connsiteX7" fmla="*/ 2427956 w 4855912"/>
                  <a:gd name="connsiteY7" fmla="*/ 2983833 h 9144000"/>
                  <a:gd name="connsiteX8" fmla="*/ 0 w 4855912"/>
                  <a:gd name="connsiteY8" fmla="*/ 4215866 h 9144000"/>
                  <a:gd name="connsiteX0" fmla="*/ 0 w 4855912"/>
                  <a:gd name="connsiteY0" fmla="*/ 9143998 h 9144000"/>
                  <a:gd name="connsiteX1" fmla="*/ 4855912 w 4855912"/>
                  <a:gd name="connsiteY1" fmla="*/ 9143998 h 9144000"/>
                  <a:gd name="connsiteX2" fmla="*/ 4855912 w 4855912"/>
                  <a:gd name="connsiteY2" fmla="*/ 9144000 h 9144000"/>
                  <a:gd name="connsiteX3" fmla="*/ 0 w 4855912"/>
                  <a:gd name="connsiteY3" fmla="*/ 9144000 h 9144000"/>
                  <a:gd name="connsiteX4" fmla="*/ 0 w 4855912"/>
                  <a:gd name="connsiteY4" fmla="*/ 9143998 h 9144000"/>
                  <a:gd name="connsiteX5" fmla="*/ 0 w 4855912"/>
                  <a:gd name="connsiteY5" fmla="*/ 794048 h 9144000"/>
                  <a:gd name="connsiteX6" fmla="*/ 4855912 w 4855912"/>
                  <a:gd name="connsiteY6" fmla="*/ 0 h 9144000"/>
                  <a:gd name="connsiteX7" fmla="*/ 4855912 w 4855912"/>
                  <a:gd name="connsiteY7" fmla="*/ 4215866 h 9144000"/>
                  <a:gd name="connsiteX8" fmla="*/ 2427956 w 4855912"/>
                  <a:gd name="connsiteY8" fmla="*/ 2983833 h 9144000"/>
                  <a:gd name="connsiteX9" fmla="*/ 0 w 4855912"/>
                  <a:gd name="connsiteY9" fmla="*/ 4215866 h 9144000"/>
                  <a:gd name="connsiteX10" fmla="*/ 0 w 4855912"/>
                  <a:gd name="connsiteY10" fmla="*/ 794048 h 9144000"/>
                  <a:gd name="connsiteX0" fmla="*/ 0 w 4855912"/>
                  <a:gd name="connsiteY0" fmla="*/ 8366845 h 8366847"/>
                  <a:gd name="connsiteX1" fmla="*/ 4855912 w 4855912"/>
                  <a:gd name="connsiteY1" fmla="*/ 8366845 h 8366847"/>
                  <a:gd name="connsiteX2" fmla="*/ 4855912 w 4855912"/>
                  <a:gd name="connsiteY2" fmla="*/ 8366847 h 8366847"/>
                  <a:gd name="connsiteX3" fmla="*/ 0 w 4855912"/>
                  <a:gd name="connsiteY3" fmla="*/ 8366847 h 8366847"/>
                  <a:gd name="connsiteX4" fmla="*/ 0 w 4855912"/>
                  <a:gd name="connsiteY4" fmla="*/ 8366845 h 8366847"/>
                  <a:gd name="connsiteX5" fmla="*/ 0 w 4855912"/>
                  <a:gd name="connsiteY5" fmla="*/ 16895 h 8366847"/>
                  <a:gd name="connsiteX6" fmla="*/ 4839134 w 4855912"/>
                  <a:gd name="connsiteY6" fmla="*/ 0 h 8366847"/>
                  <a:gd name="connsiteX7" fmla="*/ 4855912 w 4855912"/>
                  <a:gd name="connsiteY7" fmla="*/ 3438713 h 8366847"/>
                  <a:gd name="connsiteX8" fmla="*/ 2427956 w 4855912"/>
                  <a:gd name="connsiteY8" fmla="*/ 2206680 h 8366847"/>
                  <a:gd name="connsiteX9" fmla="*/ 0 w 4855912"/>
                  <a:gd name="connsiteY9" fmla="*/ 3438713 h 8366847"/>
                  <a:gd name="connsiteX10" fmla="*/ 0 w 4855912"/>
                  <a:gd name="connsiteY10" fmla="*/ 16895 h 8366847"/>
                  <a:gd name="connsiteX0" fmla="*/ 0 w 4857526"/>
                  <a:gd name="connsiteY0" fmla="*/ 8349950 h 8349952"/>
                  <a:gd name="connsiteX1" fmla="*/ 4855912 w 4857526"/>
                  <a:gd name="connsiteY1" fmla="*/ 8349950 h 8349952"/>
                  <a:gd name="connsiteX2" fmla="*/ 4855912 w 4857526"/>
                  <a:gd name="connsiteY2" fmla="*/ 8349952 h 8349952"/>
                  <a:gd name="connsiteX3" fmla="*/ 0 w 4857526"/>
                  <a:gd name="connsiteY3" fmla="*/ 8349952 h 8349952"/>
                  <a:gd name="connsiteX4" fmla="*/ 0 w 4857526"/>
                  <a:gd name="connsiteY4" fmla="*/ 8349950 h 8349952"/>
                  <a:gd name="connsiteX5" fmla="*/ 0 w 4857526"/>
                  <a:gd name="connsiteY5" fmla="*/ 0 h 8349952"/>
                  <a:gd name="connsiteX6" fmla="*/ 4855912 w 4857526"/>
                  <a:gd name="connsiteY6" fmla="*/ 0 h 8349952"/>
                  <a:gd name="connsiteX7" fmla="*/ 4855912 w 4857526"/>
                  <a:gd name="connsiteY7" fmla="*/ 3421818 h 8349952"/>
                  <a:gd name="connsiteX8" fmla="*/ 2427956 w 4857526"/>
                  <a:gd name="connsiteY8" fmla="*/ 2189785 h 8349952"/>
                  <a:gd name="connsiteX9" fmla="*/ 0 w 4857526"/>
                  <a:gd name="connsiteY9" fmla="*/ 3421818 h 8349952"/>
                  <a:gd name="connsiteX10" fmla="*/ 0 w 4857526"/>
                  <a:gd name="connsiteY10" fmla="*/ 0 h 8349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57526" h="8349952">
                    <a:moveTo>
                      <a:pt x="0" y="8349950"/>
                    </a:moveTo>
                    <a:lnTo>
                      <a:pt x="4855912" y="8349950"/>
                    </a:lnTo>
                    <a:lnTo>
                      <a:pt x="4855912" y="8349952"/>
                    </a:lnTo>
                    <a:lnTo>
                      <a:pt x="0" y="8349952"/>
                    </a:lnTo>
                    <a:lnTo>
                      <a:pt x="0" y="8349950"/>
                    </a:lnTo>
                    <a:close/>
                    <a:moveTo>
                      <a:pt x="0" y="0"/>
                    </a:moveTo>
                    <a:lnTo>
                      <a:pt x="4855912" y="0"/>
                    </a:lnTo>
                    <a:cubicBezTo>
                      <a:pt x="4861505" y="1146238"/>
                      <a:pt x="4850319" y="2275580"/>
                      <a:pt x="4855912" y="3421818"/>
                    </a:cubicBezTo>
                    <a:lnTo>
                      <a:pt x="2427956" y="2189785"/>
                    </a:lnTo>
                    <a:lnTo>
                      <a:pt x="0" y="34218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B34D05C-D2DC-8FEC-1A30-2541B1BBDE4B}"/>
                  </a:ext>
                </a:extLst>
              </p:cNvPr>
              <p:cNvSpPr txBox="1"/>
              <p:nvPr/>
            </p:nvSpPr>
            <p:spPr>
              <a:xfrm>
                <a:off x="4986193" y="1590252"/>
                <a:ext cx="1914319" cy="1323439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spAutoFit/>
              </a:bodyPr>
              <a:lstStyle/>
              <a:p>
                <a:pPr algn="ctr"/>
                <a:endPara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endParaRPr>
              </a:p>
              <a:p>
                <a:pPr algn="ctr"/>
                <a:endParaRPr lang="en-US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endParaRPr>
              </a:p>
              <a:p>
                <a:pPr algn="ctr"/>
                <a:r>
                  <a:rPr lang="en-US" sz="1600" b="1" dirty="0">
                    <a:latin typeface="Montserrat SemiBold" panose="00000700000000000000" pitchFamily="2" charset="0"/>
                    <a:ea typeface="League Spartan" charset="0"/>
                    <a:cs typeface="Poppins" pitchFamily="2" charset="77"/>
                  </a:rPr>
                  <a:t>Debt collection administration processes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CDBA8E2-2E49-D3DC-8F70-3EBC50517161}"/>
                  </a:ext>
                </a:extLst>
              </p:cNvPr>
              <p:cNvSpPr txBox="1"/>
              <p:nvPr/>
            </p:nvSpPr>
            <p:spPr>
              <a:xfrm>
                <a:off x="4974332" y="4365181"/>
                <a:ext cx="1914319" cy="6755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GB" sz="1200" dirty="0">
                    <a:solidFill>
                      <a:schemeClr val="bg1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Debt collection processes could be costing you</a:t>
                </a:r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C634A47-D927-FE8D-6324-130A75E52781}"/>
                </a:ext>
              </a:extLst>
            </p:cNvPr>
            <p:cNvSpPr txBox="1"/>
            <p:nvPr/>
          </p:nvSpPr>
          <p:spPr>
            <a:xfrm>
              <a:off x="7340689" y="5111205"/>
              <a:ext cx="18912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b="1" dirty="0" err="1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valdcap</a:t>
              </a:r>
              <a:r>
                <a:rPr lang="en-GB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900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64A6E194-9E68-2DD5-DD40-F6B630830462}"/>
              </a:ext>
            </a:extLst>
          </p:cNvPr>
          <p:cNvSpPr/>
          <p:nvPr/>
        </p:nvSpPr>
        <p:spPr>
          <a:xfrm>
            <a:off x="664160" y="5880683"/>
            <a:ext cx="10595742" cy="51893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FC616B-B131-2AE7-F109-2FC9C9900A7B}"/>
              </a:ext>
            </a:extLst>
          </p:cNvPr>
          <p:cNvSpPr txBox="1"/>
          <p:nvPr/>
        </p:nvSpPr>
        <p:spPr>
          <a:xfrm>
            <a:off x="654866" y="5937956"/>
            <a:ext cx="1047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Your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current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estimated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process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costs</a:t>
            </a:r>
            <a:r>
              <a:rPr lang="tr-TR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are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24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£</a:t>
            </a:r>
            <a:r>
              <a:rPr lang="tr-TR" sz="24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valcostof</a:t>
            </a:r>
            <a:r>
              <a:rPr lang="en-GB" sz="2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annual</a:t>
            </a:r>
            <a:r>
              <a:rPr lang="tr-TR" sz="24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ly</a:t>
            </a:r>
            <a:endParaRPr lang="en-GB" sz="24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4" name="Grup 3">
            <a:extLst>
              <a:ext uri="{FF2B5EF4-FFF2-40B4-BE49-F238E27FC236}">
                <a16:creationId xmlns:a16="http://schemas.microsoft.com/office/drawing/2014/main" id="{82A8FF3A-1109-D02E-6337-7F8C3FD38D82}"/>
              </a:ext>
            </a:extLst>
          </p:cNvPr>
          <p:cNvGrpSpPr/>
          <p:nvPr/>
        </p:nvGrpSpPr>
        <p:grpSpPr>
          <a:xfrm>
            <a:off x="2516400" y="1830254"/>
            <a:ext cx="2094684" cy="3667962"/>
            <a:chOff x="2932830" y="1895698"/>
            <a:chExt cx="2094684" cy="3667962"/>
          </a:xfrm>
        </p:grpSpPr>
        <p:sp>
          <p:nvSpPr>
            <p:cNvPr id="7" name="Rectangle: Rounded Corners 9">
              <a:extLst>
                <a:ext uri="{FF2B5EF4-FFF2-40B4-BE49-F238E27FC236}">
                  <a16:creationId xmlns:a16="http://schemas.microsoft.com/office/drawing/2014/main" id="{01805B4A-2C0D-368E-E75D-FC2CDC15A66B}"/>
                </a:ext>
              </a:extLst>
            </p:cNvPr>
            <p:cNvSpPr/>
            <p:nvPr/>
          </p:nvSpPr>
          <p:spPr>
            <a:xfrm>
              <a:off x="3034163" y="5014667"/>
              <a:ext cx="1930036" cy="548993"/>
            </a:xfrm>
            <a:prstGeom prst="roundRect">
              <a:avLst/>
            </a:prstGeom>
            <a:solidFill>
              <a:schemeClr val="accent2">
                <a:alpha val="26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ff-page Connector 9">
              <a:extLst>
                <a:ext uri="{FF2B5EF4-FFF2-40B4-BE49-F238E27FC236}">
                  <a16:creationId xmlns:a16="http://schemas.microsoft.com/office/drawing/2014/main" id="{CF4D6202-C07E-1976-8619-E66844709A39}"/>
                </a:ext>
              </a:extLst>
            </p:cNvPr>
            <p:cNvSpPr/>
            <p:nvPr/>
          </p:nvSpPr>
          <p:spPr>
            <a:xfrm>
              <a:off x="3017411" y="1895698"/>
              <a:ext cx="1930036" cy="2544658"/>
            </a:xfrm>
            <a:prstGeom prst="roundRect">
              <a:avLst/>
            </a:prstGeom>
            <a:solidFill>
              <a:schemeClr val="accent4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endParaRPr lang="en-GB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Limited self-service capabilities</a:t>
              </a:r>
            </a:p>
            <a:p>
              <a:pPr marL="171450" indent="-171450" algn="ctr">
                <a:lnSpc>
                  <a:spcPct val="107000"/>
                </a:lnSpc>
                <a:spcAft>
                  <a:spcPts val="800"/>
                </a:spcAft>
                <a:buFont typeface="Wingdings" panose="05000000000000000000" pitchFamily="2" charset="2"/>
                <a:buChar char="ü"/>
              </a:pPr>
              <a:r>
                <a:rPr lang="en-GB" sz="9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Lack of automation</a:t>
              </a:r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7A466DEC-9423-B95B-0DAB-B91A852EC795}"/>
                </a:ext>
              </a:extLst>
            </p:cNvPr>
            <p:cNvSpPr txBox="1"/>
            <p:nvPr/>
          </p:nvSpPr>
          <p:spPr>
            <a:xfrm>
              <a:off x="2932830" y="2095401"/>
              <a:ext cx="2094684" cy="830997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ctr"/>
              <a:r>
                <a:rPr lang="en-GB" sz="1600" b="1" dirty="0">
                  <a:latin typeface="Montserrat SemiBold" panose="00000700000000000000" pitchFamily="2" charset="0"/>
                  <a:ea typeface="League Spartan" charset="0"/>
                  <a:cs typeface="Poppins" pitchFamily="2" charset="77"/>
                </a:rPr>
                <a:t>Management of supplier and purchase invoices</a:t>
              </a:r>
              <a:endParaRPr lang="en-US" sz="1600" b="1" dirty="0">
                <a:latin typeface="Montserrat SemiBold" panose="00000700000000000000" pitchFamily="2" charset="0"/>
                <a:ea typeface="League Spartan" charset="0"/>
                <a:cs typeface="Poppins" pitchFamily="2" charset="77"/>
              </a:endParaRPr>
            </a:p>
          </p:txBody>
        </p:sp>
        <p:sp>
          <p:nvSpPr>
            <p:cNvPr id="19" name="Freeform 50">
              <a:extLst>
                <a:ext uri="{FF2B5EF4-FFF2-40B4-BE49-F238E27FC236}">
                  <a16:creationId xmlns:a16="http://schemas.microsoft.com/office/drawing/2014/main" id="{37A97CCD-C015-E1E9-40B7-A97B59A03B2B}"/>
                </a:ext>
              </a:extLst>
            </p:cNvPr>
            <p:cNvSpPr/>
            <p:nvPr/>
          </p:nvSpPr>
          <p:spPr>
            <a:xfrm rot="10800000">
              <a:off x="3024842" y="2149813"/>
              <a:ext cx="1951578" cy="2971025"/>
            </a:xfrm>
            <a:custGeom>
              <a:avLst/>
              <a:gdLst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0 h 9144000"/>
                <a:gd name="connsiteX5" fmla="*/ 4855912 w 4855912"/>
                <a:gd name="connsiteY5" fmla="*/ 0 h 9144000"/>
                <a:gd name="connsiteX6" fmla="*/ 4855912 w 4855912"/>
                <a:gd name="connsiteY6" fmla="*/ 4215866 h 9144000"/>
                <a:gd name="connsiteX7" fmla="*/ 2427956 w 4855912"/>
                <a:gd name="connsiteY7" fmla="*/ 2983833 h 9144000"/>
                <a:gd name="connsiteX8" fmla="*/ 0 w 4855912"/>
                <a:gd name="connsiteY8" fmla="*/ 4215866 h 9144000"/>
                <a:gd name="connsiteX0" fmla="*/ 0 w 4855912"/>
                <a:gd name="connsiteY0" fmla="*/ 9143998 h 9144000"/>
                <a:gd name="connsiteX1" fmla="*/ 4855912 w 4855912"/>
                <a:gd name="connsiteY1" fmla="*/ 9143998 h 9144000"/>
                <a:gd name="connsiteX2" fmla="*/ 4855912 w 4855912"/>
                <a:gd name="connsiteY2" fmla="*/ 9144000 h 9144000"/>
                <a:gd name="connsiteX3" fmla="*/ 0 w 4855912"/>
                <a:gd name="connsiteY3" fmla="*/ 9144000 h 9144000"/>
                <a:gd name="connsiteX4" fmla="*/ 0 w 4855912"/>
                <a:gd name="connsiteY4" fmla="*/ 9143998 h 9144000"/>
                <a:gd name="connsiteX5" fmla="*/ 0 w 4855912"/>
                <a:gd name="connsiteY5" fmla="*/ 794048 h 9144000"/>
                <a:gd name="connsiteX6" fmla="*/ 4855912 w 4855912"/>
                <a:gd name="connsiteY6" fmla="*/ 0 h 9144000"/>
                <a:gd name="connsiteX7" fmla="*/ 4855912 w 4855912"/>
                <a:gd name="connsiteY7" fmla="*/ 4215866 h 9144000"/>
                <a:gd name="connsiteX8" fmla="*/ 2427956 w 4855912"/>
                <a:gd name="connsiteY8" fmla="*/ 2983833 h 9144000"/>
                <a:gd name="connsiteX9" fmla="*/ 0 w 4855912"/>
                <a:gd name="connsiteY9" fmla="*/ 4215866 h 9144000"/>
                <a:gd name="connsiteX10" fmla="*/ 0 w 4855912"/>
                <a:gd name="connsiteY10" fmla="*/ 794048 h 9144000"/>
                <a:gd name="connsiteX0" fmla="*/ 0 w 4855912"/>
                <a:gd name="connsiteY0" fmla="*/ 8366845 h 8366847"/>
                <a:gd name="connsiteX1" fmla="*/ 4855912 w 4855912"/>
                <a:gd name="connsiteY1" fmla="*/ 8366845 h 8366847"/>
                <a:gd name="connsiteX2" fmla="*/ 4855912 w 4855912"/>
                <a:gd name="connsiteY2" fmla="*/ 8366847 h 8366847"/>
                <a:gd name="connsiteX3" fmla="*/ 0 w 4855912"/>
                <a:gd name="connsiteY3" fmla="*/ 8366847 h 8366847"/>
                <a:gd name="connsiteX4" fmla="*/ 0 w 4855912"/>
                <a:gd name="connsiteY4" fmla="*/ 8366845 h 8366847"/>
                <a:gd name="connsiteX5" fmla="*/ 0 w 4855912"/>
                <a:gd name="connsiteY5" fmla="*/ 16895 h 8366847"/>
                <a:gd name="connsiteX6" fmla="*/ 4839134 w 4855912"/>
                <a:gd name="connsiteY6" fmla="*/ 0 h 8366847"/>
                <a:gd name="connsiteX7" fmla="*/ 4855912 w 4855912"/>
                <a:gd name="connsiteY7" fmla="*/ 3438713 h 8366847"/>
                <a:gd name="connsiteX8" fmla="*/ 2427956 w 4855912"/>
                <a:gd name="connsiteY8" fmla="*/ 2206680 h 8366847"/>
                <a:gd name="connsiteX9" fmla="*/ 0 w 4855912"/>
                <a:gd name="connsiteY9" fmla="*/ 3438713 h 8366847"/>
                <a:gd name="connsiteX10" fmla="*/ 0 w 4855912"/>
                <a:gd name="connsiteY10" fmla="*/ 16895 h 8366847"/>
                <a:gd name="connsiteX0" fmla="*/ 0 w 4857526"/>
                <a:gd name="connsiteY0" fmla="*/ 8349950 h 8349952"/>
                <a:gd name="connsiteX1" fmla="*/ 4855912 w 4857526"/>
                <a:gd name="connsiteY1" fmla="*/ 8349950 h 8349952"/>
                <a:gd name="connsiteX2" fmla="*/ 4855912 w 4857526"/>
                <a:gd name="connsiteY2" fmla="*/ 8349952 h 8349952"/>
                <a:gd name="connsiteX3" fmla="*/ 0 w 4857526"/>
                <a:gd name="connsiteY3" fmla="*/ 8349952 h 8349952"/>
                <a:gd name="connsiteX4" fmla="*/ 0 w 4857526"/>
                <a:gd name="connsiteY4" fmla="*/ 8349950 h 8349952"/>
                <a:gd name="connsiteX5" fmla="*/ 0 w 4857526"/>
                <a:gd name="connsiteY5" fmla="*/ 0 h 8349952"/>
                <a:gd name="connsiteX6" fmla="*/ 4855912 w 4857526"/>
                <a:gd name="connsiteY6" fmla="*/ 0 h 8349952"/>
                <a:gd name="connsiteX7" fmla="*/ 4855912 w 4857526"/>
                <a:gd name="connsiteY7" fmla="*/ 3421818 h 8349952"/>
                <a:gd name="connsiteX8" fmla="*/ 2427956 w 4857526"/>
                <a:gd name="connsiteY8" fmla="*/ 2189785 h 8349952"/>
                <a:gd name="connsiteX9" fmla="*/ 0 w 4857526"/>
                <a:gd name="connsiteY9" fmla="*/ 3421818 h 8349952"/>
                <a:gd name="connsiteX10" fmla="*/ 0 w 4857526"/>
                <a:gd name="connsiteY10" fmla="*/ 0 h 834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57526" h="8349952">
                  <a:moveTo>
                    <a:pt x="0" y="8349950"/>
                  </a:moveTo>
                  <a:lnTo>
                    <a:pt x="4855912" y="8349950"/>
                  </a:lnTo>
                  <a:lnTo>
                    <a:pt x="4855912" y="8349952"/>
                  </a:lnTo>
                  <a:lnTo>
                    <a:pt x="0" y="8349952"/>
                  </a:lnTo>
                  <a:lnTo>
                    <a:pt x="0" y="8349950"/>
                  </a:lnTo>
                  <a:close/>
                  <a:moveTo>
                    <a:pt x="0" y="0"/>
                  </a:moveTo>
                  <a:lnTo>
                    <a:pt x="4855912" y="0"/>
                  </a:lnTo>
                  <a:cubicBezTo>
                    <a:pt x="4861505" y="1146238"/>
                    <a:pt x="4850319" y="2275580"/>
                    <a:pt x="4855912" y="3421818"/>
                  </a:cubicBezTo>
                  <a:lnTo>
                    <a:pt x="2427956" y="2189785"/>
                  </a:lnTo>
                  <a:lnTo>
                    <a:pt x="0" y="34218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78087AEC-86F9-E8B2-C10B-A49DA1E431AE}"/>
                </a:ext>
              </a:extLst>
            </p:cNvPr>
            <p:cNvSpPr txBox="1"/>
            <p:nvPr/>
          </p:nvSpPr>
          <p:spPr>
            <a:xfrm>
              <a:off x="3054308" y="4357403"/>
              <a:ext cx="1914319" cy="477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sz="120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Supplier management could be costing you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758C2988-077F-715B-4765-2E7B0D4C1F34}"/>
                </a:ext>
              </a:extLst>
            </p:cNvPr>
            <p:cNvSpPr txBox="1"/>
            <p:nvPr/>
          </p:nvSpPr>
          <p:spPr>
            <a:xfrm>
              <a:off x="3014751" y="5157583"/>
              <a:ext cx="18929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£</a:t>
              </a:r>
              <a:r>
                <a:rPr lang="tr-TR" b="1" dirty="0" err="1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valmspi</a:t>
              </a:r>
              <a:r>
                <a:rPr lang="tr-TR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GB" sz="900" b="1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annually</a:t>
              </a:r>
            </a:p>
          </p:txBody>
        </p:sp>
      </p:grpSp>
      <p:sp>
        <p:nvSpPr>
          <p:cNvPr id="11" name="Title 2">
            <a:extLst>
              <a:ext uri="{FF2B5EF4-FFF2-40B4-BE49-F238E27FC236}">
                <a16:creationId xmlns:a16="http://schemas.microsoft.com/office/drawing/2014/main" id="{C8DD3992-F32C-4308-D735-FDB7A347D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477" y="361493"/>
            <a:ext cx="10801349" cy="388773"/>
          </a:xfrm>
        </p:spPr>
        <p:txBody>
          <a:bodyPr>
            <a:normAutofit/>
          </a:bodyPr>
          <a:lstStyle/>
          <a:p>
            <a:r>
              <a:rPr lang="en-GB" dirty="0">
                <a:ea typeface="Open Sans" panose="020B0606030504020204" pitchFamily="34" charset="0"/>
                <a:cs typeface="Open Sans" panose="020B0606030504020204" pitchFamily="34" charset="0"/>
              </a:rPr>
              <a:t>The estimated cost of your current processes</a:t>
            </a:r>
            <a:endParaRPr lang="en-GB" dirty="0"/>
          </a:p>
        </p:txBody>
      </p:sp>
      <p:sp>
        <p:nvSpPr>
          <p:cNvPr id="12" name="TextBox 73">
            <a:extLst>
              <a:ext uri="{FF2B5EF4-FFF2-40B4-BE49-F238E27FC236}">
                <a16:creationId xmlns:a16="http://schemas.microsoft.com/office/drawing/2014/main" id="{E6C4BEAF-046C-D4C4-6B21-7D323C902354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13" name="TextBox 19">
            <a:extLst>
              <a:ext uri="{FF2B5EF4-FFF2-40B4-BE49-F238E27FC236}">
                <a16:creationId xmlns:a16="http://schemas.microsoft.com/office/drawing/2014/main" id="{296F1958-189C-0FB7-1B45-FD5EA85553E0}"/>
              </a:ext>
            </a:extLst>
          </p:cNvPr>
          <p:cNvSpPr txBox="1"/>
          <p:nvPr/>
        </p:nvSpPr>
        <p:spPr>
          <a:xfrm>
            <a:off x="664160" y="1218194"/>
            <a:ext cx="103643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>
              <a:defRPr sz="1200">
                <a:solidFill>
                  <a:srgbClr val="25252C"/>
                </a:solidFill>
                <a:highlight>
                  <a:srgbClr val="FFFFFF"/>
                </a:highlight>
                <a:latin typeface="+mj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Detailed below are the potential total estimated costs of your processes, for example, if it is taking your team five hours a week to produce business reports or manage queries, the below figures highlight the total current process cost to your business</a:t>
            </a:r>
          </a:p>
        </p:txBody>
      </p:sp>
    </p:spTree>
    <p:extLst>
      <p:ext uri="{BB962C8B-B14F-4D97-AF65-F5344CB8AC3E}">
        <p14:creationId xmlns:p14="http://schemas.microsoft.com/office/powerpoint/2010/main" val="65390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4" name="Chart 9">
            <a:extLst>
              <a:ext uri="{FF2B5EF4-FFF2-40B4-BE49-F238E27FC236}">
                <a16:creationId xmlns:a16="http://schemas.microsoft.com/office/drawing/2014/main" id="{A65EFCB1-3F26-2C8B-1E54-7EEE83D320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1728319"/>
              </p:ext>
            </p:extLst>
          </p:nvPr>
        </p:nvGraphicFramePr>
        <p:xfrm>
          <a:off x="564421" y="888700"/>
          <a:ext cx="5015009" cy="5540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F0555603-B786-A93B-8B30-13D773E0D58C}"/>
              </a:ext>
            </a:extLst>
          </p:cNvPr>
          <p:cNvSpPr txBox="1">
            <a:spLocks/>
          </p:cNvSpPr>
          <p:nvPr/>
        </p:nvSpPr>
        <p:spPr>
          <a:xfrm>
            <a:off x="1378465" y="3307224"/>
            <a:ext cx="3544235" cy="6138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 algn="ctr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tr-TR" sz="3600" dirty="0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£ </a:t>
            </a:r>
            <a:r>
              <a:rPr lang="tr-TR" sz="3600" dirty="0" err="1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totalcostval</a:t>
            </a:r>
            <a:r>
              <a:rPr lang="tr-TR" sz="3600" dirty="0">
                <a:solidFill>
                  <a:srgbClr val="FF5A1F"/>
                </a:solidFill>
                <a:latin typeface="+mj-lt"/>
                <a:ea typeface="Open Sans"/>
                <a:cs typeface="Open Sans"/>
              </a:rPr>
              <a:t> </a:t>
            </a:r>
            <a:endParaRPr lang="en-GB" sz="3600" dirty="0">
              <a:solidFill>
                <a:srgbClr val="FF5A1F"/>
              </a:solidFill>
              <a:latin typeface="+mj-lt"/>
              <a:ea typeface="Open Sans"/>
              <a:cs typeface="Open Sans"/>
            </a:endParaRP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244B739-172F-065F-6BD7-C667E69F7CC5}"/>
              </a:ext>
            </a:extLst>
          </p:cNvPr>
          <p:cNvSpPr txBox="1"/>
          <p:nvPr/>
        </p:nvSpPr>
        <p:spPr>
          <a:xfrm>
            <a:off x="6177600" y="3528000"/>
            <a:ext cx="3509388" cy="369332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r>
              <a:rPr lang="tr-TR" b="1" i="0" dirty="0">
                <a:solidFill>
                  <a:srgbClr val="616173"/>
                </a:solidFill>
                <a:effectLst/>
                <a:latin typeface="Open Sans" panose="020B0606030504020204" pitchFamily="34" charset="0"/>
              </a:rPr>
              <a:t>£</a:t>
            </a:r>
            <a:r>
              <a:rPr lang="tr-TR" b="1" i="0" dirty="0" err="1">
                <a:solidFill>
                  <a:srgbClr val="616173"/>
                </a:solidFill>
                <a:effectLst/>
                <a:latin typeface="Montserrat SemiBold" panose="00000700000000000000" pitchFamily="2" charset="0"/>
              </a:rPr>
              <a:t>pfqmrval</a:t>
            </a:r>
            <a:endParaRPr lang="en-US" b="1" dirty="0">
              <a:solidFill>
                <a:srgbClr val="616173"/>
              </a:solidFill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7" name="TextBox 41">
            <a:extLst>
              <a:ext uri="{FF2B5EF4-FFF2-40B4-BE49-F238E27FC236}">
                <a16:creationId xmlns:a16="http://schemas.microsoft.com/office/drawing/2014/main" id="{D2B1565B-D878-B45E-5BBE-D697BB999252}"/>
              </a:ext>
            </a:extLst>
          </p:cNvPr>
          <p:cNvSpPr txBox="1"/>
          <p:nvPr/>
        </p:nvSpPr>
        <p:spPr>
          <a:xfrm>
            <a:off x="6177600" y="2433600"/>
            <a:ext cx="3736328" cy="369331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r>
              <a:rPr lang="tr-TR" b="1" i="0" dirty="0">
                <a:solidFill>
                  <a:srgbClr val="F15D22"/>
                </a:solidFill>
                <a:effectLst/>
                <a:latin typeface="Open Sans" panose="020B0606030504020204" pitchFamily="34" charset="0"/>
              </a:rPr>
              <a:t>£</a:t>
            </a:r>
            <a:r>
              <a:rPr lang="tr-TR" b="1" dirty="0" err="1">
                <a:solidFill>
                  <a:srgbClr val="F15D22"/>
                </a:solidFill>
                <a:latin typeface="Montserrat SemiBold" panose="00000700000000000000" pitchFamily="2" charset="0"/>
              </a:rPr>
              <a:t>pmspival</a:t>
            </a:r>
            <a:endParaRPr lang="en-US" b="1" dirty="0">
              <a:solidFill>
                <a:srgbClr val="F15D22"/>
              </a:solidFill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25" name="TextBox 41">
            <a:extLst>
              <a:ext uri="{FF2B5EF4-FFF2-40B4-BE49-F238E27FC236}">
                <a16:creationId xmlns:a16="http://schemas.microsoft.com/office/drawing/2014/main" id="{036214D1-7919-E287-4C54-F415E9475989}"/>
              </a:ext>
            </a:extLst>
          </p:cNvPr>
          <p:cNvSpPr txBox="1"/>
          <p:nvPr/>
        </p:nvSpPr>
        <p:spPr>
          <a:xfrm>
            <a:off x="6177600" y="4669200"/>
            <a:ext cx="3540362" cy="369331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r>
              <a:rPr lang="tr-TR" b="1" i="0" dirty="0">
                <a:solidFill>
                  <a:srgbClr val="F6911E"/>
                </a:solidFill>
                <a:effectLst/>
                <a:latin typeface="Open Sans" panose="020B0606030504020204" pitchFamily="34" charset="0"/>
              </a:rPr>
              <a:t>£</a:t>
            </a:r>
            <a:r>
              <a:rPr lang="tr-TR" b="1" i="0" dirty="0" err="1">
                <a:solidFill>
                  <a:srgbClr val="F6911E"/>
                </a:solidFill>
                <a:effectLst/>
                <a:latin typeface="Montserrat SemiBold" panose="00000700000000000000" pitchFamily="2" charset="0"/>
              </a:rPr>
              <a:t>pdcapval</a:t>
            </a:r>
            <a:endParaRPr lang="en-US" b="1" dirty="0">
              <a:solidFill>
                <a:srgbClr val="F6911E"/>
              </a:solidFill>
              <a:latin typeface="Montserrat SemiBold" panose="00000700000000000000" pitchFamily="2" charset="0"/>
              <a:ea typeface="League Spartan" charset="0"/>
              <a:cs typeface="Poppins" pitchFamily="2" charset="77"/>
            </a:endParaRP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A83E255-9D98-221F-ABD4-1C45FE206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25252C"/>
                </a:solidFill>
                <a:latin typeface="Montserrat SemiBold"/>
              </a:rPr>
              <a:t>Estimated savings and benefits from our solution</a:t>
            </a:r>
            <a:endParaRPr lang="en-US" dirty="0">
              <a:solidFill>
                <a:srgbClr val="25252C"/>
              </a:solidFill>
              <a:latin typeface="Montserrat SemiBold"/>
            </a:endParaRPr>
          </a:p>
        </p:txBody>
      </p:sp>
      <p:sp>
        <p:nvSpPr>
          <p:cNvPr id="14" name="TextBox 73">
            <a:extLst>
              <a:ext uri="{FF2B5EF4-FFF2-40B4-BE49-F238E27FC236}">
                <a16:creationId xmlns:a16="http://schemas.microsoft.com/office/drawing/2014/main" id="{1D51AD7F-E233-9E29-4746-2D7DC3345013}"/>
              </a:ext>
            </a:extLst>
          </p:cNvPr>
          <p:cNvSpPr txBox="1"/>
          <p:nvPr/>
        </p:nvSpPr>
        <p:spPr>
          <a:xfrm>
            <a:off x="635504" y="823804"/>
            <a:ext cx="22973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 Medium" panose="000006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Please note these are estimations only</a:t>
            </a:r>
          </a:p>
        </p:txBody>
      </p:sp>
      <p:sp>
        <p:nvSpPr>
          <p:cNvPr id="18" name="Metin kutusu 66">
            <a:extLst>
              <a:ext uri="{FF2B5EF4-FFF2-40B4-BE49-F238E27FC236}">
                <a16:creationId xmlns:a16="http://schemas.microsoft.com/office/drawing/2014/main" id="{97E815D2-1903-33B8-F377-4FE0BB8E039C}"/>
              </a:ext>
            </a:extLst>
          </p:cNvPr>
          <p:cNvSpPr txBox="1"/>
          <p:nvPr/>
        </p:nvSpPr>
        <p:spPr>
          <a:xfrm>
            <a:off x="6176844" y="2763904"/>
            <a:ext cx="49870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555555"/>
                </a:solidFill>
                <a:latin typeface="Montserrat SemiBold" panose="00000700000000000000" pitchFamily="2" charset="0"/>
              </a:rPr>
              <a:t>Management of supplier and purchase invoices</a:t>
            </a:r>
            <a:endParaRPr lang="tr-TR" sz="1100" b="1" dirty="0">
              <a:solidFill>
                <a:srgbClr val="555555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9" name="Metin kutusu 106">
            <a:extLst>
              <a:ext uri="{FF2B5EF4-FFF2-40B4-BE49-F238E27FC236}">
                <a16:creationId xmlns:a16="http://schemas.microsoft.com/office/drawing/2014/main" id="{ED25F420-4979-CC09-A977-0008037AE972}"/>
              </a:ext>
            </a:extLst>
          </p:cNvPr>
          <p:cNvSpPr txBox="1"/>
          <p:nvPr/>
        </p:nvSpPr>
        <p:spPr>
          <a:xfrm>
            <a:off x="6176844" y="3859189"/>
            <a:ext cx="4987016" cy="430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555555"/>
                </a:solidFill>
                <a:latin typeface="Montserrat SemiBold" panose="00000700000000000000" pitchFamily="2" charset="0"/>
              </a:rPr>
              <a:t>Finance query management and dashboard reporting</a:t>
            </a:r>
            <a:endParaRPr lang="tr-TR" sz="1100" b="1" dirty="0">
              <a:solidFill>
                <a:srgbClr val="555555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0" name="Metin kutusu 110">
            <a:extLst>
              <a:ext uri="{FF2B5EF4-FFF2-40B4-BE49-F238E27FC236}">
                <a16:creationId xmlns:a16="http://schemas.microsoft.com/office/drawing/2014/main" id="{CF6B1865-C341-673F-8F08-CAEDEB5F16FE}"/>
              </a:ext>
            </a:extLst>
          </p:cNvPr>
          <p:cNvSpPr txBox="1"/>
          <p:nvPr/>
        </p:nvSpPr>
        <p:spPr>
          <a:xfrm>
            <a:off x="6176844" y="5002270"/>
            <a:ext cx="491365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Debt</a:t>
            </a:r>
            <a:r>
              <a:rPr lang="tr-TR" sz="1100" b="1" dirty="0">
                <a:solidFill>
                  <a:srgbClr val="555555"/>
                </a:solidFill>
                <a:latin typeface="Montserrat SemiBold" panose="00000700000000000000" pitchFamily="2" charset="0"/>
              </a:rPr>
              <a:t> 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collectıon</a:t>
            </a:r>
            <a:r>
              <a:rPr lang="tr-TR" sz="1100" b="1" dirty="0">
                <a:solidFill>
                  <a:srgbClr val="555555"/>
                </a:solidFill>
                <a:latin typeface="Montserrat SemiBold" panose="00000700000000000000" pitchFamily="2" charset="0"/>
              </a:rPr>
              <a:t> 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adm</a:t>
            </a:r>
            <a:r>
              <a:rPr lang="tr-TR" sz="1100" b="1" i="0" dirty="0" err="1">
                <a:solidFill>
                  <a:srgbClr val="555555"/>
                </a:solidFill>
                <a:effectLst/>
                <a:latin typeface="Montserrat SemiBold" panose="00000700000000000000" pitchFamily="2" charset="0"/>
              </a:rPr>
              <a:t>ı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n</a:t>
            </a:r>
            <a:r>
              <a:rPr lang="tr-TR" sz="1100" b="1" i="0" dirty="0" err="1">
                <a:solidFill>
                  <a:srgbClr val="555555"/>
                </a:solidFill>
                <a:effectLst/>
                <a:latin typeface="Montserrat SemiBold" panose="00000700000000000000" pitchFamily="2" charset="0"/>
              </a:rPr>
              <a:t>ı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strat</a:t>
            </a:r>
            <a:r>
              <a:rPr lang="tr-TR" sz="1100" b="1" i="0" dirty="0" err="1">
                <a:solidFill>
                  <a:srgbClr val="555555"/>
                </a:solidFill>
                <a:effectLst/>
                <a:latin typeface="Montserrat SemiBold" panose="00000700000000000000" pitchFamily="2" charset="0"/>
              </a:rPr>
              <a:t>ı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on</a:t>
            </a:r>
            <a:r>
              <a:rPr lang="tr-TR" sz="1100" b="1" dirty="0">
                <a:solidFill>
                  <a:srgbClr val="555555"/>
                </a:solidFill>
                <a:latin typeface="Montserrat SemiBold" panose="00000700000000000000" pitchFamily="2" charset="0"/>
              </a:rPr>
              <a:t> </a:t>
            </a:r>
            <a:r>
              <a:rPr lang="tr-TR" sz="1100" b="1" dirty="0" err="1">
                <a:solidFill>
                  <a:srgbClr val="555555"/>
                </a:solidFill>
                <a:latin typeface="Montserrat SemiBold" panose="00000700000000000000" pitchFamily="2" charset="0"/>
              </a:rPr>
              <a:t>processes</a:t>
            </a:r>
            <a:endParaRPr lang="tr-TR" sz="1100" b="1" dirty="0">
              <a:solidFill>
                <a:srgbClr val="555555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2" name="Metin kutusu 67">
            <a:extLst>
              <a:ext uri="{FF2B5EF4-FFF2-40B4-BE49-F238E27FC236}">
                <a16:creationId xmlns:a16="http://schemas.microsoft.com/office/drawing/2014/main" id="{9303C5E8-B3B9-4EE8-EA15-FB905A04F266}"/>
              </a:ext>
            </a:extLst>
          </p:cNvPr>
          <p:cNvSpPr txBox="1"/>
          <p:nvPr/>
        </p:nvSpPr>
        <p:spPr>
          <a:xfrm>
            <a:off x="6176844" y="2996075"/>
            <a:ext cx="4837438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dirty="0">
                <a:solidFill>
                  <a:srgbClr val="555555"/>
                </a:solidFill>
                <a:latin typeface="Open Sans" panose="020B0606030504020204" pitchFamily="34" charset="0"/>
              </a:rPr>
              <a:t>Ensure timely payments, maintain good supplier relationships, and contribute to efficient financial operations.</a:t>
            </a:r>
            <a:endParaRPr lang="tr-TR" sz="950" dirty="0">
              <a:solidFill>
                <a:srgbClr val="555555"/>
              </a:solidFill>
              <a:latin typeface="Open Sans" panose="020B0606030504020204" pitchFamily="34" charset="0"/>
            </a:endParaRPr>
          </a:p>
        </p:txBody>
      </p:sp>
      <p:sp>
        <p:nvSpPr>
          <p:cNvPr id="29" name="Metin kutusu 107">
            <a:extLst>
              <a:ext uri="{FF2B5EF4-FFF2-40B4-BE49-F238E27FC236}">
                <a16:creationId xmlns:a16="http://schemas.microsoft.com/office/drawing/2014/main" id="{EDA6CA71-3CC3-CDEF-42E7-A385D1D33B26}"/>
              </a:ext>
            </a:extLst>
          </p:cNvPr>
          <p:cNvSpPr txBox="1"/>
          <p:nvPr/>
        </p:nvSpPr>
        <p:spPr>
          <a:xfrm>
            <a:off x="6176844" y="4074632"/>
            <a:ext cx="483743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dirty="0">
                <a:solidFill>
                  <a:srgbClr val="555555"/>
                </a:solidFill>
                <a:latin typeface="Open Sans" panose="020B0606030504020204" pitchFamily="34" charset="0"/>
              </a:rPr>
              <a:t>Quicker decision-making, increased accuracy and enhanced visibility into financial performance, ultimately drives customer success and satisfaction.</a:t>
            </a:r>
            <a:endParaRPr lang="tr-TR" sz="950" dirty="0">
              <a:solidFill>
                <a:srgbClr val="555555"/>
              </a:solidFill>
              <a:latin typeface="Open Sans" panose="020B0606030504020204" pitchFamily="34" charset="0"/>
            </a:endParaRPr>
          </a:p>
        </p:txBody>
      </p:sp>
      <p:sp>
        <p:nvSpPr>
          <p:cNvPr id="30" name="Metin kutusu 111">
            <a:extLst>
              <a:ext uri="{FF2B5EF4-FFF2-40B4-BE49-F238E27FC236}">
                <a16:creationId xmlns:a16="http://schemas.microsoft.com/office/drawing/2014/main" id="{0862D66A-771C-0863-A5E9-BD91DCDADCC1}"/>
              </a:ext>
            </a:extLst>
          </p:cNvPr>
          <p:cNvSpPr txBox="1"/>
          <p:nvPr/>
        </p:nvSpPr>
        <p:spPr>
          <a:xfrm>
            <a:off x="6176844" y="5242137"/>
            <a:ext cx="4766274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dirty="0">
                <a:solidFill>
                  <a:srgbClr val="555555"/>
                </a:solidFill>
                <a:latin typeface="Open Sans" panose="020B0606030504020204" pitchFamily="34" charset="0"/>
              </a:rPr>
              <a:t>Boost efficiency, cut costs, and elevate customer satisfaction by ensuring tailored and responsive debt collection processes, which  are timely and accurate.</a:t>
            </a:r>
            <a:endParaRPr lang="tr-TR" sz="950" dirty="0">
              <a:solidFill>
                <a:srgbClr val="555555"/>
              </a:solidFill>
              <a:latin typeface="Open Sans" panose="020B0606030504020204" pitchFamily="34" charset="0"/>
            </a:endParaRPr>
          </a:p>
        </p:txBody>
      </p:sp>
      <p:sp>
        <p:nvSpPr>
          <p:cNvPr id="31" name="TextBox 4">
            <a:extLst>
              <a:ext uri="{FF2B5EF4-FFF2-40B4-BE49-F238E27FC236}">
                <a16:creationId xmlns:a16="http://schemas.microsoft.com/office/drawing/2014/main" id="{00070362-0D26-77AD-50DA-D95821B3A623}"/>
              </a:ext>
            </a:extLst>
          </p:cNvPr>
          <p:cNvSpPr txBox="1"/>
          <p:nvPr/>
        </p:nvSpPr>
        <p:spPr>
          <a:xfrm>
            <a:off x="6176844" y="1682787"/>
            <a:ext cx="531983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>
                <a:solidFill>
                  <a:srgbClr val="25252C"/>
                </a:solidFill>
                <a:highlight>
                  <a:srgbClr val="FFFFFF"/>
                </a:highlight>
                <a:latin typeface="+mj-lt"/>
              </a:rPr>
              <a:t>If you purchase our systems and deploy our software, you could see revenue growth in the following areas</a:t>
            </a:r>
          </a:p>
        </p:txBody>
      </p:sp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303557-C3DF-0A09-A6C3-B95DAC3B7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7C223-66B0-43E1-F7E0-38D12174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1"/>
            <a:ext cx="9292735" cy="401594"/>
          </a:xfrm>
        </p:spPr>
        <p:txBody>
          <a:bodyPr>
            <a:normAutofit/>
          </a:bodyPr>
          <a:lstStyle/>
          <a:p>
            <a:r>
              <a:rPr lang="tr-TR" dirty="0"/>
              <a:t>Def</a:t>
            </a:r>
            <a:r>
              <a:rPr lang="en-GB" dirty="0"/>
              <a:t>i</a:t>
            </a:r>
            <a:r>
              <a:rPr lang="tr-TR" dirty="0"/>
              <a:t>n</a:t>
            </a:r>
            <a:r>
              <a:rPr lang="en-GB" dirty="0"/>
              <a:t>i</a:t>
            </a:r>
            <a:r>
              <a:rPr lang="tr-TR" dirty="0"/>
              <a:t>t</a:t>
            </a:r>
            <a:r>
              <a:rPr lang="en-GB" dirty="0"/>
              <a:t>i</a:t>
            </a:r>
            <a:r>
              <a:rPr lang="tr-TR" dirty="0"/>
              <a:t>on of terms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B2551A1-F783-7ECB-94CE-4492E0A51074}"/>
              </a:ext>
            </a:extLst>
          </p:cNvPr>
          <p:cNvSpPr txBox="1">
            <a:spLocks/>
          </p:cNvSpPr>
          <p:nvPr/>
        </p:nvSpPr>
        <p:spPr>
          <a:xfrm>
            <a:off x="599450" y="1612679"/>
            <a:ext cx="4638088" cy="22868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None/>
            </a:pPr>
            <a:r>
              <a:rPr lang="en-GB" sz="28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The key phrases used in this proposal are outlined here for reference</a:t>
            </a:r>
            <a:endParaRPr lang="en-GB" sz="2800" b="1" dirty="0">
              <a:solidFill>
                <a:srgbClr val="FF66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517968" y="5245321"/>
            <a:ext cx="4638088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Clarification</a:t>
            </a:r>
          </a:p>
          <a:p>
            <a:pPr marL="90170">
              <a:spcAft>
                <a:spcPts val="800"/>
              </a:spcAft>
            </a:pPr>
            <a:r>
              <a:rPr lang="en-GB" sz="1200" b="1" dirty="0">
                <a:latin typeface="Open Sans"/>
                <a:ea typeface="Open Sans"/>
                <a:cs typeface="Open Sans"/>
              </a:rPr>
              <a:t>These estimates are intended to support purchasing decisions and highlight potential value opportunities. The information provided is given in good faith and should be considered as a general guide, offered “as is.”</a:t>
            </a:r>
            <a:endParaRPr lang="en-GB" sz="12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E9A52EA-2450-17E3-9B10-640AC1F685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70" y="1717608"/>
            <a:ext cx="4638088" cy="4638742"/>
          </a:xfrm>
        </p:spPr>
        <p:txBody>
          <a:bodyPr vert="horz" lIns="0" tIns="0" rIns="0" bIns="0" rtlCol="0" anchor="t">
            <a:noAutofit/>
          </a:bodyPr>
          <a:lstStyle/>
          <a:p>
            <a:pPr marL="341630" indent="-251460">
              <a:spcAft>
                <a:spcPts val="800"/>
              </a:spcAft>
              <a:buClr>
                <a:srgbClr val="E23F13"/>
              </a:buClr>
            </a:pPr>
            <a:r>
              <a:rPr lang="en-GB" sz="12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Payback Period: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time at which benefits achieved outweigh amount invested. If you invest £12 and receive £1 per month, your payback period is 1 year, equal to the "break-even point”. This calculation does not consider the time value of money (see NPV)</a:t>
            </a:r>
          </a:p>
          <a:p>
            <a:pPr marL="341630" indent="-251460">
              <a:spcAft>
                <a:spcPts val="800"/>
              </a:spcAft>
            </a:pPr>
            <a:r>
              <a:rPr lang="en-GB" sz="12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Net Present Value (NPV):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present value of future net Cashflows (cash in minus cash out). “Present Value” refers to the time value of money where a pound today is worth more than a pound five years from now. This is due to inflation, future uncertainty and other factors. The NPV here is calculated assuming a default 8% cost of capital.</a:t>
            </a:r>
          </a:p>
          <a:p>
            <a:pPr marL="341630" indent="-251460">
              <a:spcAft>
                <a:spcPts val="800"/>
              </a:spcAft>
            </a:pPr>
            <a:r>
              <a:rPr lang="en-GB" sz="12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Return on Investment (ROI):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The ratio of benefits vs its total costs. If you invest £12 and get £24 back, the ROI is 24/12 = 200% (i.e. you receive double what you contributed)</a:t>
            </a:r>
          </a:p>
          <a:p>
            <a:pPr marL="341630" indent="-251460">
              <a:spcAft>
                <a:spcPts val="800"/>
              </a:spcAft>
            </a:pPr>
            <a:r>
              <a:rPr lang="en-GB" sz="1200" b="1" dirty="0">
                <a:solidFill>
                  <a:srgbClr val="FF6600"/>
                </a:solidFill>
                <a:effectLst/>
                <a:latin typeface="Open Sans"/>
                <a:ea typeface="Open Sans"/>
                <a:cs typeface="Open Sans"/>
              </a:rPr>
              <a:t>Adoption rate: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/>
                <a:ea typeface="Open Sans"/>
                <a:cs typeface="Open Sans"/>
              </a:rPr>
              <a:t>We have integrated software adoption rate factors into our value return calculations. These reflect reductions in value returns from factors such as staggered releases, ramp up times and more. </a:t>
            </a:r>
          </a:p>
        </p:txBody>
      </p:sp>
    </p:spTree>
    <p:extLst>
      <p:ext uri="{BB962C8B-B14F-4D97-AF65-F5344CB8AC3E}">
        <p14:creationId xmlns:p14="http://schemas.microsoft.com/office/powerpoint/2010/main" val="4070780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E785E-F828-4B72-DC9A-BE7996909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6B992C-E9D2-AC69-B187-87D2F1FF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FE7873-5FE3-B4CB-A3DF-16BD42FB7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Summary of your inputs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C5CDA4-7668-B86A-A4BA-6721AB741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536935"/>
              </p:ext>
            </p:extLst>
          </p:nvPr>
        </p:nvGraphicFramePr>
        <p:xfrm>
          <a:off x="695326" y="1020779"/>
          <a:ext cx="5210551" cy="1421846"/>
        </p:xfrm>
        <a:graphic>
          <a:graphicData uri="http://schemas.openxmlformats.org/drawingml/2006/table">
            <a:tbl>
              <a:tblPr/>
              <a:tblGrid>
                <a:gridCol w="3676358">
                  <a:extLst>
                    <a:ext uri="{9D8B030D-6E8A-4147-A177-3AD203B41FA5}">
                      <a16:colId xmlns:a16="http://schemas.microsoft.com/office/drawing/2014/main" val="1936593662"/>
                    </a:ext>
                  </a:extLst>
                </a:gridCol>
                <a:gridCol w="245583">
                  <a:extLst>
                    <a:ext uri="{9D8B030D-6E8A-4147-A177-3AD203B41FA5}">
                      <a16:colId xmlns:a16="http://schemas.microsoft.com/office/drawing/2014/main" val="4046512273"/>
                    </a:ext>
                  </a:extLst>
                </a:gridCol>
                <a:gridCol w="1288610">
                  <a:extLst>
                    <a:ext uri="{9D8B030D-6E8A-4147-A177-3AD203B41FA5}">
                      <a16:colId xmlns:a16="http://schemas.microsoft.com/office/drawing/2014/main" val="4132532014"/>
                    </a:ext>
                  </a:extLst>
                </a:gridCol>
              </a:tblGrid>
              <a:tr h="160984">
                <a:tc>
                  <a:txBody>
                    <a:bodyPr/>
                    <a:lstStyle/>
                    <a:p>
                      <a:pPr algn="l" fontAlgn="ctr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683220"/>
                  </a:ext>
                </a:extLst>
              </a:tr>
              <a:tr h="241477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Open Sans" panose="020B0606030504020204" pitchFamily="34" charset="0"/>
                          <a:ea typeface="+mn-ea"/>
                          <a:cs typeface="+mn-cs"/>
                        </a:rPr>
                        <a:t>Management of supplier and purchase invoices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800" b="1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 </a:t>
                      </a:r>
                    </a:p>
                  </a:txBody>
                  <a:tcPr marL="0" marR="71413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C5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6855"/>
                  </a:ext>
                </a:extLst>
              </a:tr>
              <a:tr h="287865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do you register your purchase invoices today?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tr-TR" sz="800" b="0" i="0" u="none" strike="noStrike" dirty="0">
                          <a:solidFill>
                            <a:srgbClr val="FFFFFF"/>
                          </a:solidFill>
                          <a:effectLst/>
                          <a:latin typeface="Open Sans" panose="020B0606030504020204" pitchFamily="34" charset="0"/>
                        </a:rPr>
                        <a:t>q0mspi</a:t>
                      </a:r>
                      <a:endParaRPr lang="en-GB" sz="800" b="0" i="0" u="none" strike="noStrike" dirty="0">
                        <a:solidFill>
                          <a:srgbClr val="FFFF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481297"/>
                  </a:ext>
                </a:extLst>
              </a:tr>
              <a:tr h="241477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minutes does it take you to manage one supplier purchase invoice?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q1mspi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71413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869310"/>
                  </a:ext>
                </a:extLst>
              </a:tr>
              <a:tr h="241477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purchase invoices do you manage every year?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                                               </a:t>
                      </a:r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q2mspi</a:t>
                      </a:r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</a:t>
                      </a:r>
                    </a:p>
                  </a:txBody>
                  <a:tcPr marL="0" marR="71413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9117673"/>
                  </a:ext>
                </a:extLst>
              </a:tr>
              <a:tr h="152936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What is the average annual salary of your Procurement team?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                                            £</a:t>
                      </a:r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q3mspi</a:t>
                      </a:r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</a:t>
                      </a:r>
                    </a:p>
                  </a:txBody>
                  <a:tcPr marL="0" marR="71413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798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97E203B-CFD4-44B3-911C-A09E6231DB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736178"/>
              </p:ext>
            </p:extLst>
          </p:nvPr>
        </p:nvGraphicFramePr>
        <p:xfrm>
          <a:off x="695326" y="2599843"/>
          <a:ext cx="5210551" cy="3455305"/>
        </p:xfrm>
        <a:graphic>
          <a:graphicData uri="http://schemas.openxmlformats.org/drawingml/2006/table">
            <a:tbl>
              <a:tblPr/>
              <a:tblGrid>
                <a:gridCol w="3712058">
                  <a:extLst>
                    <a:ext uri="{9D8B030D-6E8A-4147-A177-3AD203B41FA5}">
                      <a16:colId xmlns:a16="http://schemas.microsoft.com/office/drawing/2014/main" val="229702491"/>
                    </a:ext>
                  </a:extLst>
                </a:gridCol>
                <a:gridCol w="204425">
                  <a:extLst>
                    <a:ext uri="{9D8B030D-6E8A-4147-A177-3AD203B41FA5}">
                      <a16:colId xmlns:a16="http://schemas.microsoft.com/office/drawing/2014/main" val="2015949863"/>
                    </a:ext>
                  </a:extLst>
                </a:gridCol>
                <a:gridCol w="1294068">
                  <a:extLst>
                    <a:ext uri="{9D8B030D-6E8A-4147-A177-3AD203B41FA5}">
                      <a16:colId xmlns:a16="http://schemas.microsoft.com/office/drawing/2014/main" val="2658432193"/>
                    </a:ext>
                  </a:extLst>
                </a:gridCol>
              </a:tblGrid>
              <a:tr h="164522">
                <a:tc>
                  <a:txBody>
                    <a:bodyPr/>
                    <a:lstStyle/>
                    <a:p>
                      <a:pPr algn="l" fontAlgn="ctr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705528"/>
                  </a:ext>
                </a:extLst>
              </a:tr>
              <a:tr h="164522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Open Sans" panose="020B0606030504020204" pitchFamily="34" charset="0"/>
                          <a:ea typeface="+mn-ea"/>
                          <a:cs typeface="+mn-cs"/>
                        </a:rPr>
                        <a:t>Finance query management &amp; reporting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1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C5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819718"/>
                  </a:ext>
                </a:extLst>
              </a:tr>
              <a:tr h="329043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self efficient are your financial query management processes? Would you like to implement self serve processes?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tr-TR" sz="800" b="0" i="0" u="none" strike="noStrike" dirty="0">
                          <a:solidFill>
                            <a:srgbClr val="FFFFFF"/>
                          </a:solidFill>
                          <a:effectLst/>
                          <a:latin typeface="Open Sans" panose="020B0606030504020204" pitchFamily="34" charset="0"/>
                        </a:rPr>
                        <a:t>q0fqmr</a:t>
                      </a:r>
                      <a:endParaRPr lang="en-GB" sz="800" b="0" i="0" u="none" strike="noStrike" dirty="0">
                        <a:solidFill>
                          <a:srgbClr val="FFFF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924802"/>
                  </a:ext>
                </a:extLst>
              </a:tr>
              <a:tr h="279613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staff handle ad hoc internal finance queries for the rest of the business?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q1fqmr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626087"/>
                  </a:ext>
                </a:extLst>
              </a:tr>
              <a:tr h="419420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hours a week does a team member spend answering internal queries for the rest of the business (which could be better managed using self serve systems)?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q2fqmr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876232"/>
                  </a:ext>
                </a:extLst>
              </a:tr>
              <a:tr h="419420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hours a week does a finance team member spend creating ad hoc dashboards and reports for internal queries for the rest of the business (which could be better managed using self serve systems)?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q3fqmr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27925"/>
                  </a:ext>
                </a:extLst>
              </a:tr>
              <a:tr h="279613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What is the average annual salary of your finance staff?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800" b="0" i="0" u="none" strike="noStrike" dirty="0">
                          <a:solidFill>
                            <a:srgbClr val="808080"/>
                          </a:solidFill>
                          <a:effectLst/>
                          <a:latin typeface="Open Sans" panose="020B0606030504020204" pitchFamily="34" charset="0"/>
                        </a:rPr>
                        <a:t>                                             </a:t>
                      </a:r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£</a:t>
                      </a:r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q4fqmr</a:t>
                      </a:r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</a:t>
                      </a: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152904"/>
                  </a:ext>
                </a:extLst>
              </a:tr>
              <a:tr h="164522">
                <a:tc>
                  <a:txBody>
                    <a:bodyPr/>
                    <a:lstStyle/>
                    <a:p>
                      <a:pPr algn="l" fontAlgn="ctr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882807"/>
                  </a:ext>
                </a:extLst>
              </a:tr>
              <a:tr h="181838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Open Sans" panose="020B0606030504020204" pitchFamily="34" charset="0"/>
                          <a:ea typeface="+mn-ea"/>
                          <a:cs typeface="+mn-cs"/>
                        </a:rPr>
                        <a:t>Debt collection administration processes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5C5C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C5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603517"/>
                  </a:ext>
                </a:extLst>
              </a:tr>
              <a:tr h="164522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efficient and automated is your debt management?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tr-TR" sz="800" b="0" i="0" u="none" strike="noStrike" dirty="0">
                          <a:solidFill>
                            <a:srgbClr val="FFFFFF"/>
                          </a:solidFill>
                          <a:effectLst/>
                          <a:latin typeface="Open Sans" panose="020B0606030504020204" pitchFamily="34" charset="0"/>
                        </a:rPr>
                        <a:t>q0dcap</a:t>
                      </a:r>
                      <a:endParaRPr lang="en-GB" sz="800" b="0" i="0" u="none" strike="noStrike" dirty="0">
                        <a:solidFill>
                          <a:srgbClr val="FFFF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707361"/>
                  </a:ext>
                </a:extLst>
              </a:tr>
              <a:tr h="279613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hours a day does a credit control employee spend chasing aged debt?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q1dcap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9009493"/>
                  </a:ext>
                </a:extLst>
              </a:tr>
              <a:tr h="164522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How many credit control employees work on this process?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q2dcap</a:t>
                      </a:r>
                      <a:endParaRPr lang="en-GB" sz="800" b="0" i="0" u="none" strike="noStrike" dirty="0">
                        <a:solidFill>
                          <a:srgbClr val="0000FF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895715"/>
                  </a:ext>
                </a:extLst>
              </a:tr>
              <a:tr h="279613">
                <a:tc>
                  <a:txBody>
                    <a:bodyPr/>
                    <a:lstStyle/>
                    <a:p>
                      <a:pPr algn="l" fontAlgn="ctr"/>
                      <a:r>
                        <a:rPr lang="en-GB" sz="800" b="0" i="0" u="none" strike="noStrike" dirty="0">
                          <a:solidFill>
                            <a:srgbClr val="595959"/>
                          </a:solidFill>
                          <a:effectLst/>
                          <a:latin typeface="Open Sans" panose="020B0606030504020204" pitchFamily="34" charset="0"/>
                        </a:rPr>
                        <a:t>What is the average annual salary of your credit controller/Accounts Receivable?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                                           £</a:t>
                      </a:r>
                      <a:r>
                        <a:rPr lang="tr-TR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q3dcap</a:t>
                      </a:r>
                      <a:r>
                        <a:rPr lang="en-GB" sz="800" b="0" i="0" u="none" strike="noStrike" dirty="0">
                          <a:solidFill>
                            <a:srgbClr val="0000FF"/>
                          </a:solidFill>
                          <a:effectLst/>
                          <a:latin typeface="Open Sans" panose="020B0606030504020204" pitchFamily="34" charset="0"/>
                        </a:rPr>
                        <a:t> </a:t>
                      </a:r>
                    </a:p>
                  </a:txBody>
                  <a:tcPr marL="0" marR="60880" marT="0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802222"/>
                  </a:ext>
                </a:extLst>
              </a:tr>
              <a:tr h="164522"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GB" sz="800" b="0" i="0" u="none" strike="noStrike" dirty="0">
                        <a:solidFill>
                          <a:srgbClr val="595959"/>
                        </a:solidFill>
                        <a:effectLst/>
                        <a:latin typeface="Open Sans" panose="020B060603050402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435688"/>
                  </a:ext>
                </a:extLst>
              </a:tr>
            </a:tbl>
          </a:graphicData>
        </a:graphic>
      </p:graphicFrame>
      <p:sp>
        <p:nvSpPr>
          <p:cNvPr id="18" name="Rectangle 1">
            <a:extLst>
              <a:ext uri="{FF2B5EF4-FFF2-40B4-BE49-F238E27FC236}">
                <a16:creationId xmlns:a16="http://schemas.microsoft.com/office/drawing/2014/main" id="{C29226F1-7C7B-6778-A848-9E7FBFC854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1700" y="7141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852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7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2BB3E-BDED-0937-862C-B206BD0877B8}"/>
              </a:ext>
            </a:extLst>
          </p:cNvPr>
          <p:cNvSpPr txBox="1"/>
          <p:nvPr/>
        </p:nvSpPr>
        <p:spPr>
          <a:xfrm>
            <a:off x="1004079" y="5275906"/>
            <a:ext cx="96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170">
              <a:spcAft>
                <a:spcPts val="800"/>
              </a:spcAft>
            </a:pPr>
            <a:r>
              <a:rPr lang="en-GB" sz="900" b="1" dirty="0">
                <a:solidFill>
                  <a:srgbClr val="FF6600"/>
                </a:solidFill>
                <a:latin typeface="Open Sans"/>
                <a:ea typeface="Open Sans"/>
                <a:cs typeface="Open Sans"/>
              </a:rPr>
              <a:t>Disclaimer </a:t>
            </a:r>
            <a:r>
              <a:rPr lang="en-GB" sz="900" dirty="0">
                <a:latin typeface="Open Sans"/>
                <a:ea typeface="Open Sans"/>
                <a:cs typeface="Open Sans"/>
              </a:rPr>
              <a:t>We hope these estimations can assist in purchasing decisions and surface value prospects could see. Details listed are provided in good faith, as a guide only, on an "as is" basis. 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FC2ADAF580B8A648AEA7FF4A5F3D65E6" ma:contentTypeVersion="11" ma:contentTypeDescription="Yeni belge oluşturun." ma:contentTypeScope="" ma:versionID="56f870f08e2d08b2b10344f12fd261be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699557ddf8cd53ad766f89e119cd6fad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Props1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0976E10-D540-4F0D-B7ED-DE660C408B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www.w3.org/XML/1998/namespace"/>
    <ds:schemaRef ds:uri="8e78c812-0be8-4f61-8186-a9387d596735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purl.org/dc/terms/"/>
    <ds:schemaRef ds:uri="http://schemas.microsoft.com/office/infopath/2007/PartnerControls"/>
    <ds:schemaRef ds:uri="8a969d1d-647f-4e4c-97f9-a5143e71e435"/>
    <ds:schemaRef ds:uri="eb37a4e0-bf89-419d-8b31-963a97458fb1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2283</TotalTime>
  <Words>1053</Words>
  <Application>Microsoft Office PowerPoint</Application>
  <PresentationFormat>Geniş ekran</PresentationFormat>
  <Paragraphs>115</Paragraphs>
  <Slides>7</Slides>
  <Notes>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9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7" baseType="lpstr">
      <vt:lpstr>Aptos</vt:lpstr>
      <vt:lpstr>Arial</vt:lpstr>
      <vt:lpstr>Calibri</vt:lpstr>
      <vt:lpstr>Montserrat</vt:lpstr>
      <vt:lpstr>Montserrat Medium</vt:lpstr>
      <vt:lpstr>Montserrat SemiBold</vt:lpstr>
      <vt:lpstr>Open Sans</vt:lpstr>
      <vt:lpstr>Times New Roman</vt:lpstr>
      <vt:lpstr>Wingdings</vt:lpstr>
      <vt:lpstr>Advanced Theme</vt:lpstr>
      <vt:lpstr>PowerPoint Sunusu</vt:lpstr>
      <vt:lpstr>Understanding our estimated savings</vt:lpstr>
      <vt:lpstr>The estimated cost of your current processes</vt:lpstr>
      <vt:lpstr>Estimated savings and benefits from our solution</vt:lpstr>
      <vt:lpstr>Definition of terms</vt:lpstr>
      <vt:lpstr>Summary of your inputs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29</cp:revision>
  <dcterms:created xsi:type="dcterms:W3CDTF">2024-07-05T15:05:35Z</dcterms:created>
  <dcterms:modified xsi:type="dcterms:W3CDTF">2024-12-03T10:17:12Z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